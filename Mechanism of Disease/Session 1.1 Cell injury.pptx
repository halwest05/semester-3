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0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311" r:id="rId17"/>
    <p:sldId id="270" r:id="rId18"/>
    <p:sldId id="271" r:id="rId19"/>
    <p:sldId id="272" r:id="rId20"/>
    <p:sldId id="273" r:id="rId21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FD5E6C42-7C2F-483A-8C4D-F29F2B5530F3}" type="datetimeFigureOut">
              <a:rPr lang="ar-IQ" smtClean="0"/>
              <a:pPr/>
              <a:t>22/05/1445</a:t>
            </a:fld>
            <a:endParaRPr lang="ar-IQ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IQ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I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7BA78A8-39E8-4CA4-9A7D-CBB7E8D5E7D2}" type="slidenum">
              <a:rPr lang="ar-IQ" smtClean="0"/>
              <a:pPr/>
              <a:t>‹#›</a:t>
            </a:fld>
            <a:endParaRPr lang="ar-IQ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الثانوي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pPr/>
              <a:t>22/05/1445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pPr/>
              <a:t>22/05/1445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pPr/>
              <a:t>22/05/1445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pPr/>
              <a:t>22/05/1445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pPr/>
              <a:t>22/05/1445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pPr/>
              <a:t>22/05/1445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pPr/>
              <a:t>22/05/1445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pPr/>
              <a:t>22/05/1445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pPr/>
              <a:t>22/05/1445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pPr/>
              <a:t>22/05/1445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pPr/>
              <a:t>22/05/1445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ABB09-4A1D-463E-8065-109CC2B7EFAA}" type="datetimeFigureOut">
              <a:rPr lang="ar-SA" smtClean="0"/>
              <a:pPr/>
              <a:t>22/05/1445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4F065-1154-456A-91E3-76DE8E75E17B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980728"/>
            <a:ext cx="7772400" cy="377998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8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 INJURY</a:t>
            </a:r>
            <a:br>
              <a:rPr lang="en-US" sz="8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Safinaz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 rtl="0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Goals of this presentation</a:t>
            </a:r>
            <a:r>
              <a:rPr lang="en-US" sz="3600" dirty="0"/>
              <a:t>……</a:t>
            </a:r>
          </a:p>
          <a:p>
            <a:pPr algn="just" rtl="0"/>
            <a:r>
              <a:rPr lang="en-US" sz="3600" dirty="0"/>
              <a:t>•To be a guide to key features of cell injury/death and apoptosis</a:t>
            </a:r>
          </a:p>
          <a:p>
            <a:pPr algn="just" rtl="0"/>
            <a:r>
              <a:rPr lang="en-US" sz="3600" dirty="0"/>
              <a:t>•Outline causes and pathogenesis of cell injury/death and apoptosis</a:t>
            </a:r>
          </a:p>
          <a:p>
            <a:pPr algn="just" rtl="0"/>
            <a:r>
              <a:rPr lang="en-US" sz="3600" dirty="0"/>
              <a:t>•Describe the morphological changes of cell injury/death and apoptosis</a:t>
            </a:r>
          </a:p>
          <a:p>
            <a:pPr algn="just" rtl="0"/>
            <a:endParaRPr lang="ar-IQ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1027" name="Picture 3" descr="C:\Users\Qaswar\Desktop\New folder (4)\Screenshot_2013-09-24-12-46-28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6900" y="0"/>
            <a:ext cx="56102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Introduction</a:t>
            </a:r>
            <a:endParaRPr lang="ar-IQ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General considerations……</a:t>
            </a:r>
          </a:p>
          <a:p>
            <a:pPr algn="l" rtl="0"/>
            <a:r>
              <a:rPr lang="en-US" dirty="0"/>
              <a:t>Cell injury is part of a continuum</a:t>
            </a:r>
          </a:p>
          <a:p>
            <a:pPr algn="l" rtl="0"/>
            <a:endParaRPr lang="en-US" dirty="0"/>
          </a:p>
          <a:p>
            <a:pPr algn="l" rtl="0">
              <a:buNone/>
            </a:pPr>
            <a:r>
              <a:rPr lang="en-US" dirty="0"/>
              <a:t>•Degree of injury is a function of </a:t>
            </a:r>
          </a:p>
          <a:p>
            <a:pPr algn="l" rtl="0">
              <a:buNone/>
            </a:pPr>
            <a:r>
              <a:rPr lang="en-US" dirty="0"/>
              <a:t>         –Injury: type, duration, severity</a:t>
            </a:r>
          </a:p>
          <a:p>
            <a:pPr algn="l" rtl="0">
              <a:buNone/>
            </a:pPr>
            <a:r>
              <a:rPr lang="en-US" dirty="0"/>
              <a:t>         –Cell: type, status, adaptability</a:t>
            </a:r>
          </a:p>
          <a:p>
            <a:pPr algn="l" rtl="0">
              <a:buNone/>
            </a:pPr>
            <a:endParaRPr lang="ar-IQ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Causes of cell injury </a:t>
            </a:r>
            <a:br>
              <a:rPr lang="en-US" b="1" dirty="0">
                <a:solidFill>
                  <a:srgbClr val="FF0000"/>
                </a:solidFill>
              </a:rPr>
            </a:br>
            <a:endParaRPr lang="ar-IQ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>
              <a:buNone/>
            </a:pPr>
            <a:r>
              <a:rPr lang="en-US" dirty="0"/>
              <a:t>•Hypoxia</a:t>
            </a:r>
          </a:p>
          <a:p>
            <a:pPr algn="l" rtl="0">
              <a:buNone/>
            </a:pPr>
            <a:r>
              <a:rPr lang="en-US" dirty="0"/>
              <a:t>•Chemical</a:t>
            </a:r>
          </a:p>
          <a:p>
            <a:pPr algn="l" rtl="0">
              <a:buNone/>
            </a:pPr>
            <a:r>
              <a:rPr lang="en-US" dirty="0"/>
              <a:t>•Physical</a:t>
            </a:r>
          </a:p>
          <a:p>
            <a:pPr algn="l" rtl="0">
              <a:buNone/>
            </a:pPr>
            <a:r>
              <a:rPr lang="en-US" dirty="0"/>
              <a:t>•Infection</a:t>
            </a:r>
          </a:p>
          <a:p>
            <a:pPr algn="l" rtl="0">
              <a:buNone/>
            </a:pPr>
            <a:r>
              <a:rPr lang="en-US" dirty="0"/>
              <a:t>•Immune</a:t>
            </a:r>
          </a:p>
          <a:p>
            <a:pPr algn="l" rtl="0">
              <a:buNone/>
            </a:pPr>
            <a:r>
              <a:rPr lang="en-US" dirty="0"/>
              <a:t>•Nutritional (deficiency or excess)</a:t>
            </a:r>
          </a:p>
          <a:p>
            <a:pPr algn="l" rtl="0"/>
            <a:r>
              <a:rPr lang="en-US" dirty="0"/>
              <a:t>Genetic </a:t>
            </a:r>
          </a:p>
          <a:p>
            <a:pPr algn="l" rtl="0"/>
            <a:r>
              <a:rPr lang="en-US" dirty="0"/>
              <a:t>Aging </a:t>
            </a:r>
          </a:p>
          <a:p>
            <a:pPr algn="l" rtl="0"/>
            <a:endParaRPr lang="en-US" dirty="0"/>
          </a:p>
          <a:p>
            <a:pPr algn="l" rtl="0">
              <a:buNone/>
            </a:pPr>
            <a:endParaRPr lang="ar-IQ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Types of insult –Hypoxia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(reduced oxygen)</a:t>
            </a:r>
            <a:br>
              <a:rPr lang="en-US" b="1" dirty="0">
                <a:solidFill>
                  <a:srgbClr val="FF0000"/>
                </a:solidFill>
              </a:rPr>
            </a:br>
            <a:endParaRPr lang="ar-IQ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 rtl="0">
              <a:buNone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•Ischemia</a:t>
            </a:r>
          </a:p>
          <a:p>
            <a:pPr algn="l" rtl="0">
              <a:buNone/>
            </a:pPr>
            <a:r>
              <a:rPr lang="en-US" dirty="0"/>
              <a:t>–Local</a:t>
            </a:r>
          </a:p>
          <a:p>
            <a:pPr algn="l" rtl="0">
              <a:buNone/>
            </a:pPr>
            <a:r>
              <a:rPr lang="en-US" dirty="0"/>
              <a:t>–Systemic</a:t>
            </a:r>
          </a:p>
          <a:p>
            <a:pPr algn="l" rtl="0">
              <a:buNone/>
            </a:pPr>
            <a:r>
              <a:rPr lang="en-US" dirty="0"/>
              <a:t>•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Hypoxemia</a:t>
            </a:r>
          </a:p>
          <a:p>
            <a:pPr algn="l" rtl="0">
              <a:buNone/>
            </a:pPr>
            <a:r>
              <a:rPr lang="en-US" dirty="0"/>
              <a:t>–Inspired oxygen too low</a:t>
            </a:r>
          </a:p>
          <a:p>
            <a:pPr algn="l" rtl="0">
              <a:buNone/>
            </a:pPr>
            <a:r>
              <a:rPr lang="en-US" dirty="0"/>
              <a:t>–Diffusion barrier abnormal</a:t>
            </a:r>
          </a:p>
          <a:p>
            <a:pPr algn="l" rtl="0">
              <a:buNone/>
            </a:pPr>
            <a:r>
              <a:rPr lang="en-US" dirty="0"/>
              <a:t>–Insufficient carrying capacity in blood</a:t>
            </a:r>
          </a:p>
          <a:p>
            <a:pPr algn="l" rtl="0">
              <a:buNone/>
            </a:pPr>
            <a:r>
              <a:rPr lang="en-US" dirty="0"/>
              <a:t>•Interference with oxidative </a:t>
            </a:r>
            <a:r>
              <a:rPr lang="en-US" dirty="0" err="1"/>
              <a:t>phosphorylation</a:t>
            </a:r>
            <a:endParaRPr lang="en-US" dirty="0"/>
          </a:p>
          <a:p>
            <a:pPr algn="l" rtl="0">
              <a:buNone/>
            </a:pPr>
            <a:r>
              <a:rPr lang="en-US" dirty="0"/>
              <a:t>–e.g. cyanide poisoning</a:t>
            </a:r>
          </a:p>
          <a:p>
            <a:pPr algn="l" rtl="0">
              <a:buNone/>
            </a:pPr>
            <a:endParaRPr lang="ar-IQ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Types of insult -chemical</a:t>
            </a:r>
            <a:br>
              <a:rPr lang="en-US" b="1" dirty="0">
                <a:solidFill>
                  <a:srgbClr val="FF0000"/>
                </a:solidFill>
              </a:rPr>
            </a:br>
            <a:endParaRPr lang="ar-IQ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>
              <a:buNone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•Drugs </a:t>
            </a:r>
          </a:p>
          <a:p>
            <a:pPr algn="l" rtl="0">
              <a:buNone/>
            </a:pPr>
            <a:r>
              <a:rPr lang="en-US" dirty="0"/>
              <a:t>–e.g. paracetamol overdose</a:t>
            </a:r>
          </a:p>
          <a:p>
            <a:pPr algn="l" rtl="0">
              <a:buNone/>
            </a:pPr>
            <a:endParaRPr lang="en-US" dirty="0"/>
          </a:p>
          <a:p>
            <a:pPr algn="l" rtl="0">
              <a:buNone/>
            </a:pPr>
            <a:r>
              <a:rPr lang="en-US" dirty="0"/>
              <a:t>•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Many more </a:t>
            </a:r>
          </a:p>
          <a:p>
            <a:pPr algn="l" rtl="0">
              <a:buNone/>
            </a:pPr>
            <a:r>
              <a:rPr lang="en-US" dirty="0"/>
              <a:t>–e.g. alcohol, cigarette smoke </a:t>
            </a:r>
          </a:p>
          <a:p>
            <a:pPr algn="l" rtl="0">
              <a:buNone/>
            </a:pPr>
            <a:endParaRPr lang="ar-IQ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Types of insult -infections</a:t>
            </a:r>
            <a:endParaRPr lang="ar-IQ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Eukaryotes </a:t>
            </a:r>
            <a:r>
              <a:rPr lang="en-US" dirty="0"/>
              <a:t>–Fungi, Protozoa</a:t>
            </a:r>
          </a:p>
          <a:p>
            <a:pPr algn="l" rtl="0"/>
            <a:r>
              <a:rPr lang="en-US" dirty="0"/>
              <a:t>•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Prokaryotes </a:t>
            </a:r>
            <a:r>
              <a:rPr lang="en-US" dirty="0"/>
              <a:t>–Bacteria, Rickettsia, Chlamydia</a:t>
            </a:r>
          </a:p>
          <a:p>
            <a:pPr algn="l" rtl="0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•Viruses </a:t>
            </a:r>
            <a:r>
              <a:rPr lang="en-US" dirty="0"/>
              <a:t>–DNA, RNA</a:t>
            </a:r>
          </a:p>
          <a:p>
            <a:pPr algn="l" rtl="0"/>
            <a:endParaRPr lang="ar-IQ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3786190"/>
            <a:ext cx="8358246" cy="2743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Types of insult -Physical</a:t>
            </a:r>
            <a:endParaRPr lang="ar-IQ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>
              <a:buNone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Direct Physical Effects </a:t>
            </a:r>
          </a:p>
          <a:p>
            <a:pPr lvl="1" algn="l" rtl="0">
              <a:buNone/>
            </a:pPr>
            <a:r>
              <a:rPr lang="en-US" dirty="0"/>
              <a:t>-</a:t>
            </a:r>
            <a:r>
              <a:rPr lang="en-US" sz="3600" dirty="0"/>
              <a:t>extreme heat or cold results</a:t>
            </a:r>
          </a:p>
          <a:p>
            <a:pPr lvl="1" algn="l" rtl="0">
              <a:buNone/>
            </a:pPr>
            <a:r>
              <a:rPr lang="en-US" sz="3600" dirty="0"/>
              <a:t>-Sudden changes in pressure </a:t>
            </a:r>
          </a:p>
          <a:p>
            <a:pPr lvl="1" algn="l" rtl="0">
              <a:buNone/>
            </a:pPr>
            <a:r>
              <a:rPr lang="en-US" sz="3600" dirty="0"/>
              <a:t>-Electrical currents</a:t>
            </a:r>
          </a:p>
          <a:p>
            <a:pPr algn="l" rtl="0">
              <a:buNone/>
            </a:pPr>
            <a:endParaRPr lang="ar-IQ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Types of insult –immune </a:t>
            </a:r>
            <a:endParaRPr lang="ar-IQ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Humoral</a:t>
            </a:r>
          </a:p>
          <a:p>
            <a:pPr algn="l" rtl="0">
              <a:buNone/>
            </a:pPr>
            <a:endParaRPr lang="en-US" dirty="0"/>
          </a:p>
          <a:p>
            <a:pPr algn="l" rtl="0">
              <a:buNone/>
            </a:pPr>
            <a:r>
              <a:rPr lang="en-US" dirty="0"/>
              <a:t>•Cell-mediated</a:t>
            </a:r>
          </a:p>
          <a:p>
            <a:pPr algn="l" rtl="0">
              <a:buNone/>
            </a:pPr>
            <a:endParaRPr lang="ar-IQ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Types of insult -nutrition</a:t>
            </a:r>
            <a:endParaRPr lang="ar-IQ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Dietary insufficiency </a:t>
            </a:r>
          </a:p>
          <a:p>
            <a:pPr algn="l" rtl="0"/>
            <a:endParaRPr lang="ar-IQ" dirty="0"/>
          </a:p>
          <a:p>
            <a:pPr algn="l" rtl="0"/>
            <a:r>
              <a:rPr lang="en-US" dirty="0"/>
              <a:t>•Dietary excess</a:t>
            </a:r>
          </a:p>
          <a:p>
            <a:endParaRPr lang="ar-IQ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Principle structural targets for cell damage</a:t>
            </a:r>
            <a:endParaRPr lang="ar-IQ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Cell membranes</a:t>
            </a:r>
          </a:p>
          <a:p>
            <a:pPr lvl="1" algn="l" rtl="0">
              <a:buNone/>
            </a:pPr>
            <a:r>
              <a:rPr lang="en-US" dirty="0"/>
              <a:t>–Plasma membrane</a:t>
            </a:r>
          </a:p>
          <a:p>
            <a:pPr lvl="1" algn="l" rtl="0">
              <a:buNone/>
            </a:pPr>
            <a:r>
              <a:rPr lang="en-US" dirty="0"/>
              <a:t>–Organellar membranes</a:t>
            </a:r>
          </a:p>
          <a:p>
            <a:pPr algn="l" rtl="0">
              <a:buNone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•DNA</a:t>
            </a:r>
          </a:p>
          <a:p>
            <a:pPr algn="l" rtl="0">
              <a:buNone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•Proteins</a:t>
            </a:r>
          </a:p>
          <a:p>
            <a:pPr lvl="1" algn="l" rtl="0">
              <a:buNone/>
            </a:pPr>
            <a:r>
              <a:rPr lang="en-US" dirty="0"/>
              <a:t>–Structural</a:t>
            </a:r>
          </a:p>
          <a:p>
            <a:pPr lvl="1" algn="l" rtl="0">
              <a:buNone/>
            </a:pPr>
            <a:r>
              <a:rPr lang="en-US" dirty="0"/>
              <a:t>–Enzymes</a:t>
            </a:r>
          </a:p>
          <a:p>
            <a:pPr algn="l" rtl="0">
              <a:buNone/>
            </a:pPr>
            <a:r>
              <a:rPr lang="en-US" dirty="0"/>
              <a:t>•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Mitochondria</a:t>
            </a:r>
          </a:p>
          <a:p>
            <a:pPr algn="l" rtl="0">
              <a:buNone/>
            </a:pPr>
            <a:r>
              <a:rPr lang="en-US" dirty="0"/>
              <a:t>–oxidative phosphorylation</a:t>
            </a:r>
          </a:p>
          <a:p>
            <a:pPr algn="l" rtl="0">
              <a:buNone/>
            </a:pPr>
            <a:endParaRPr lang="ar-IQ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1928802"/>
            <a:ext cx="2714644" cy="4429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Pathogenesis of cell injury -hypoxia</a:t>
            </a:r>
            <a:endParaRPr lang="ar-IQ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 rtl="0">
              <a:buNone/>
            </a:pPr>
            <a:r>
              <a:rPr lang="en-US" dirty="0">
                <a:solidFill>
                  <a:schemeClr val="tx2"/>
                </a:solidFill>
              </a:rPr>
              <a:t>Reversible</a:t>
            </a:r>
          </a:p>
          <a:p>
            <a:pPr algn="l" rtl="0">
              <a:buNone/>
            </a:pPr>
            <a:r>
              <a:rPr lang="en-US" dirty="0"/>
              <a:t>–</a:t>
            </a:r>
            <a:r>
              <a:rPr lang="en-US" dirty="0">
                <a:solidFill>
                  <a:schemeClr val="tx2"/>
                </a:solidFill>
              </a:rPr>
              <a:t>Loss of ATP</a:t>
            </a:r>
          </a:p>
          <a:p>
            <a:pPr algn="l" rtl="0">
              <a:buNone/>
            </a:pPr>
            <a:r>
              <a:rPr lang="en-US" dirty="0"/>
              <a:t>•Failure of Na/K pump </a:t>
            </a:r>
          </a:p>
          <a:p>
            <a:pPr algn="l" rtl="0">
              <a:buNone/>
            </a:pPr>
            <a:r>
              <a:rPr lang="en-US" dirty="0"/>
              <a:t>              </a:t>
            </a:r>
            <a:r>
              <a:rPr lang="en-US" dirty="0">
                <a:solidFill>
                  <a:srgbClr val="92D050"/>
                </a:solidFill>
              </a:rPr>
              <a:t> lead   </a:t>
            </a:r>
            <a:r>
              <a:rPr lang="en-US" dirty="0"/>
              <a:t>cell swelling</a:t>
            </a:r>
          </a:p>
          <a:p>
            <a:pPr algn="l" rtl="0">
              <a:buNone/>
            </a:pPr>
            <a:r>
              <a:rPr lang="en-US" dirty="0"/>
              <a:t>–</a:t>
            </a:r>
            <a:r>
              <a:rPr lang="en-US" dirty="0">
                <a:solidFill>
                  <a:schemeClr val="tx2"/>
                </a:solidFill>
              </a:rPr>
              <a:t>Anaerobic metabolism</a:t>
            </a:r>
          </a:p>
          <a:p>
            <a:pPr algn="l" rtl="0">
              <a:buNone/>
            </a:pPr>
            <a:r>
              <a:rPr lang="en-US" dirty="0"/>
              <a:t>•Increased lactic acid </a:t>
            </a:r>
          </a:p>
          <a:p>
            <a:pPr algn="l" rtl="0">
              <a:buNone/>
            </a:pPr>
            <a:r>
              <a:rPr lang="en-US" dirty="0"/>
              <a:t>and phosphate </a:t>
            </a:r>
            <a:r>
              <a:rPr lang="en-US" dirty="0">
                <a:solidFill>
                  <a:srgbClr val="92D050"/>
                </a:solidFill>
              </a:rPr>
              <a:t>lead</a:t>
            </a:r>
            <a:r>
              <a:rPr lang="en-US" dirty="0"/>
              <a:t> </a:t>
            </a:r>
          </a:p>
          <a:p>
            <a:pPr algn="l" rtl="0">
              <a:buNone/>
            </a:pPr>
            <a:r>
              <a:rPr lang="en-US" dirty="0"/>
              <a:t>clumped nuclear chromatin</a:t>
            </a:r>
          </a:p>
          <a:p>
            <a:pPr algn="l" rtl="0">
              <a:buNone/>
            </a:pPr>
            <a:r>
              <a:rPr lang="en-US" dirty="0"/>
              <a:t>–</a:t>
            </a:r>
            <a:r>
              <a:rPr lang="en-US" dirty="0">
                <a:solidFill>
                  <a:schemeClr val="tx2"/>
                </a:solidFill>
              </a:rPr>
              <a:t>Reduced protein synthesis</a:t>
            </a:r>
          </a:p>
          <a:p>
            <a:pPr algn="l" rtl="0">
              <a:buNone/>
            </a:pPr>
            <a:r>
              <a:rPr lang="en-US" dirty="0"/>
              <a:t>•Altered metabolism </a:t>
            </a:r>
            <a:r>
              <a:rPr lang="en-US" dirty="0">
                <a:solidFill>
                  <a:srgbClr val="92D050"/>
                </a:solidFill>
              </a:rPr>
              <a:t>lead</a:t>
            </a:r>
          </a:p>
          <a:p>
            <a:pPr algn="l" rtl="0">
              <a:buNone/>
            </a:pPr>
            <a:r>
              <a:rPr lang="en-US" dirty="0"/>
              <a:t>abnormal accumulations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48" y="1285860"/>
            <a:ext cx="4857752" cy="4929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Pathogenesis of cell injury -hypoxia</a:t>
            </a:r>
            <a:endParaRPr lang="ar-IQ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00486" cy="4525963"/>
          </a:xfrm>
        </p:spPr>
        <p:txBody>
          <a:bodyPr>
            <a:normAutofit lnSpcReduction="10000"/>
          </a:bodyPr>
          <a:lstStyle/>
          <a:p>
            <a:pPr algn="l" rtl="0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Irreversible</a:t>
            </a:r>
          </a:p>
          <a:p>
            <a:pPr algn="l" rtl="0"/>
            <a:r>
              <a:rPr lang="en-US" dirty="0"/>
              <a:t>–Massive intra-</a:t>
            </a:r>
            <a:r>
              <a:rPr lang="en-US" dirty="0" err="1"/>
              <a:t>cytoplasmic</a:t>
            </a:r>
            <a:r>
              <a:rPr lang="en-US" dirty="0"/>
              <a:t> calcium accumulation</a:t>
            </a:r>
          </a:p>
          <a:p>
            <a:pPr algn="l" rtl="0"/>
            <a:r>
              <a:rPr lang="en-US" dirty="0"/>
              <a:t>–Activation of multiple </a:t>
            </a:r>
            <a:r>
              <a:rPr lang="en-US" dirty="0" err="1"/>
              <a:t>degradative</a:t>
            </a:r>
            <a:r>
              <a:rPr lang="en-US" dirty="0"/>
              <a:t> enzymes</a:t>
            </a:r>
          </a:p>
          <a:p>
            <a:pPr algn="l" rtl="0"/>
            <a:r>
              <a:rPr lang="en-US" dirty="0"/>
              <a:t>–Lethal cell damage</a:t>
            </a:r>
          </a:p>
          <a:p>
            <a:pPr algn="l" rtl="0"/>
            <a:endParaRPr lang="ar-IQ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1933" y="1428736"/>
            <a:ext cx="5072067" cy="4933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Pathogenesis of cell injury –non-</a:t>
            </a:r>
            <a:r>
              <a:rPr lang="en-US" b="1" dirty="0" err="1">
                <a:solidFill>
                  <a:srgbClr val="C00000"/>
                </a:solidFill>
              </a:rPr>
              <a:t>ischaemic</a:t>
            </a:r>
            <a:endParaRPr lang="ar-IQ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Reduced ATP synthesis/mitochondrial damage</a:t>
            </a:r>
          </a:p>
          <a:p>
            <a:pPr algn="l" rtl="0"/>
            <a:r>
              <a:rPr lang="en-US" dirty="0"/>
              <a:t>•Loss of calcium homeostasis</a:t>
            </a:r>
          </a:p>
          <a:p>
            <a:pPr algn="l" rtl="0"/>
            <a:r>
              <a:rPr lang="en-US" dirty="0"/>
              <a:t>•Disrupted membrane permeability</a:t>
            </a:r>
          </a:p>
          <a:p>
            <a:pPr algn="l" rtl="0"/>
            <a:r>
              <a:rPr lang="en-US" dirty="0"/>
              <a:t>•Free radicals</a:t>
            </a:r>
          </a:p>
          <a:p>
            <a:pPr algn="l" rtl="0"/>
            <a:endParaRPr lang="ar-IQ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7723" y="408317"/>
            <a:ext cx="8299077" cy="5661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Free radicals</a:t>
            </a:r>
            <a:endParaRPr lang="ar-IQ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>
              <a:buNone/>
            </a:pPr>
            <a:r>
              <a:rPr lang="en-US" dirty="0">
                <a:solidFill>
                  <a:srgbClr val="0070C0"/>
                </a:solidFill>
              </a:rPr>
              <a:t>Highly reactive, unstable chemicals</a:t>
            </a:r>
          </a:p>
          <a:p>
            <a:pPr algn="l" rtl="0">
              <a:buNone/>
            </a:pPr>
            <a:r>
              <a:rPr lang="en-US" dirty="0"/>
              <a:t>•Associated with cell injury in many settings</a:t>
            </a:r>
          </a:p>
          <a:p>
            <a:pPr algn="l" rtl="0">
              <a:buNone/>
            </a:pPr>
            <a:r>
              <a:rPr lang="en-US" dirty="0"/>
              <a:t>–Chemicals/drugs, reperfusion injury, inflammation, irradiation, oxygen toxicity, carcinogenesis</a:t>
            </a:r>
          </a:p>
          <a:p>
            <a:pPr algn="l" rtl="0">
              <a:buNone/>
            </a:pPr>
            <a:endParaRPr lang="ar-IQ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Free radicals</a:t>
            </a:r>
            <a:endParaRPr lang="ar-IQ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>
              <a:buNone/>
            </a:pPr>
            <a:r>
              <a:rPr lang="en-US" dirty="0">
                <a:solidFill>
                  <a:srgbClr val="00B0F0"/>
                </a:solidFill>
              </a:rPr>
              <a:t>Free radical generation occurs by….</a:t>
            </a:r>
          </a:p>
          <a:p>
            <a:pPr algn="l" rtl="0">
              <a:buNone/>
            </a:pPr>
            <a:r>
              <a:rPr lang="en-US" dirty="0">
                <a:solidFill>
                  <a:srgbClr val="00B050"/>
                </a:solidFill>
              </a:rPr>
              <a:t>–Absorption of irradiation</a:t>
            </a:r>
            <a:endParaRPr lang="pt-BR" dirty="0"/>
          </a:p>
          <a:p>
            <a:pPr algn="l" rtl="0">
              <a:buNone/>
            </a:pPr>
            <a:r>
              <a:rPr lang="en-US" dirty="0"/>
              <a:t>–</a:t>
            </a:r>
            <a:r>
              <a:rPr lang="en-US" dirty="0">
                <a:solidFill>
                  <a:srgbClr val="00B050"/>
                </a:solidFill>
              </a:rPr>
              <a:t>Endogenous normal metabolic reactions</a:t>
            </a:r>
          </a:p>
          <a:p>
            <a:pPr algn="l" rtl="0">
              <a:buNone/>
            </a:pPr>
            <a:endParaRPr lang="en-US" dirty="0"/>
          </a:p>
          <a:p>
            <a:pPr algn="l" rtl="0">
              <a:buNone/>
            </a:pPr>
            <a:r>
              <a:rPr lang="en-US" dirty="0"/>
              <a:t>–</a:t>
            </a:r>
            <a:r>
              <a:rPr lang="en-US" dirty="0">
                <a:solidFill>
                  <a:srgbClr val="00B050"/>
                </a:solidFill>
              </a:rPr>
              <a:t>Transition metals</a:t>
            </a:r>
            <a:endParaRPr lang="en-US" dirty="0"/>
          </a:p>
          <a:p>
            <a:pPr algn="l" rtl="0">
              <a:buNone/>
            </a:pPr>
            <a:r>
              <a:rPr lang="en-US" dirty="0"/>
              <a:t>–</a:t>
            </a:r>
            <a:r>
              <a:rPr lang="en-US" dirty="0">
                <a:solidFill>
                  <a:srgbClr val="00B050"/>
                </a:solidFill>
              </a:rPr>
              <a:t>Exogenous toxins</a:t>
            </a:r>
            <a:r>
              <a:rPr lang="en-US" dirty="0"/>
              <a:t> </a:t>
            </a:r>
          </a:p>
          <a:p>
            <a:pPr algn="l" rtl="0">
              <a:buNone/>
            </a:pPr>
            <a:endParaRPr lang="ar-IQ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Free radicals</a:t>
            </a:r>
            <a:endParaRPr lang="ar-IQ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 rtl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Free radicals are removed by….</a:t>
            </a:r>
          </a:p>
          <a:p>
            <a:pPr algn="l" rtl="0">
              <a:buNone/>
            </a:pPr>
            <a:r>
              <a:rPr lang="en-US" dirty="0"/>
              <a:t>–</a:t>
            </a:r>
            <a:r>
              <a:rPr lang="en-US" dirty="0">
                <a:solidFill>
                  <a:srgbClr val="00B050"/>
                </a:solidFill>
              </a:rPr>
              <a:t>Spontaneous decay</a:t>
            </a:r>
          </a:p>
          <a:p>
            <a:pPr algn="l" rtl="0">
              <a:buNone/>
            </a:pPr>
            <a:r>
              <a:rPr lang="en-US" dirty="0">
                <a:solidFill>
                  <a:srgbClr val="00B050"/>
                </a:solidFill>
              </a:rPr>
              <a:t>–Anti-oxidants</a:t>
            </a:r>
          </a:p>
          <a:p>
            <a:pPr algn="l" rtl="0">
              <a:buNone/>
            </a:pPr>
            <a:r>
              <a:rPr lang="it-IT" dirty="0"/>
              <a:t>•E.g. Vitamin E, vitamin A, ascorbic acid, glutathione</a:t>
            </a:r>
          </a:p>
          <a:p>
            <a:pPr algn="l" rtl="0">
              <a:buNone/>
            </a:pPr>
            <a:r>
              <a:rPr lang="en-US" dirty="0"/>
              <a:t>–</a:t>
            </a:r>
            <a:r>
              <a:rPr lang="en-US" dirty="0">
                <a:solidFill>
                  <a:srgbClr val="00B050"/>
                </a:solidFill>
              </a:rPr>
              <a:t>Storage proteins</a:t>
            </a:r>
          </a:p>
          <a:p>
            <a:pPr algn="l" rtl="0">
              <a:buNone/>
            </a:pPr>
            <a:r>
              <a:rPr lang="en-US" dirty="0"/>
              <a:t>•e.g. transferrin , ferritin </a:t>
            </a:r>
          </a:p>
          <a:p>
            <a:pPr algn="l" rtl="0">
              <a:buNone/>
            </a:pPr>
            <a:r>
              <a:rPr lang="en-US" dirty="0"/>
              <a:t>–</a:t>
            </a:r>
            <a:r>
              <a:rPr lang="en-US" dirty="0">
                <a:solidFill>
                  <a:srgbClr val="00B050"/>
                </a:solidFill>
              </a:rPr>
              <a:t>Enzymes</a:t>
            </a:r>
          </a:p>
          <a:p>
            <a:pPr algn="l" rtl="0">
              <a:buNone/>
            </a:pPr>
            <a:r>
              <a:rPr lang="en-US" dirty="0"/>
              <a:t>•</a:t>
            </a:r>
            <a:r>
              <a:rPr lang="en-US" dirty="0" err="1"/>
              <a:t>Catalase</a:t>
            </a:r>
            <a:r>
              <a:rPr lang="en-US" dirty="0"/>
              <a:t>, superoxide dismutase, glutathione </a:t>
            </a:r>
            <a:r>
              <a:rPr lang="en-US" dirty="0" err="1"/>
              <a:t>peroxidase</a:t>
            </a:r>
            <a:endParaRPr lang="en-US" dirty="0"/>
          </a:p>
          <a:p>
            <a:pPr algn="l" rtl="0">
              <a:buNone/>
            </a:pPr>
            <a:endParaRPr lang="ar-IQ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Free radicals</a:t>
            </a:r>
            <a:endParaRPr lang="ar-IQ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>
              <a:buNone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Injure cells by…..</a:t>
            </a:r>
          </a:p>
          <a:p>
            <a:pPr algn="l" rtl="0">
              <a:buNone/>
            </a:pPr>
            <a:r>
              <a:rPr lang="en-US" dirty="0"/>
              <a:t>–</a:t>
            </a:r>
            <a:r>
              <a:rPr lang="en-US" dirty="0">
                <a:solidFill>
                  <a:srgbClr val="00B050"/>
                </a:solidFill>
              </a:rPr>
              <a:t>Membrane lipid peroxidation</a:t>
            </a:r>
            <a:endParaRPr lang="en-US" dirty="0"/>
          </a:p>
          <a:p>
            <a:pPr algn="l" rtl="0">
              <a:buNone/>
            </a:pPr>
            <a:r>
              <a:rPr lang="en-US" dirty="0"/>
              <a:t>–</a:t>
            </a:r>
            <a:r>
              <a:rPr lang="en-US" dirty="0">
                <a:solidFill>
                  <a:srgbClr val="00B050"/>
                </a:solidFill>
              </a:rPr>
              <a:t>Interaction with protein</a:t>
            </a:r>
            <a:endParaRPr lang="en-US" dirty="0"/>
          </a:p>
          <a:p>
            <a:pPr algn="l" rtl="0">
              <a:buNone/>
            </a:pPr>
            <a:r>
              <a:rPr lang="en-US" dirty="0"/>
              <a:t>–</a:t>
            </a:r>
            <a:r>
              <a:rPr lang="en-US" dirty="0">
                <a:solidFill>
                  <a:srgbClr val="00B050"/>
                </a:solidFill>
              </a:rPr>
              <a:t>DNA damage</a:t>
            </a:r>
          </a:p>
          <a:p>
            <a:pPr algn="l" rtl="0">
              <a:buNone/>
            </a:pPr>
            <a:endParaRPr lang="en-US" dirty="0"/>
          </a:p>
          <a:p>
            <a:pPr algn="l" rtl="0">
              <a:buNone/>
            </a:pPr>
            <a:endParaRPr lang="ar-IQ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489</Words>
  <Application>Microsoft Office PowerPoint</Application>
  <PresentationFormat>On-screen Show (4:3)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سمة Office</vt:lpstr>
      <vt:lpstr>CELL INJURY Lecture Dr. Safinaz</vt:lpstr>
      <vt:lpstr>Introduction</vt:lpstr>
      <vt:lpstr>PowerPoint Presentation</vt:lpstr>
      <vt:lpstr>Introduction</vt:lpstr>
      <vt:lpstr>Causes of cell injury  </vt:lpstr>
      <vt:lpstr>Types of insult –Hypoxia  (reduced oxygen) </vt:lpstr>
      <vt:lpstr>Types of insult -chemical </vt:lpstr>
      <vt:lpstr>Types of insult -infections</vt:lpstr>
      <vt:lpstr>Types of insult -Physical</vt:lpstr>
      <vt:lpstr>Types of insult –immune </vt:lpstr>
      <vt:lpstr>Types of insult -nutrition</vt:lpstr>
      <vt:lpstr>Principle structural targets for cell damage</vt:lpstr>
      <vt:lpstr>Pathogenesis of cell injury -hypoxia</vt:lpstr>
      <vt:lpstr>Pathogenesis of cell injury -hypoxia</vt:lpstr>
      <vt:lpstr>Pathogenesis of cell injury –non-ischaemic</vt:lpstr>
      <vt:lpstr>PowerPoint Presentation</vt:lpstr>
      <vt:lpstr>Free radicals</vt:lpstr>
      <vt:lpstr>Free radicals</vt:lpstr>
      <vt:lpstr>Free radicals</vt:lpstr>
      <vt:lpstr>Free radicals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 INJURY  Dr Qaswar   Al  Turaihi  Dept of Pathology  qaswar.alturaihi@uokufa.edu.iq</dc:title>
  <dc:creator>Guest</dc:creator>
  <cp:lastModifiedBy>peshang.hussain88@outlook.com</cp:lastModifiedBy>
  <cp:revision>46</cp:revision>
  <dcterms:created xsi:type="dcterms:W3CDTF">2013-09-23T21:39:23Z</dcterms:created>
  <dcterms:modified xsi:type="dcterms:W3CDTF">2023-12-04T05:04:31Z</dcterms:modified>
</cp:coreProperties>
</file>