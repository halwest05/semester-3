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00"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1828800"/>
            <a:ext cx="6858000" cy="3505200"/>
          </a:xfrm>
        </p:spPr>
        <p:txBody>
          <a:bodyPr/>
          <a:lstStyle/>
          <a:p>
            <a:r>
              <a:rPr lang="en-US" dirty="0" smtClean="0">
                <a:solidFill>
                  <a:schemeClr val="tx1"/>
                </a:solidFill>
              </a:rPr>
              <a:t>Cardiovascular System</a:t>
            </a:r>
          </a:p>
          <a:p>
            <a:endParaRPr lang="en-US" dirty="0" smtClean="0">
              <a:solidFill>
                <a:schemeClr val="tx1"/>
              </a:solidFill>
            </a:endParaRPr>
          </a:p>
          <a:p>
            <a:r>
              <a:rPr lang="en-US" dirty="0">
                <a:solidFill>
                  <a:schemeClr val="tx1"/>
                </a:solidFill>
              </a:rPr>
              <a:t>Session </a:t>
            </a:r>
            <a:r>
              <a:rPr lang="en-US" dirty="0" smtClean="0">
                <a:solidFill>
                  <a:schemeClr val="tx1"/>
                </a:solidFill>
              </a:rPr>
              <a:t>5</a:t>
            </a:r>
          </a:p>
          <a:p>
            <a:endParaRPr lang="en-US" dirty="0" smtClean="0">
              <a:solidFill>
                <a:schemeClr val="tx1"/>
              </a:solidFill>
            </a:endParaRPr>
          </a:p>
          <a:p>
            <a:r>
              <a:rPr lang="en-US" dirty="0">
                <a:solidFill>
                  <a:schemeClr val="tx1"/>
                </a:solidFill>
              </a:rPr>
              <a:t>Factors affecting flow through tubes</a:t>
            </a:r>
            <a:endParaRPr lang="ar-IQ" dirty="0">
              <a:solidFill>
                <a:schemeClr val="tx1"/>
              </a:solidFill>
            </a:endParaRPr>
          </a:p>
        </p:txBody>
      </p:sp>
    </p:spTree>
    <p:extLst>
      <p:ext uri="{BB962C8B-B14F-4D97-AF65-F5344CB8AC3E}">
        <p14:creationId xmlns:p14="http://schemas.microsoft.com/office/powerpoint/2010/main" val="1942214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a:buNone/>
            </a:pPr>
            <a:r>
              <a:rPr lang="en-US" b="1" dirty="0"/>
              <a:t>Aims of this session</a:t>
            </a:r>
            <a:r>
              <a:rPr lang="en-US" b="1" dirty="0" smtClean="0"/>
              <a:t>:</a:t>
            </a:r>
          </a:p>
          <a:p>
            <a:pPr marL="0" indent="0">
              <a:buNone/>
            </a:pPr>
            <a:endParaRPr lang="en-US" b="1" dirty="0"/>
          </a:p>
          <a:p>
            <a:r>
              <a:rPr lang="en-US" dirty="0" smtClean="0"/>
              <a:t>To </a:t>
            </a:r>
            <a:r>
              <a:rPr lang="en-US" dirty="0"/>
              <a:t>understand the factors influencing the flow of fluids through tubes</a:t>
            </a:r>
          </a:p>
          <a:p>
            <a:r>
              <a:rPr lang="en-US" dirty="0"/>
              <a:t>T</a:t>
            </a:r>
            <a:r>
              <a:rPr lang="en-US" dirty="0" smtClean="0"/>
              <a:t>o </a:t>
            </a:r>
            <a:r>
              <a:rPr lang="en-US" dirty="0"/>
              <a:t>understand the concepts of flow, resistance and pressure</a:t>
            </a:r>
          </a:p>
          <a:p>
            <a:r>
              <a:rPr lang="en-US" dirty="0" smtClean="0"/>
              <a:t>To </a:t>
            </a:r>
            <a:r>
              <a:rPr lang="en-US" dirty="0"/>
              <a:t>understand the special factors affecting the flow of blood through blood vessels</a:t>
            </a:r>
          </a:p>
          <a:p>
            <a:r>
              <a:rPr lang="en-US" dirty="0"/>
              <a:t>T</a:t>
            </a:r>
            <a:r>
              <a:rPr lang="en-US" dirty="0" smtClean="0"/>
              <a:t>o </a:t>
            </a:r>
            <a:r>
              <a:rPr lang="en-US" dirty="0"/>
              <a:t>understand how resistance reveals control blood flow to individual tissue</a:t>
            </a:r>
          </a:p>
          <a:p>
            <a:r>
              <a:rPr lang="en-US" dirty="0" smtClean="0"/>
              <a:t>To </a:t>
            </a:r>
            <a:r>
              <a:rPr lang="en-US" dirty="0"/>
              <a:t>appreciate the range of factors affecting resistance vessels</a:t>
            </a:r>
            <a:endParaRPr lang="ar-IQ" dirty="0"/>
          </a:p>
        </p:txBody>
      </p:sp>
    </p:spTree>
    <p:extLst>
      <p:ext uri="{BB962C8B-B14F-4D97-AF65-F5344CB8AC3E}">
        <p14:creationId xmlns:p14="http://schemas.microsoft.com/office/powerpoint/2010/main" val="3188746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marL="0" indent="0">
              <a:buNone/>
            </a:pPr>
            <a:r>
              <a:rPr lang="en-US" sz="4500" b="1" dirty="0" smtClean="0"/>
              <a:t>Learning outcomes :</a:t>
            </a:r>
          </a:p>
          <a:p>
            <a:pPr marL="0" indent="0">
              <a:buNone/>
            </a:pPr>
            <a:r>
              <a:rPr lang="en-US" dirty="0"/>
              <a:t>By the end of this session and with appropriate self study you should be able to:</a:t>
            </a:r>
          </a:p>
          <a:p>
            <a:r>
              <a:rPr lang="en-US" dirty="0"/>
              <a:t>D</a:t>
            </a:r>
            <a:r>
              <a:rPr lang="en-US" dirty="0" smtClean="0"/>
              <a:t>efine </a:t>
            </a:r>
            <a:r>
              <a:rPr lang="en-US" dirty="0"/>
              <a:t>the terms 'flow' and 'velocity' with respect to the movement of fluids through tubesand state the relationship between them</a:t>
            </a:r>
          </a:p>
          <a:p>
            <a:r>
              <a:rPr lang="en-US" dirty="0"/>
              <a:t>D</a:t>
            </a:r>
            <a:r>
              <a:rPr lang="en-US" dirty="0" smtClean="0"/>
              <a:t>escribe </a:t>
            </a:r>
            <a:r>
              <a:rPr lang="en-US" dirty="0"/>
              <a:t>what is meant by 'laminar' and 'turbulent' flow</a:t>
            </a:r>
          </a:p>
          <a:p>
            <a:r>
              <a:rPr lang="en-US" dirty="0"/>
              <a:t>D</a:t>
            </a:r>
            <a:r>
              <a:rPr lang="en-US" dirty="0" smtClean="0"/>
              <a:t>escribe </a:t>
            </a:r>
            <a:r>
              <a:rPr lang="en-US" dirty="0"/>
              <a:t>what is meant by viscosity, and the effect of viscosity upon flow</a:t>
            </a:r>
          </a:p>
          <a:p>
            <a:r>
              <a:rPr lang="en-US" dirty="0"/>
              <a:t>D</a:t>
            </a:r>
            <a:r>
              <a:rPr lang="en-US" dirty="0" smtClean="0"/>
              <a:t>escribe </a:t>
            </a:r>
            <a:r>
              <a:rPr lang="en-US" dirty="0"/>
              <a:t>the effects of changes in tube diameter on flow rate</a:t>
            </a:r>
          </a:p>
          <a:p>
            <a:r>
              <a:rPr lang="en-US" dirty="0"/>
              <a:t>D</a:t>
            </a:r>
            <a:r>
              <a:rPr lang="en-US" dirty="0" smtClean="0"/>
              <a:t>efine </a:t>
            </a:r>
            <a:r>
              <a:rPr lang="en-US" dirty="0"/>
              <a:t>the term 'resistance' to flow and state the factors which affect flow resistance</a:t>
            </a:r>
          </a:p>
          <a:p>
            <a:r>
              <a:rPr lang="en-US" dirty="0"/>
              <a:t>D</a:t>
            </a:r>
            <a:r>
              <a:rPr lang="en-US" dirty="0" smtClean="0"/>
              <a:t>escribe </a:t>
            </a:r>
            <a:r>
              <a:rPr lang="en-US" dirty="0"/>
              <a:t>the relationship between pressure, resistance and flow</a:t>
            </a:r>
          </a:p>
          <a:p>
            <a:r>
              <a:rPr lang="en-US" dirty="0"/>
              <a:t>D</a:t>
            </a:r>
            <a:r>
              <a:rPr lang="en-US" dirty="0" smtClean="0"/>
              <a:t>escribe </a:t>
            </a:r>
            <a:r>
              <a:rPr lang="en-US" dirty="0"/>
              <a:t>the effects of combining flow resistances in series and in parallel</a:t>
            </a:r>
          </a:p>
          <a:p>
            <a:r>
              <a:rPr lang="en-US" dirty="0"/>
              <a:t>D</a:t>
            </a:r>
            <a:r>
              <a:rPr lang="en-US" dirty="0" smtClean="0"/>
              <a:t>escribe </a:t>
            </a:r>
            <a:r>
              <a:rPr lang="en-US" dirty="0"/>
              <a:t>the pattern of flow resistance and pressure over the systematic circulation</a:t>
            </a:r>
            <a:endParaRPr lang="ar-IQ" dirty="0"/>
          </a:p>
        </p:txBody>
      </p:sp>
    </p:spTree>
    <p:extLst>
      <p:ext uri="{BB962C8B-B14F-4D97-AF65-F5344CB8AC3E}">
        <p14:creationId xmlns:p14="http://schemas.microsoft.com/office/powerpoint/2010/main" val="847977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t>D</a:t>
            </a:r>
            <a:r>
              <a:rPr lang="en-US" sz="2800" dirty="0" smtClean="0"/>
              <a:t>escribe </a:t>
            </a:r>
            <a:r>
              <a:rPr lang="en-US" sz="2800" dirty="0"/>
              <a:t>how the distensibility of blood vessels affects the relationship between flow and pressure</a:t>
            </a:r>
          </a:p>
          <a:p>
            <a:r>
              <a:rPr lang="en-US" sz="2800" dirty="0"/>
              <a:t>D</a:t>
            </a:r>
            <a:r>
              <a:rPr lang="en-US" sz="2800" dirty="0" smtClean="0"/>
              <a:t>escribe </a:t>
            </a:r>
            <a:r>
              <a:rPr lang="en-US" sz="2800" dirty="0"/>
              <a:t>how distensibility of blood vessels produces the property of capacitance</a:t>
            </a:r>
            <a:endParaRPr lang="ar-IQ" sz="2800" dirty="0"/>
          </a:p>
        </p:txBody>
      </p:sp>
    </p:spTree>
    <p:extLst>
      <p:ext uri="{BB962C8B-B14F-4D97-AF65-F5344CB8AC3E}">
        <p14:creationId xmlns:p14="http://schemas.microsoft.com/office/powerpoint/2010/main" val="2507418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0" indent="0">
              <a:buNone/>
            </a:pPr>
            <a:r>
              <a:rPr lang="en-US" dirty="0"/>
              <a:t>In order to understand how blood flows through blood vessels we must first consider </a:t>
            </a:r>
            <a:r>
              <a:rPr lang="en-US" dirty="0" smtClean="0"/>
              <a:t>the physics </a:t>
            </a:r>
            <a:r>
              <a:rPr lang="en-US" dirty="0"/>
              <a:t>of how fluids flow through rigid tubes.</a:t>
            </a:r>
          </a:p>
          <a:p>
            <a:r>
              <a:rPr lang="en-US" dirty="0"/>
              <a:t>First, definitions:</a:t>
            </a:r>
          </a:p>
          <a:p>
            <a:pPr marL="0" indent="0">
              <a:buNone/>
            </a:pPr>
            <a:r>
              <a:rPr lang="en-US" dirty="0" smtClean="0"/>
              <a:t>        Flow</a:t>
            </a:r>
            <a:r>
              <a:rPr lang="en-US" dirty="0"/>
              <a:t>:</a:t>
            </a:r>
          </a:p>
          <a:p>
            <a:pPr marL="0" indent="0">
              <a:buNone/>
            </a:pPr>
            <a:r>
              <a:rPr lang="en-US" dirty="0" smtClean="0"/>
              <a:t>        Velocity</a:t>
            </a:r>
            <a:r>
              <a:rPr lang="en-US" dirty="0"/>
              <a:t>:</a:t>
            </a:r>
          </a:p>
          <a:p>
            <a:r>
              <a:rPr lang="en-US" dirty="0"/>
              <a:t>If flow rate is constant then velocity varies inversely with the cross-sectional area of the tube.</a:t>
            </a:r>
          </a:p>
          <a:p>
            <a:r>
              <a:rPr lang="en-US" dirty="0"/>
              <a:t>This applies whether flow is through a single tube or a set of parallel tubes.</a:t>
            </a:r>
            <a:endParaRPr lang="ar-IQ" dirty="0"/>
          </a:p>
        </p:txBody>
      </p:sp>
    </p:spTree>
    <p:extLst>
      <p:ext uri="{BB962C8B-B14F-4D97-AF65-F5344CB8AC3E}">
        <p14:creationId xmlns:p14="http://schemas.microsoft.com/office/powerpoint/2010/main" val="1724762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0" indent="0">
              <a:buNone/>
            </a:pPr>
            <a:r>
              <a:rPr lang="en-US" dirty="0"/>
              <a:t>Example:</a:t>
            </a:r>
          </a:p>
          <a:p>
            <a:r>
              <a:rPr lang="en-US" dirty="0"/>
              <a:t>The flow through the </a:t>
            </a:r>
            <a:r>
              <a:rPr lang="en-US" dirty="0" smtClean="0"/>
              <a:t>systemic </a:t>
            </a:r>
            <a:r>
              <a:rPr lang="en-US" dirty="0"/>
              <a:t>circulation is the same at each level - the arteries, arterioles,capillaries and veins. Why is the velocity 500 mm.s-1 in the aorta, but only 0.1 mm.s-1 in the capillaries, when 5 l.min-1 flows through both</a:t>
            </a:r>
            <a:r>
              <a:rPr lang="en-US" dirty="0" smtClean="0"/>
              <a:t>?</a:t>
            </a:r>
          </a:p>
          <a:p>
            <a:r>
              <a:rPr lang="en-US" dirty="0"/>
              <a:t>Flow along tubes is driven by a difference of pressure between one end of the tube and the other ('pressure gradient'). If all else remains the same what will happen to flow if the pressure gradient increases?</a:t>
            </a:r>
            <a:endParaRPr lang="ar-IQ" dirty="0"/>
          </a:p>
        </p:txBody>
      </p:sp>
    </p:spTree>
    <p:extLst>
      <p:ext uri="{BB962C8B-B14F-4D97-AF65-F5344CB8AC3E}">
        <p14:creationId xmlns:p14="http://schemas.microsoft.com/office/powerpoint/2010/main" val="1711883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There are two ways in which fluid flows through tubes - Laminar and Turbulent</a:t>
            </a:r>
            <a:r>
              <a:rPr lang="en-US" dirty="0" smtClean="0"/>
              <a:t>.</a:t>
            </a:r>
          </a:p>
          <a:p>
            <a:pPr marL="0" indent="0">
              <a:buNone/>
            </a:pPr>
            <a:endParaRPr lang="en-US" dirty="0"/>
          </a:p>
          <a:p>
            <a:pPr marL="0" indent="0">
              <a:buNone/>
            </a:pPr>
            <a:r>
              <a:rPr lang="en-US" b="1" dirty="0" smtClean="0"/>
              <a:t>Laminar Flow :</a:t>
            </a:r>
            <a:endParaRPr lang="en-US" b="1" dirty="0"/>
          </a:p>
          <a:p>
            <a:pPr marL="0" indent="0">
              <a:buNone/>
            </a:pPr>
            <a:r>
              <a:rPr lang="en-US" b="1" dirty="0"/>
              <a:t>Turbulent </a:t>
            </a:r>
            <a:r>
              <a:rPr lang="en-US" b="1" dirty="0" smtClean="0"/>
              <a:t>Flow:</a:t>
            </a:r>
            <a:endParaRPr lang="en-US" b="1" dirty="0"/>
          </a:p>
          <a:p>
            <a:r>
              <a:rPr lang="en-US" dirty="0"/>
              <a:t>Mostly, flow in the circulation is laminar. Turbulent flow generates sound. In laminar flow adjacent layers of fluid are moving along the tube at different velocities, and so must slide over one another. The extent to which they can do this is determined by the viscosity. In more viscous fluids the layers are harder to separate.</a:t>
            </a:r>
            <a:endParaRPr lang="ar-IQ" dirty="0"/>
          </a:p>
        </p:txBody>
      </p:sp>
    </p:spTree>
    <p:extLst>
      <p:ext uri="{BB962C8B-B14F-4D97-AF65-F5344CB8AC3E}">
        <p14:creationId xmlns:p14="http://schemas.microsoft.com/office/powerpoint/2010/main" val="2694486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So for a given pressure gradient and a given tube what will happen to the </a:t>
            </a:r>
            <a:r>
              <a:rPr lang="en-US" dirty="0" smtClean="0"/>
              <a:t>average velocity </a:t>
            </a:r>
            <a:r>
              <a:rPr lang="en-US" dirty="0"/>
              <a:t>of flow if the viscosity of the fluid increases</a:t>
            </a:r>
            <a:r>
              <a:rPr lang="en-US" dirty="0" smtClean="0"/>
              <a:t>?</a:t>
            </a:r>
          </a:p>
          <a:p>
            <a:r>
              <a:rPr lang="en-US" dirty="0"/>
              <a:t>As the velocity at the wall is zero, the wider the tube, the more velocity can increase </a:t>
            </a:r>
            <a:r>
              <a:rPr lang="en-US" dirty="0" smtClean="0"/>
              <a:t>towards the </a:t>
            </a:r>
            <a:r>
              <a:rPr lang="en-US" dirty="0"/>
              <a:t>middle of the tube as successive layers slide relative to one another. Average velocity, all other things being equal, therefore increases as the surface area (proportional to radius 2) ofthe tube.</a:t>
            </a:r>
            <a:endParaRPr lang="ar-IQ" dirty="0"/>
          </a:p>
        </p:txBody>
      </p:sp>
    </p:spTree>
    <p:extLst>
      <p:ext uri="{BB962C8B-B14F-4D97-AF65-F5344CB8AC3E}">
        <p14:creationId xmlns:p14="http://schemas.microsoft.com/office/powerpoint/2010/main" val="961253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70000" lnSpcReduction="20000"/>
              </a:bodyPr>
              <a:lstStyle/>
              <a:p>
                <a:r>
                  <a:rPr lang="en-US" dirty="0" smtClean="0"/>
                  <a:t>the average velocity (for a given pressure gradient) increases as the square of the radius,and flow is velocity times surface area, which also increases as the square of the radius, then for a given pressure gradient and viscosity, the flow increases by (surface area x surface area), i.e. by radius4.</a:t>
                </a:r>
              </a:p>
              <a:p>
                <a:r>
                  <a:rPr lang="en-US" dirty="0"/>
                  <a:t>The effects of viscosity, tube radius and length of time is described by Poiseulle's law for laminar flow.</a:t>
                </a:r>
              </a:p>
              <a:p>
                <a:r>
                  <a:rPr lang="en-US" dirty="0"/>
                  <a:t>Pressure gradient = Flow </a:t>
                </a:r>
                <a:r>
                  <a:rPr lang="en-US" dirty="0" smtClean="0"/>
                  <a:t>x </a:t>
                </a:r>
                <a14:m>
                  <m:oMath xmlns:m="http://schemas.openxmlformats.org/officeDocument/2006/math">
                    <m:box>
                      <m:boxPr>
                        <m:ctrlPr>
                          <a:rPr lang="en-US" sz="4000" i="1" smtClean="0">
                            <a:latin typeface="Cambria Math"/>
                          </a:rPr>
                        </m:ctrlPr>
                      </m:boxPr>
                      <m:e>
                        <m:argPr>
                          <m:argSz m:val="-1"/>
                        </m:argPr>
                        <m:f>
                          <m:fPr>
                            <m:ctrlPr>
                              <a:rPr lang="en-US" sz="4000" i="1" smtClean="0">
                                <a:latin typeface="Cambria Math"/>
                              </a:rPr>
                            </m:ctrlPr>
                          </m:fPr>
                          <m:num>
                            <m:r>
                              <a:rPr lang="en-US" sz="4000" b="0" i="1" smtClean="0">
                                <a:latin typeface="Cambria Math"/>
                              </a:rPr>
                              <m:t>8</m:t>
                            </m:r>
                          </m:num>
                          <m:den>
                            <m:r>
                              <a:rPr lang="en-US" sz="4000" b="0" i="1" smtClean="0">
                                <a:latin typeface="Cambria Math"/>
                              </a:rPr>
                              <m:t>𝑟</m:t>
                            </m:r>
                          </m:den>
                        </m:f>
                      </m:e>
                    </m:box>
                    <m:box>
                      <m:boxPr>
                        <m:ctrlPr>
                          <a:rPr lang="en-US" sz="4000" i="1" smtClean="0">
                            <a:latin typeface="Cambria Math"/>
                          </a:rPr>
                        </m:ctrlPr>
                      </m:boxPr>
                      <m:e>
                        <m:argPr>
                          <m:argSz m:val="-1"/>
                        </m:argPr>
                        <m:f>
                          <m:fPr>
                            <m:ctrlPr>
                              <a:rPr lang="en-US" sz="4000" i="1" smtClean="0">
                                <a:latin typeface="Cambria Math"/>
                              </a:rPr>
                            </m:ctrlPr>
                          </m:fPr>
                          <m:num>
                            <m:r>
                              <a:rPr lang="en-US" sz="4000" b="0" i="1" smtClean="0">
                                <a:latin typeface="Cambria Math"/>
                              </a:rPr>
                              <m:t>h</m:t>
                            </m:r>
                          </m:num>
                          <m:den>
                            <m:r>
                              <a:rPr lang="en-US" sz="4000" b="0" i="1" smtClean="0">
                                <a:latin typeface="Cambria Math"/>
                              </a:rPr>
                              <m:t>4</m:t>
                            </m:r>
                          </m:den>
                        </m:f>
                      </m:e>
                    </m:box>
                    <m:box>
                      <m:boxPr>
                        <m:ctrlPr>
                          <a:rPr lang="en-US" sz="4000" i="1" smtClean="0">
                            <a:latin typeface="Cambria Math"/>
                          </a:rPr>
                        </m:ctrlPr>
                      </m:boxPr>
                      <m:e>
                        <m:argPr>
                          <m:argSz m:val="-1"/>
                        </m:argPr>
                        <m:f>
                          <m:fPr>
                            <m:ctrlPr>
                              <a:rPr lang="en-US" sz="4000" i="1" smtClean="0">
                                <a:latin typeface="Cambria Math"/>
                              </a:rPr>
                            </m:ctrlPr>
                          </m:fPr>
                          <m:num>
                            <m:r>
                              <a:rPr lang="en-US" sz="4000" b="0" i="1" smtClean="0">
                                <a:latin typeface="Cambria Math"/>
                              </a:rPr>
                              <m:t>𝐼</m:t>
                            </m:r>
                          </m:num>
                          <m:den>
                            <m:r>
                              <a:rPr lang="en-US" sz="4000" i="1" smtClean="0">
                                <a:latin typeface="Cambria Math"/>
                                <a:ea typeface="Cambria Math"/>
                              </a:rPr>
                              <m:t>𝜋</m:t>
                            </m:r>
                          </m:den>
                        </m:f>
                      </m:e>
                    </m:box>
                  </m:oMath>
                </a14:m>
                <a:endParaRPr lang="en-US" sz="4000" dirty="0">
                  <a:latin typeface="Times New Roman"/>
                  <a:cs typeface="Times New Roman"/>
                </a:endParaRPr>
              </a:p>
              <a:p>
                <a:pPr marL="0" indent="0">
                  <a:buNone/>
                </a:pPr>
                <a:r>
                  <a:rPr lang="en-US" dirty="0" smtClean="0"/>
                  <a:t>    where</a:t>
                </a:r>
              </a:p>
              <a:p>
                <a:pPr marL="0" indent="0">
                  <a:buNone/>
                </a:pPr>
                <a:r>
                  <a:rPr lang="en-US" dirty="0" smtClean="0">
                    <a:latin typeface="Times New Roman"/>
                    <a:cs typeface="Times New Roman"/>
                  </a:rPr>
                  <a:t>•</a:t>
                </a:r>
                <a:r>
                  <a:rPr lang="en-US" dirty="0" smtClean="0"/>
                  <a:t>  h </a:t>
                </a:r>
                <a:r>
                  <a:rPr lang="en-US" dirty="0"/>
                  <a:t>= viscosity</a:t>
                </a:r>
              </a:p>
              <a:p>
                <a:r>
                  <a:rPr lang="en-US" dirty="0"/>
                  <a:t>l = length</a:t>
                </a:r>
              </a:p>
              <a:p>
                <a:r>
                  <a:rPr lang="en-US" dirty="0"/>
                  <a:t>r = radius</a:t>
                </a:r>
                <a:endParaRPr lang="ar-IQ"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156" r="-444"/>
                </a:stretch>
              </a:blipFill>
            </p:spPr>
            <p:txBody>
              <a:bodyPr/>
              <a:lstStyle/>
              <a:p>
                <a:r>
                  <a:rPr lang="ar-IQ">
                    <a:noFill/>
                  </a:rPr>
                  <a:t> </a:t>
                </a:r>
              </a:p>
            </p:txBody>
          </p:sp>
        </mc:Fallback>
      </mc:AlternateContent>
    </p:spTree>
    <p:extLst>
      <p:ext uri="{BB962C8B-B14F-4D97-AF65-F5344CB8AC3E}">
        <p14:creationId xmlns:p14="http://schemas.microsoft.com/office/powerpoint/2010/main" val="95574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55000" lnSpcReduction="20000"/>
              </a:bodyPr>
              <a:lstStyle/>
              <a:p>
                <a:pPr marL="0" indent="0">
                  <a:buNone/>
                </a:pPr>
                <a:r>
                  <a:rPr lang="en-US" dirty="0" smtClean="0"/>
                  <a:t> or, more simply</a:t>
                </a:r>
              </a:p>
              <a:p>
                <a:r>
                  <a:rPr lang="en-US" dirty="0"/>
                  <a:t>Pressure gradient = Flow x Resistance</a:t>
                </a:r>
              </a:p>
              <a:p>
                <a:r>
                  <a:rPr lang="en-US" dirty="0"/>
                  <a:t>where resistance </a:t>
                </a:r>
                <a:r>
                  <a:rPr lang="en-US" dirty="0" smtClean="0"/>
                  <a:t>=</a:t>
                </a:r>
                <a14:m>
                  <m:oMath xmlns:m="http://schemas.openxmlformats.org/officeDocument/2006/math">
                    <m:box>
                      <m:boxPr>
                        <m:ctrlPr>
                          <a:rPr lang="en-US" sz="4500" i="1" smtClean="0">
                            <a:latin typeface="Cambria Math"/>
                          </a:rPr>
                        </m:ctrlPr>
                      </m:boxPr>
                      <m:e>
                        <m:argPr>
                          <m:argSz m:val="-1"/>
                        </m:argPr>
                        <m:f>
                          <m:fPr>
                            <m:ctrlPr>
                              <a:rPr lang="en-US" sz="4500" i="1" smtClean="0">
                                <a:latin typeface="Cambria Math"/>
                              </a:rPr>
                            </m:ctrlPr>
                          </m:fPr>
                          <m:num>
                            <m:r>
                              <a:rPr lang="en-US" sz="4500" b="0" i="1" smtClean="0">
                                <a:latin typeface="Cambria Math"/>
                              </a:rPr>
                              <m:t>8</m:t>
                            </m:r>
                          </m:num>
                          <m:den>
                            <m:r>
                              <a:rPr lang="en-US" sz="4500" b="0" i="1" smtClean="0">
                                <a:latin typeface="Cambria Math"/>
                              </a:rPr>
                              <m:t>𝑟</m:t>
                            </m:r>
                          </m:den>
                        </m:f>
                      </m:e>
                    </m:box>
                    <m:box>
                      <m:boxPr>
                        <m:ctrlPr>
                          <a:rPr lang="en-US" sz="4500" i="1" smtClean="0">
                            <a:latin typeface="Cambria Math"/>
                          </a:rPr>
                        </m:ctrlPr>
                      </m:boxPr>
                      <m:e>
                        <m:argPr>
                          <m:argSz m:val="-1"/>
                        </m:argPr>
                        <m:f>
                          <m:fPr>
                            <m:ctrlPr>
                              <a:rPr lang="en-US" sz="4500" i="1" smtClean="0">
                                <a:latin typeface="Cambria Math"/>
                              </a:rPr>
                            </m:ctrlPr>
                          </m:fPr>
                          <m:num>
                            <m:r>
                              <a:rPr lang="en-US" sz="4500" b="0" i="1" smtClean="0">
                                <a:latin typeface="Cambria Math"/>
                              </a:rPr>
                              <m:t>h</m:t>
                            </m:r>
                          </m:num>
                          <m:den>
                            <m:r>
                              <a:rPr lang="en-US" sz="4500" b="0" i="1" smtClean="0">
                                <a:latin typeface="Cambria Math"/>
                              </a:rPr>
                              <m:t>4</m:t>
                            </m:r>
                          </m:den>
                        </m:f>
                      </m:e>
                    </m:box>
                    <m:box>
                      <m:boxPr>
                        <m:ctrlPr>
                          <a:rPr lang="en-US" sz="4500" i="1" smtClean="0">
                            <a:latin typeface="Cambria Math"/>
                          </a:rPr>
                        </m:ctrlPr>
                      </m:boxPr>
                      <m:e>
                        <m:argPr>
                          <m:argSz m:val="-1"/>
                        </m:argPr>
                        <m:f>
                          <m:fPr>
                            <m:ctrlPr>
                              <a:rPr lang="en-US" sz="4500" i="1" smtClean="0">
                                <a:latin typeface="Cambria Math"/>
                              </a:rPr>
                            </m:ctrlPr>
                          </m:fPr>
                          <m:num>
                            <m:r>
                              <a:rPr lang="en-US" sz="4500" b="0" i="1" smtClean="0">
                                <a:latin typeface="Cambria Math"/>
                              </a:rPr>
                              <m:t>𝑙</m:t>
                            </m:r>
                          </m:num>
                          <m:den>
                            <m:r>
                              <a:rPr lang="en-US" sz="4500" i="1" smtClean="0">
                                <a:latin typeface="Cambria Math"/>
                                <a:ea typeface="Cambria Math"/>
                              </a:rPr>
                              <m:t>𝜋</m:t>
                            </m:r>
                          </m:den>
                        </m:f>
                      </m:e>
                    </m:box>
                  </m:oMath>
                </a14:m>
                <a:endParaRPr lang="en-US" sz="4500" dirty="0"/>
              </a:p>
              <a:p>
                <a:r>
                  <a:rPr lang="en-US" dirty="0"/>
                  <a:t>For tubes in series, resistances add. Resistances in parallel may effectively be replaced by a single equivalent resistance, which is always less than either of the single resistances</a:t>
                </a:r>
                <a:r>
                  <a:rPr lang="en-US" dirty="0" smtClean="0"/>
                  <a:t>.</a:t>
                </a:r>
              </a:p>
              <a:p>
                <a:pPr marL="0" indent="0">
                  <a:buNone/>
                </a:pPr>
                <a:endParaRPr lang="en-US" dirty="0"/>
              </a:p>
              <a:p>
                <a:pPr marL="0" indent="0">
                  <a:buNone/>
                </a:pPr>
                <a:r>
                  <a:rPr lang="en-US" b="1" dirty="0"/>
                  <a:t>In the systemic circulation:</a:t>
                </a:r>
              </a:p>
              <a:p>
                <a:r>
                  <a:rPr lang="en-US" dirty="0" smtClean="0"/>
                  <a:t>The </a:t>
                </a:r>
                <a:r>
                  <a:rPr lang="en-US" dirty="0"/>
                  <a:t>pressure in the aorta averages 100 mm Hg.</a:t>
                </a:r>
              </a:p>
              <a:p>
                <a:r>
                  <a:rPr lang="en-US" dirty="0" smtClean="0"/>
                  <a:t>The </a:t>
                </a:r>
                <a:r>
                  <a:rPr lang="en-US" dirty="0"/>
                  <a:t>pressure in the arteries of the arm averages 95 mm Hg</a:t>
                </a:r>
              </a:p>
              <a:p>
                <a:pPr marL="0" indent="0">
                  <a:buNone/>
                </a:pPr>
                <a:r>
                  <a:rPr lang="en-US" dirty="0" smtClean="0"/>
                  <a:t>                          What </a:t>
                </a:r>
                <a:r>
                  <a:rPr lang="en-US" dirty="0"/>
                  <a:t>is the resistance of arteries? High, medium or </a:t>
                </a:r>
                <a:r>
                  <a:rPr lang="en-US" dirty="0" smtClean="0"/>
                  <a:t>low?</a:t>
                </a:r>
              </a:p>
              <a:p>
                <a:pPr marL="0" indent="0">
                  <a:buNone/>
                </a:pPr>
                <a:r>
                  <a:rPr lang="en-US" dirty="0"/>
                  <a:t> </a:t>
                </a:r>
                <a:r>
                  <a:rPr lang="en-US" dirty="0" smtClean="0"/>
                  <a:t>                         What </a:t>
                </a:r>
                <a:r>
                  <a:rPr lang="en-US" dirty="0"/>
                  <a:t>is the resistance of arterioles? High, medium or low?</a:t>
                </a:r>
              </a:p>
              <a:p>
                <a:pPr marL="0" indent="0">
                  <a:buNone/>
                </a:pPr>
                <a:r>
                  <a:rPr lang="en-US" dirty="0" smtClean="0"/>
                  <a:t>                          What </a:t>
                </a:r>
                <a:r>
                  <a:rPr lang="en-US" dirty="0"/>
                  <a:t>is the resistance of all the capillaries together? High, medium or low?</a:t>
                </a:r>
              </a:p>
              <a:p>
                <a:pPr marL="0" indent="0">
                  <a:buNone/>
                </a:pPr>
                <a:r>
                  <a:rPr lang="en-US" dirty="0" smtClean="0"/>
                  <a:t>                          Given </a:t>
                </a:r>
                <a:r>
                  <a:rPr lang="en-US" dirty="0"/>
                  <a:t>that each capillary is very small, and individually will have a very high resistance, why is their collective resistance relatively low?</a:t>
                </a:r>
                <a:endParaRPr lang="ar-IQ"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752"/>
                </a:stretch>
              </a:blipFill>
            </p:spPr>
            <p:txBody>
              <a:bodyPr/>
              <a:lstStyle/>
              <a:p>
                <a:r>
                  <a:rPr lang="ar-IQ">
                    <a:noFill/>
                  </a:rPr>
                  <a:t> </a:t>
                </a:r>
              </a:p>
            </p:txBody>
          </p:sp>
        </mc:Fallback>
      </mc:AlternateContent>
    </p:spTree>
    <p:extLst>
      <p:ext uri="{BB962C8B-B14F-4D97-AF65-F5344CB8AC3E}">
        <p14:creationId xmlns:p14="http://schemas.microsoft.com/office/powerpoint/2010/main" val="3322796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marL="0" indent="0">
              <a:buNone/>
            </a:pPr>
            <a:r>
              <a:rPr lang="en-US" sz="4400" b="1" dirty="0"/>
              <a:t>Special properties of blood vessels</a:t>
            </a:r>
          </a:p>
          <a:p>
            <a:r>
              <a:rPr lang="en-US" dirty="0"/>
              <a:t>Blood vessels are not rigid pipes, their walls can stretch - they are 'distensible'. The force tending to stretch the walls, and so increase the radius is the pressure difference between the inside and outside of the tube - the transmural pressure. As pressure increases so the wallsstretch and resistance falls. Draw the relationship between pressure and flow in this case.</a:t>
            </a:r>
          </a:p>
          <a:p>
            <a:r>
              <a:rPr lang="en-US" dirty="0"/>
              <a:t>Blood vessels close completely at supply pressures above zero. As pressure rises, so flow increases dramatically, because the vessels distend.</a:t>
            </a:r>
          </a:p>
          <a:p>
            <a:r>
              <a:rPr lang="en-US" dirty="0"/>
              <a:t>If pressure changes suddenly, more blood will flow into than out of the tube as it distends.</a:t>
            </a:r>
          </a:p>
          <a:p>
            <a:r>
              <a:rPr lang="en-US" dirty="0"/>
              <a:t>Distensible tubes can therefore, in effect, 'store' blood - they have capacitance.</a:t>
            </a:r>
          </a:p>
          <a:p>
            <a:r>
              <a:rPr lang="en-US" dirty="0"/>
              <a:t>The walls of many blood vessels also contain smooth muscle. If this changes its state </a:t>
            </a:r>
            <a:r>
              <a:rPr lang="en-US" dirty="0" smtClean="0"/>
              <a:t>of contraction</a:t>
            </a:r>
            <a:r>
              <a:rPr lang="en-US" dirty="0"/>
              <a:t>, then the diameter of the vessel and will change as the relationship </a:t>
            </a:r>
            <a:r>
              <a:rPr lang="en-US" dirty="0" smtClean="0"/>
              <a:t>between pressure </a:t>
            </a:r>
            <a:r>
              <a:rPr lang="en-US" dirty="0"/>
              <a:t>and flow is altered.</a:t>
            </a:r>
            <a:endParaRPr lang="ar-IQ" dirty="0"/>
          </a:p>
        </p:txBody>
      </p:sp>
    </p:spTree>
    <p:extLst>
      <p:ext uri="{BB962C8B-B14F-4D97-AF65-F5344CB8AC3E}">
        <p14:creationId xmlns:p14="http://schemas.microsoft.com/office/powerpoint/2010/main" val="3409593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Draw the change in the relationship between pressure and flow if the muscle contracts more.</a:t>
            </a:r>
            <a:endParaRPr lang="ar-IQ" dirty="0"/>
          </a:p>
        </p:txBody>
      </p:sp>
    </p:spTree>
    <p:extLst>
      <p:ext uri="{BB962C8B-B14F-4D97-AF65-F5344CB8AC3E}">
        <p14:creationId xmlns:p14="http://schemas.microsoft.com/office/powerpoint/2010/main" val="1497819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effect will such vasoconstriction have on resistance</a:t>
            </a:r>
            <a:r>
              <a:rPr lang="en-US" dirty="0" smtClean="0"/>
              <a:t>?</a:t>
            </a:r>
          </a:p>
          <a:p>
            <a:endParaRPr lang="en-US" dirty="0"/>
          </a:p>
          <a:p>
            <a:r>
              <a:rPr lang="en-US" dirty="0"/>
              <a:t>What will happen to resistance if the muscle contracts less - vasodilatation</a:t>
            </a:r>
            <a:r>
              <a:rPr lang="en-US" dirty="0" smtClean="0"/>
              <a:t>?</a:t>
            </a:r>
          </a:p>
          <a:p>
            <a:endParaRPr lang="ar-IQ" dirty="0"/>
          </a:p>
        </p:txBody>
      </p:sp>
    </p:spTree>
    <p:extLst>
      <p:ext uri="{BB962C8B-B14F-4D97-AF65-F5344CB8AC3E}">
        <p14:creationId xmlns:p14="http://schemas.microsoft.com/office/powerpoint/2010/main" val="3729348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dirty="0" smtClean="0"/>
              <a:t>Thanks for your attention </a:t>
            </a:r>
            <a:endParaRPr lang="ar-IQ" dirty="0"/>
          </a:p>
        </p:txBody>
      </p:sp>
    </p:spTree>
    <p:extLst>
      <p:ext uri="{BB962C8B-B14F-4D97-AF65-F5344CB8AC3E}">
        <p14:creationId xmlns:p14="http://schemas.microsoft.com/office/powerpoint/2010/main" val="902923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1018</Words>
  <Application>Microsoft Office PowerPoint</Application>
  <PresentationFormat>On-screen Show (4:3)</PresentationFormat>
  <Paragraphs>73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karenpc</dc:creator>
  <cp:lastModifiedBy>karenpc</cp:lastModifiedBy>
  <cp:revision>17</cp:revision>
  <dcterms:created xsi:type="dcterms:W3CDTF">2006-08-16T00:00:00Z</dcterms:created>
  <dcterms:modified xsi:type="dcterms:W3CDTF">2019-10-04T11:03:43Z</dcterms:modified>
</cp:coreProperties>
</file>