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59" r:id="rId5"/>
    <p:sldId id="260" r:id="rId6"/>
    <p:sldId id="272" r:id="rId7"/>
    <p:sldId id="261" r:id="rId8"/>
    <p:sldId id="262" r:id="rId9"/>
    <p:sldId id="273" r:id="rId10"/>
    <p:sldId id="263" r:id="rId11"/>
    <p:sldId id="264" r:id="rId12"/>
    <p:sldId id="265" r:id="rId13"/>
    <p:sldId id="266" r:id="rId14"/>
    <p:sldId id="267" r:id="rId15"/>
    <p:sldId id="268" r:id="rId16"/>
    <p:sldId id="269" r:id="rId17"/>
    <p:sldId id="270" r:id="rId18"/>
    <p:sldId id="271"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50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IQ"/>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BB77F09C-6687-41E6-9299-0F91EDCFF4B9}" type="datetimeFigureOut">
              <a:rPr lang="ar-IQ" smtClean="0"/>
              <a:t>03/02/1441</a:t>
            </a:fld>
            <a:endParaRPr lang="ar-IQ"/>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IQ"/>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IQ"/>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IQ"/>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63FB9A97-960A-4F8B-B638-EA8516B97F51}" type="slidenum">
              <a:rPr lang="ar-IQ" smtClean="0"/>
              <a:t>‹#›</a:t>
            </a:fld>
            <a:endParaRPr lang="ar-IQ"/>
          </a:p>
        </p:txBody>
      </p:sp>
    </p:spTree>
    <p:extLst>
      <p:ext uri="{BB962C8B-B14F-4D97-AF65-F5344CB8AC3E}">
        <p14:creationId xmlns:p14="http://schemas.microsoft.com/office/powerpoint/2010/main" val="1983628480"/>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IQ" dirty="0"/>
          </a:p>
        </p:txBody>
      </p:sp>
      <p:sp>
        <p:nvSpPr>
          <p:cNvPr id="4" name="Slide Number Placeholder 3"/>
          <p:cNvSpPr>
            <a:spLocks noGrp="1"/>
          </p:cNvSpPr>
          <p:nvPr>
            <p:ph type="sldNum" sz="quarter" idx="10"/>
          </p:nvPr>
        </p:nvSpPr>
        <p:spPr/>
        <p:txBody>
          <a:bodyPr/>
          <a:lstStyle/>
          <a:p>
            <a:fld id="{63FB9A97-960A-4F8B-B638-EA8516B97F51}" type="slidenum">
              <a:rPr lang="ar-IQ" smtClean="0"/>
              <a:t>9</a:t>
            </a:fld>
            <a:endParaRPr lang="ar-IQ"/>
          </a:p>
        </p:txBody>
      </p:sp>
    </p:spTree>
    <p:extLst>
      <p:ext uri="{BB962C8B-B14F-4D97-AF65-F5344CB8AC3E}">
        <p14:creationId xmlns:p14="http://schemas.microsoft.com/office/powerpoint/2010/main" val="1749971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10/2/2019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10/2/2019</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1"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r" rtl="1"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r" rtl="1"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r" rtl="1"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r" rtl="1"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r" rtl="1"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r" rtl="1"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32560" y="1752600"/>
            <a:ext cx="7406640" cy="3657600"/>
          </a:xfrm>
        </p:spPr>
        <p:txBody>
          <a:bodyPr>
            <a:normAutofit/>
          </a:bodyPr>
          <a:lstStyle/>
          <a:p>
            <a:pPr algn="ctr" rtl="0"/>
            <a:r>
              <a:rPr lang="en-US" dirty="0" smtClean="0"/>
              <a:t>Cardiovascular System</a:t>
            </a:r>
          </a:p>
          <a:p>
            <a:pPr algn="ctr" rtl="0"/>
            <a:endParaRPr lang="en-US" dirty="0" smtClean="0"/>
          </a:p>
          <a:p>
            <a:pPr algn="ctr" rtl="0"/>
            <a:r>
              <a:rPr lang="en-US" dirty="0" smtClean="0"/>
              <a:t>Session 4</a:t>
            </a:r>
          </a:p>
          <a:p>
            <a:pPr algn="ctr" rtl="0"/>
            <a:endParaRPr lang="en-US" dirty="0" smtClean="0"/>
          </a:p>
          <a:p>
            <a:pPr algn="ctr" rtl="0"/>
            <a:r>
              <a:rPr lang="en-US" dirty="0" smtClean="0"/>
              <a:t>The </a:t>
            </a:r>
            <a:r>
              <a:rPr lang="en-US" dirty="0"/>
              <a:t>Autonomic Nervous </a:t>
            </a:r>
            <a:r>
              <a:rPr lang="en-US" dirty="0" smtClean="0"/>
              <a:t>System</a:t>
            </a:r>
          </a:p>
          <a:p>
            <a:pPr algn="ctr" rtl="0"/>
            <a:endParaRPr lang="en-US" dirty="0" smtClean="0"/>
          </a:p>
          <a:p>
            <a:pPr algn="ctr" rtl="0"/>
            <a:r>
              <a:rPr lang="en-US" dirty="0"/>
              <a:t>The structure and function of the </a:t>
            </a:r>
            <a:r>
              <a:rPr lang="en-US" dirty="0" smtClean="0"/>
              <a:t>ANS</a:t>
            </a:r>
          </a:p>
          <a:p>
            <a:pPr algn="ctr" rtl="0"/>
            <a:endParaRPr lang="ar-IQ" dirty="0"/>
          </a:p>
        </p:txBody>
      </p:sp>
    </p:spTree>
    <p:extLst>
      <p:ext uri="{BB962C8B-B14F-4D97-AF65-F5344CB8AC3E}">
        <p14:creationId xmlns:p14="http://schemas.microsoft.com/office/powerpoint/2010/main" val="1959754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82296" indent="0" algn="l" rtl="0">
              <a:buNone/>
            </a:pPr>
            <a:r>
              <a:rPr lang="en-US" dirty="0"/>
              <a:t>The aim of this session </a:t>
            </a:r>
            <a:r>
              <a:rPr lang="en-US" dirty="0" smtClean="0"/>
              <a:t>is:</a:t>
            </a:r>
          </a:p>
          <a:p>
            <a:pPr algn="l" rtl="0"/>
            <a:endParaRPr lang="en-US" dirty="0"/>
          </a:p>
          <a:p>
            <a:pPr marL="82296" indent="0" algn="l" rtl="0">
              <a:buNone/>
            </a:pPr>
            <a:r>
              <a:rPr lang="en-US" dirty="0"/>
              <a:t>T</a:t>
            </a:r>
            <a:r>
              <a:rPr lang="en-US" dirty="0" smtClean="0"/>
              <a:t>o </a:t>
            </a:r>
            <a:r>
              <a:rPr lang="en-US" dirty="0"/>
              <a:t>introduce the structure and function of the autonomic nervous system and its role in the control of </a:t>
            </a:r>
            <a:r>
              <a:rPr lang="en-US" dirty="0" smtClean="0"/>
              <a:t>the cardiovascular system .</a:t>
            </a:r>
            <a:endParaRPr lang="ar-IQ" dirty="0"/>
          </a:p>
        </p:txBody>
      </p:sp>
    </p:spTree>
    <p:extLst>
      <p:ext uri="{BB962C8B-B14F-4D97-AF65-F5344CB8AC3E}">
        <p14:creationId xmlns:p14="http://schemas.microsoft.com/office/powerpoint/2010/main" val="1176892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
            </a:r>
            <a:br>
              <a:rPr lang="en-US" dirty="0" smtClean="0"/>
            </a:br>
            <a:r>
              <a:rPr lang="en-US" dirty="0" smtClean="0"/>
              <a:t>Learning </a:t>
            </a:r>
            <a:r>
              <a:rPr lang="en-US" dirty="0"/>
              <a:t>outcomes:</a:t>
            </a:r>
            <a:br>
              <a:rPr lang="en-US" dirty="0"/>
            </a:br>
            <a:endParaRPr lang="ar-IQ" dirty="0"/>
          </a:p>
        </p:txBody>
      </p:sp>
      <p:sp>
        <p:nvSpPr>
          <p:cNvPr id="3" name="Content Placeholder 2"/>
          <p:cNvSpPr>
            <a:spLocks noGrp="1"/>
          </p:cNvSpPr>
          <p:nvPr>
            <p:ph idx="1"/>
          </p:nvPr>
        </p:nvSpPr>
        <p:spPr/>
        <p:txBody>
          <a:bodyPr>
            <a:normAutofit fontScale="55000" lnSpcReduction="20000"/>
          </a:bodyPr>
          <a:lstStyle/>
          <a:p>
            <a:pPr marL="82296" indent="0" algn="l" rtl="0">
              <a:buNone/>
            </a:pPr>
            <a:r>
              <a:rPr lang="en-US" dirty="0" smtClean="0"/>
              <a:t>By </a:t>
            </a:r>
            <a:r>
              <a:rPr lang="en-US" dirty="0"/>
              <a:t>the end of the session and with appropriate self study you should be able to</a:t>
            </a:r>
            <a:r>
              <a:rPr lang="en-US" dirty="0" smtClean="0"/>
              <a:t>:</a:t>
            </a:r>
            <a:endParaRPr lang="en-US" dirty="0"/>
          </a:p>
          <a:p>
            <a:pPr marL="82296" indent="0" algn="l" rtl="0">
              <a:buNone/>
            </a:pPr>
            <a:r>
              <a:rPr lang="en-US" sz="4400" dirty="0" smtClean="0">
                <a:solidFill>
                  <a:srgbClr val="0070C0"/>
                </a:solidFill>
                <a:latin typeface="Times New Roman"/>
                <a:cs typeface="Times New Roman"/>
              </a:rPr>
              <a:t>•</a:t>
            </a:r>
            <a:r>
              <a:rPr lang="en-US" dirty="0" smtClean="0">
                <a:solidFill>
                  <a:srgbClr val="0070C0"/>
                </a:solidFill>
                <a:latin typeface="Times New Roman"/>
                <a:cs typeface="Times New Roman"/>
              </a:rPr>
              <a:t> </a:t>
            </a:r>
            <a:r>
              <a:rPr lang="en-US" dirty="0" smtClean="0"/>
              <a:t>Describe </a:t>
            </a:r>
            <a:r>
              <a:rPr lang="en-US" dirty="0"/>
              <a:t>the critical anatomical features of the autonomic nervous system, such as the existence of ganglia, and division into pre- and post-ganglionic neurones.</a:t>
            </a:r>
          </a:p>
          <a:p>
            <a:pPr algn="l" rtl="0"/>
            <a:r>
              <a:rPr lang="en-US" dirty="0" smtClean="0"/>
              <a:t>Describe </a:t>
            </a:r>
            <a:r>
              <a:rPr lang="en-US" dirty="0"/>
              <a:t>the key anatomical features of the sympathetic and parasympathetic branches of the autonomic nervous system, including where pre-ganglionic fibres leave the CNS, the location of ganglia and the relative length of the pre-and post-ganglionic fibres</a:t>
            </a:r>
            <a:r>
              <a:rPr lang="en-US" dirty="0" smtClean="0"/>
              <a:t>.</a:t>
            </a:r>
          </a:p>
          <a:p>
            <a:pPr marL="82296" indent="0" algn="l" rtl="0">
              <a:buNone/>
            </a:pPr>
            <a:endParaRPr lang="en-US" dirty="0"/>
          </a:p>
          <a:p>
            <a:pPr algn="l" rtl="0"/>
            <a:r>
              <a:rPr lang="en-US" dirty="0" smtClean="0"/>
              <a:t> </a:t>
            </a:r>
            <a:r>
              <a:rPr lang="en-US" dirty="0"/>
              <a:t>List the structures </a:t>
            </a:r>
            <a:r>
              <a:rPr lang="en-US" dirty="0" smtClean="0"/>
              <a:t>innervated </a:t>
            </a:r>
            <a:r>
              <a:rPr lang="en-US" dirty="0"/>
              <a:t>by each of the sympathetic and parasympathetic systems, and in broad terms, the effect of the sympathetic or parasympathetic activity upon these structures</a:t>
            </a:r>
            <a:r>
              <a:rPr lang="en-US" dirty="0" smtClean="0"/>
              <a:t>.</a:t>
            </a:r>
          </a:p>
          <a:p>
            <a:pPr marL="82296" indent="0" algn="l" rtl="0">
              <a:buNone/>
            </a:pPr>
            <a:endParaRPr lang="en-US" dirty="0"/>
          </a:p>
          <a:p>
            <a:pPr algn="l" rtl="0"/>
            <a:r>
              <a:rPr lang="en-US" dirty="0" smtClean="0"/>
              <a:t>Name </a:t>
            </a:r>
            <a:r>
              <a:rPr lang="en-US" dirty="0"/>
              <a:t>the usual chemical transmitters at the synapses between pre- and post-ganglionic neurones in each of the sympathetic and parasympathetic branches, and the type of receptors upon the post-ganglionic cell body.</a:t>
            </a:r>
          </a:p>
          <a:p>
            <a:pPr marL="82296" indent="0" algn="l" rtl="0">
              <a:buNone/>
            </a:pPr>
            <a:endParaRPr lang="en-US" dirty="0"/>
          </a:p>
        </p:txBody>
      </p:sp>
    </p:spTree>
    <p:extLst>
      <p:ext uri="{BB962C8B-B14F-4D97-AF65-F5344CB8AC3E}">
        <p14:creationId xmlns:p14="http://schemas.microsoft.com/office/powerpoint/2010/main" val="3808956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lgn="l" rtl="0"/>
            <a:endParaRPr lang="en-US" dirty="0" smtClean="0"/>
          </a:p>
          <a:p>
            <a:pPr algn="l" rtl="0"/>
            <a:r>
              <a:rPr lang="en-US" dirty="0" smtClean="0"/>
              <a:t>Name </a:t>
            </a:r>
            <a:r>
              <a:rPr lang="en-US" dirty="0"/>
              <a:t>the usual chemical transmitter released from post-ganglionic neurones of the parasympathetic system, and state the class of receptor upon which it normally acts</a:t>
            </a:r>
          </a:p>
          <a:p>
            <a:pPr algn="l" rtl="0"/>
            <a:r>
              <a:rPr lang="en-US" dirty="0" smtClean="0"/>
              <a:t>Name </a:t>
            </a:r>
            <a:r>
              <a:rPr lang="en-US" dirty="0"/>
              <a:t>the usual chemical transmitters released from post-ganglionic neurones of the sympathetic system and the types of receptor upon which it normally acts.</a:t>
            </a:r>
          </a:p>
          <a:p>
            <a:pPr algn="l" rtl="0"/>
            <a:r>
              <a:rPr lang="en-US" dirty="0" smtClean="0"/>
              <a:t> </a:t>
            </a:r>
            <a:r>
              <a:rPr lang="en-US" dirty="0"/>
              <a:t>State in broad terms the distribution of different types of adrenoreceptor around the body.</a:t>
            </a:r>
          </a:p>
          <a:p>
            <a:pPr algn="l" rtl="0"/>
            <a:r>
              <a:rPr lang="en-US" dirty="0" smtClean="0"/>
              <a:t> </a:t>
            </a:r>
            <a:r>
              <a:rPr lang="en-US" dirty="0"/>
              <a:t>State the action of the sympathetic nervous system on blood vessels in different organs.</a:t>
            </a:r>
          </a:p>
          <a:p>
            <a:pPr algn="l" rtl="0"/>
            <a:r>
              <a:rPr lang="en-US" dirty="0" smtClean="0"/>
              <a:t>State </a:t>
            </a:r>
            <a:r>
              <a:rPr lang="en-US" dirty="0"/>
              <a:t>the action of the sympathetic and parasympathetic system upon heart rate and force of ventricular contraction.</a:t>
            </a:r>
          </a:p>
          <a:p>
            <a:pPr marL="82296" indent="0" algn="l" rtl="0">
              <a:buNone/>
            </a:pPr>
            <a:endParaRPr lang="ar-IQ" dirty="0"/>
          </a:p>
        </p:txBody>
      </p:sp>
    </p:spTree>
    <p:extLst>
      <p:ext uri="{BB962C8B-B14F-4D97-AF65-F5344CB8AC3E}">
        <p14:creationId xmlns:p14="http://schemas.microsoft.com/office/powerpoint/2010/main" val="305173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l" rtl="0"/>
            <a:r>
              <a:rPr lang="en-US" dirty="0"/>
              <a:t>The autonomic nervous system is an </a:t>
            </a:r>
            <a:r>
              <a:rPr lang="en-US" b="1" dirty="0"/>
              <a:t>efferent </a:t>
            </a:r>
            <a:r>
              <a:rPr lang="en-US" dirty="0"/>
              <a:t>system. Nervous activity flows out from the central nervous system to the tissues. It is mostly involved in the control of involuntary processes. The defining characteristic of the autonomic nervous system is that one nerve cell in the pathway is located entirely outside of the central nervous system. The cell bodies of these neurones are located in structures known as </a:t>
            </a:r>
            <a:r>
              <a:rPr lang="en-US" b="1" dirty="0"/>
              <a:t>ganglia</a:t>
            </a:r>
            <a:r>
              <a:rPr lang="en-US" dirty="0"/>
              <a:t> (</a:t>
            </a:r>
            <a:r>
              <a:rPr lang="en-US" b="1" dirty="0"/>
              <a:t>sing. ganglion</a:t>
            </a:r>
            <a:r>
              <a:rPr lang="en-US" dirty="0"/>
              <a:t>).</a:t>
            </a:r>
          </a:p>
          <a:p>
            <a:pPr algn="l" rtl="0"/>
            <a:r>
              <a:rPr lang="en-US" b="1" dirty="0"/>
              <a:t>Pre-ganglionic</a:t>
            </a:r>
            <a:r>
              <a:rPr lang="en-US" dirty="0"/>
              <a:t> fibres leave the CNS, and then synapse with </a:t>
            </a:r>
            <a:r>
              <a:rPr lang="en-US" b="1" dirty="0"/>
              <a:t>post-ganglionic </a:t>
            </a:r>
            <a:r>
              <a:rPr lang="en-US" dirty="0"/>
              <a:t>cell bodies in the ganglia. The fibres of these cells run to the innervated structures and form neuro effector junctions with effector cells. Transmission at both ganglionic synapses and neuro effector junctions is by the release of chemical messengers - neurotransmitters.</a:t>
            </a:r>
          </a:p>
          <a:p>
            <a:pPr algn="l" rtl="0"/>
            <a:r>
              <a:rPr lang="en-US" dirty="0"/>
              <a:t>The autonomic nervous system is divided into two branches, distinguished primarily by the sites at which the pre-ganglionic fibres leave the central nervous system.</a:t>
            </a:r>
            <a:endParaRPr lang="ar-IQ" dirty="0"/>
          </a:p>
        </p:txBody>
      </p:sp>
    </p:spTree>
    <p:extLst>
      <p:ext uri="{BB962C8B-B14F-4D97-AF65-F5344CB8AC3E}">
        <p14:creationId xmlns:p14="http://schemas.microsoft.com/office/powerpoint/2010/main" val="3209220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8687" y="1585912"/>
            <a:ext cx="5972175" cy="4524375"/>
          </a:xfrm>
        </p:spPr>
      </p:pic>
    </p:spTree>
    <p:extLst>
      <p:ext uri="{BB962C8B-B14F-4D97-AF65-F5344CB8AC3E}">
        <p14:creationId xmlns:p14="http://schemas.microsoft.com/office/powerpoint/2010/main" val="450716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lgn="l" rtl="0"/>
            <a:r>
              <a:rPr lang="en-US" dirty="0"/>
              <a:t>Pre-ganglionic fibres of the parasympathetic system leave the CNS either in the </a:t>
            </a:r>
            <a:r>
              <a:rPr lang="en-US" dirty="0" smtClean="0"/>
              <a:t>cranial nerves </a:t>
            </a:r>
            <a:r>
              <a:rPr lang="en-US" dirty="0"/>
              <a:t>(i.e. directly from the brain) or from the sacral region - so called cranio-sacral outflow.</a:t>
            </a:r>
          </a:p>
          <a:p>
            <a:pPr algn="l" rtl="0"/>
            <a:r>
              <a:rPr lang="en-US" dirty="0"/>
              <a:t>Generally speaking the ganglia of the parasympathetic system are located close to, or sometimes within the structures controlled by the systems. </a:t>
            </a:r>
            <a:r>
              <a:rPr lang="en-US" dirty="0" smtClean="0"/>
              <a:t>Pre-ganglionic fibres </a:t>
            </a:r>
            <a:r>
              <a:rPr lang="en-US" dirty="0"/>
              <a:t>therefore tend to be long and post-ganglionic </a:t>
            </a:r>
            <a:r>
              <a:rPr lang="en-US" dirty="0" smtClean="0"/>
              <a:t>fibres short</a:t>
            </a:r>
            <a:r>
              <a:rPr lang="en-US" dirty="0"/>
              <a:t>. There are however some ganglia in the neck and abdomen, located further away from the target organs.</a:t>
            </a:r>
            <a:endParaRPr lang="ar-IQ" dirty="0"/>
          </a:p>
        </p:txBody>
      </p:sp>
    </p:spTree>
    <p:extLst>
      <p:ext uri="{BB962C8B-B14F-4D97-AF65-F5344CB8AC3E}">
        <p14:creationId xmlns:p14="http://schemas.microsoft.com/office/powerpoint/2010/main" val="1972832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lgn="l" rtl="0"/>
            <a:r>
              <a:rPr lang="en-US" dirty="0"/>
              <a:t>Pre-ganglionic fibres of the sympathetic branch leave the CNS from the thoracic and lumbar regions - so called Thoraco-lumbar outflow. Synapses between pre - and post-ganglionic neurones are mostly located in ganglia close to the spinal cord (the 'sympathetic chain'), so pre-ganglionic fibres are short and post-ganglionic fibres long. Some ganglia are located in the neck and abdomen, and these have longer pre-ganglionic fibres</a:t>
            </a:r>
            <a:r>
              <a:rPr lang="en-US" dirty="0" smtClean="0"/>
              <a:t>.</a:t>
            </a:r>
          </a:p>
          <a:p>
            <a:pPr marL="82296" indent="0" algn="l" rtl="0">
              <a:buNone/>
            </a:pPr>
            <a:endParaRPr lang="en-US" dirty="0"/>
          </a:p>
          <a:p>
            <a:pPr algn="l" rtl="0"/>
            <a:r>
              <a:rPr lang="en-US" dirty="0"/>
              <a:t>Most organs in the body are innervated by the sympathetic nervous system, rather fewer by the parasympathetic. Some organs have both sympathetic and parasympathetic innervation which generally, but not invariably, have opposing actions.</a:t>
            </a:r>
            <a:endParaRPr lang="ar-IQ" dirty="0"/>
          </a:p>
        </p:txBody>
      </p:sp>
    </p:spTree>
    <p:extLst>
      <p:ext uri="{BB962C8B-B14F-4D97-AF65-F5344CB8AC3E}">
        <p14:creationId xmlns:p14="http://schemas.microsoft.com/office/powerpoint/2010/main" val="4041501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16630" y="1447800"/>
            <a:ext cx="5336289" cy="4800600"/>
          </a:xfrm>
        </p:spPr>
      </p:pic>
    </p:spTree>
    <p:extLst>
      <p:ext uri="{BB962C8B-B14F-4D97-AF65-F5344CB8AC3E}">
        <p14:creationId xmlns:p14="http://schemas.microsoft.com/office/powerpoint/2010/main" val="490848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
            </a:r>
            <a:br>
              <a:rPr lang="en-US" dirty="0" smtClean="0"/>
            </a:br>
            <a:r>
              <a:rPr lang="en-US" dirty="0" smtClean="0"/>
              <a:t>Chemical </a:t>
            </a:r>
            <a:r>
              <a:rPr lang="en-US" dirty="0"/>
              <a:t>transmitters in the ANS</a:t>
            </a:r>
            <a:br>
              <a:rPr lang="en-US" dirty="0"/>
            </a:br>
            <a:endParaRPr lang="ar-IQ" dirty="0"/>
          </a:p>
        </p:txBody>
      </p:sp>
      <p:sp>
        <p:nvSpPr>
          <p:cNvPr id="3" name="Content Placeholder 2"/>
          <p:cNvSpPr>
            <a:spLocks noGrp="1"/>
          </p:cNvSpPr>
          <p:nvPr>
            <p:ph idx="1"/>
          </p:nvPr>
        </p:nvSpPr>
        <p:spPr/>
        <p:txBody>
          <a:bodyPr>
            <a:normAutofit fontScale="70000" lnSpcReduction="20000"/>
          </a:bodyPr>
          <a:lstStyle/>
          <a:p>
            <a:pPr algn="l" rtl="0"/>
            <a:endParaRPr lang="en-US" dirty="0" smtClean="0"/>
          </a:p>
          <a:p>
            <a:pPr algn="l" rtl="0"/>
            <a:r>
              <a:rPr lang="en-US" dirty="0" smtClean="0"/>
              <a:t>The </a:t>
            </a:r>
            <a:r>
              <a:rPr lang="en-US" dirty="0"/>
              <a:t>pre-ganglionic fibres of both sympathetic and parasympathetic branches release </a:t>
            </a:r>
            <a:r>
              <a:rPr lang="en-US" dirty="0" smtClean="0"/>
              <a:t>the neuro </a:t>
            </a:r>
            <a:r>
              <a:rPr lang="en-US" dirty="0"/>
              <a:t>transmitter acetylcholine. Like all </a:t>
            </a:r>
            <a:r>
              <a:rPr lang="en-US" dirty="0" smtClean="0"/>
              <a:t>chemical transmitters </a:t>
            </a:r>
            <a:r>
              <a:rPr lang="en-US" dirty="0"/>
              <a:t>it acts upon a receptor on the ganglionic cell body. Receptors are categorised into types by their responses to different agonists and antagonists. The acetylcholine receptor on the post-ganglionic cell bodies </a:t>
            </a:r>
            <a:r>
              <a:rPr lang="en-US" dirty="0" smtClean="0"/>
              <a:t>is of </a:t>
            </a:r>
            <a:r>
              <a:rPr lang="en-US" dirty="0"/>
              <a:t>the nicotinic type</a:t>
            </a:r>
            <a:r>
              <a:rPr lang="en-US" dirty="0" smtClean="0"/>
              <a:t>.</a:t>
            </a:r>
          </a:p>
          <a:p>
            <a:pPr marL="82296" indent="0" algn="l" rtl="0">
              <a:buNone/>
            </a:pPr>
            <a:endParaRPr lang="en-US" dirty="0"/>
          </a:p>
          <a:p>
            <a:pPr algn="l" rtl="0"/>
            <a:r>
              <a:rPr lang="en-US" dirty="0"/>
              <a:t>Most but not all post ganglionic </a:t>
            </a:r>
            <a:r>
              <a:rPr lang="en-US" dirty="0" smtClean="0"/>
              <a:t>parasympathetic fibres </a:t>
            </a:r>
            <a:r>
              <a:rPr lang="en-US" dirty="0"/>
              <a:t>also release acetylcholine, which usually acts on a different type of receptor on the effector cell - the muscarinic sub type.</a:t>
            </a:r>
            <a:endParaRPr lang="ar-IQ" dirty="0"/>
          </a:p>
        </p:txBody>
      </p:sp>
    </p:spTree>
    <p:extLst>
      <p:ext uri="{BB962C8B-B14F-4D97-AF65-F5344CB8AC3E}">
        <p14:creationId xmlns:p14="http://schemas.microsoft.com/office/powerpoint/2010/main" val="2110252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lgn="l" rtl="0"/>
            <a:r>
              <a:rPr lang="en-US" dirty="0"/>
              <a:t>Most but not all post-ganglionic sympathetic fibres </a:t>
            </a:r>
            <a:r>
              <a:rPr lang="en-US" dirty="0" smtClean="0"/>
              <a:t>release noradrenaline</a:t>
            </a:r>
            <a:r>
              <a:rPr lang="en-US" dirty="0"/>
              <a:t>. Different effector organs have difference receptor types for noradrenaline. There are two broad types -receptors, and -receptors, but each is sub-divided according to responses to </a:t>
            </a:r>
            <a:r>
              <a:rPr lang="en-US" dirty="0" smtClean="0"/>
              <a:t>different drugs</a:t>
            </a:r>
            <a:r>
              <a:rPr lang="en-US" dirty="0"/>
              <a:t>. Much more information about the pharmacology of the autonomic nervous system will be provided in the 'Membranes and Receptors' module</a:t>
            </a:r>
            <a:r>
              <a:rPr lang="en-US" dirty="0" smtClean="0"/>
              <a:t>.</a:t>
            </a:r>
          </a:p>
          <a:p>
            <a:pPr marL="82296" indent="0" algn="l" rtl="0">
              <a:buNone/>
            </a:pPr>
            <a:endParaRPr lang="en-US" dirty="0" smtClean="0"/>
          </a:p>
          <a:p>
            <a:pPr algn="l" rtl="0"/>
            <a:r>
              <a:rPr lang="en-US" dirty="0"/>
              <a:t>Broadly speaking -receptors are found on vascular smooth muscle. -receptors are found in the heart, smooth muscle of the airways of the lung, adipose tissue and some blood vessels particularly in skeletal muscle.</a:t>
            </a:r>
            <a:endParaRPr lang="ar-IQ" dirty="0"/>
          </a:p>
        </p:txBody>
      </p:sp>
    </p:spTree>
    <p:extLst>
      <p:ext uri="{BB962C8B-B14F-4D97-AF65-F5344CB8AC3E}">
        <p14:creationId xmlns:p14="http://schemas.microsoft.com/office/powerpoint/2010/main" val="2759658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l" rtl="0"/>
            <a:r>
              <a:rPr lang="en-US" dirty="0"/>
              <a:t>The sympathetic system also includes the adrenal medulla. Pre-ganglionic fibres run to the adrenal medulla which is made up of modified post-ganglionic cells, known as </a:t>
            </a:r>
            <a:r>
              <a:rPr lang="en-US" b="1" dirty="0"/>
              <a:t>chromaffin </a:t>
            </a:r>
            <a:r>
              <a:rPr lang="en-US" dirty="0"/>
              <a:t>cells which secrete </a:t>
            </a:r>
            <a:r>
              <a:rPr lang="en-US" b="1" dirty="0"/>
              <a:t>adrenaline</a:t>
            </a:r>
            <a:r>
              <a:rPr lang="en-US" dirty="0"/>
              <a:t> into the blood stream. Circulating adrenaline will also </a:t>
            </a:r>
            <a:r>
              <a:rPr lang="en-US" dirty="0" smtClean="0"/>
              <a:t>act upon </a:t>
            </a:r>
            <a:r>
              <a:rPr lang="en-US" dirty="0"/>
              <a:t>receptors in the tissues, producing a more generalised effect.</a:t>
            </a:r>
            <a:endParaRPr lang="ar-IQ" dirty="0"/>
          </a:p>
        </p:txBody>
      </p:sp>
    </p:spTree>
    <p:extLst>
      <p:ext uri="{BB962C8B-B14F-4D97-AF65-F5344CB8AC3E}">
        <p14:creationId xmlns:p14="http://schemas.microsoft.com/office/powerpoint/2010/main" val="3477649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82296" indent="0" algn="ctr" rtl="0">
              <a:buNone/>
            </a:pPr>
            <a:r>
              <a:rPr lang="en-US" b="1" dirty="0"/>
              <a:t>The ANS and the </a:t>
            </a:r>
            <a:r>
              <a:rPr lang="en-US" b="1" dirty="0" smtClean="0"/>
              <a:t>CVS</a:t>
            </a:r>
          </a:p>
          <a:p>
            <a:pPr marL="82296" indent="0" algn="l" rtl="0">
              <a:buNone/>
            </a:pPr>
            <a:r>
              <a:rPr lang="en-US" dirty="0"/>
              <a:t>The autonomic nervous system </a:t>
            </a:r>
            <a:r>
              <a:rPr lang="en-US" dirty="0" smtClean="0"/>
              <a:t>is intimately </a:t>
            </a:r>
            <a:r>
              <a:rPr lang="en-US" dirty="0"/>
              <a:t>involved in the control of the cardiovascular system via its </a:t>
            </a:r>
            <a:r>
              <a:rPr lang="en-US" dirty="0" smtClean="0"/>
              <a:t>action upon </a:t>
            </a:r>
            <a:r>
              <a:rPr lang="en-US" dirty="0"/>
              <a:t>both blood vessels and the heart.</a:t>
            </a:r>
            <a:endParaRPr lang="ar-IQ" dirty="0"/>
          </a:p>
        </p:txBody>
      </p:sp>
    </p:spTree>
    <p:extLst>
      <p:ext uri="{BB962C8B-B14F-4D97-AF65-F5344CB8AC3E}">
        <p14:creationId xmlns:p14="http://schemas.microsoft.com/office/powerpoint/2010/main" val="2575509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marL="82296" indent="0" algn="ctr" rtl="0">
              <a:buNone/>
            </a:pPr>
            <a:r>
              <a:rPr lang="en-US" b="1" dirty="0"/>
              <a:t>Blood Vessels</a:t>
            </a:r>
          </a:p>
          <a:p>
            <a:pPr algn="l" rtl="0"/>
            <a:endParaRPr lang="en-US" dirty="0" smtClean="0"/>
          </a:p>
          <a:p>
            <a:pPr algn="l" rtl="0"/>
            <a:r>
              <a:rPr lang="en-US" dirty="0" smtClean="0"/>
              <a:t>The </a:t>
            </a:r>
            <a:r>
              <a:rPr lang="en-US" dirty="0"/>
              <a:t>smooth muscle in the walls of arteries, arterioles and veins is innervated by </a:t>
            </a:r>
            <a:r>
              <a:rPr lang="en-US" dirty="0" smtClean="0"/>
              <a:t>the sympathetic </a:t>
            </a:r>
            <a:r>
              <a:rPr lang="en-US" dirty="0"/>
              <a:t>branch of the autonomic nervous system. Except in specialised vessels, sympathetic activity causes constriction of arterioles - vasoconstriction. There is constant activity in the sympathetic nervous system the sympathetic vasomotor tone tending tomake arteriolar smooth muscle contract</a:t>
            </a:r>
            <a:r>
              <a:rPr lang="en-US" dirty="0" smtClean="0"/>
              <a:t>.</a:t>
            </a:r>
          </a:p>
          <a:p>
            <a:pPr marL="82296" indent="0" algn="l" rtl="0">
              <a:buNone/>
            </a:pPr>
            <a:r>
              <a:rPr lang="en-US" dirty="0" smtClean="0"/>
              <a:t> </a:t>
            </a:r>
          </a:p>
          <a:p>
            <a:pPr algn="l" rtl="0"/>
            <a:r>
              <a:rPr lang="en-US" dirty="0" smtClean="0"/>
              <a:t>The </a:t>
            </a:r>
            <a:r>
              <a:rPr lang="en-US" dirty="0"/>
              <a:t>tone varies from organ to organ, as does the magnitude of its effect. In skin, for example, vasomotor tone is high, so arterioles, pre-capillary sphincters and arterio-venous anastomosis are generally shut down. Variation </a:t>
            </a:r>
            <a:r>
              <a:rPr lang="en-US" dirty="0" smtClean="0"/>
              <a:t>in sympathetic </a:t>
            </a:r>
            <a:r>
              <a:rPr lang="en-US" dirty="0"/>
              <a:t>outflow produce large changes in skin blood flow, usually for purposes ofthermoregulation</a:t>
            </a:r>
            <a:endParaRPr lang="ar-IQ" dirty="0"/>
          </a:p>
        </p:txBody>
      </p:sp>
    </p:spTree>
    <p:extLst>
      <p:ext uri="{BB962C8B-B14F-4D97-AF65-F5344CB8AC3E}">
        <p14:creationId xmlns:p14="http://schemas.microsoft.com/office/powerpoint/2010/main" val="1398924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algn="l" rtl="0"/>
            <a:r>
              <a:rPr lang="en-US" dirty="0"/>
              <a:t>In skeletal muscles vasomotor tone is high at rest, but in exercise is antagonised both by</a:t>
            </a:r>
          </a:p>
          <a:p>
            <a:pPr algn="l" rtl="0"/>
            <a:r>
              <a:rPr lang="en-US" dirty="0"/>
              <a:t>local release of vasodilator metabolites and by specialised vasodilator nervous activity.</a:t>
            </a:r>
          </a:p>
          <a:p>
            <a:pPr algn="l" rtl="0"/>
            <a:r>
              <a:rPr lang="en-US" dirty="0"/>
              <a:t>In the gut vasomotor activity is high until a meal is consumed, when it is antagonised by</a:t>
            </a:r>
          </a:p>
          <a:p>
            <a:pPr algn="l" rtl="0"/>
            <a:r>
              <a:rPr lang="en-US" dirty="0"/>
              <a:t>various vasodilator substances produced in gut tissue.</a:t>
            </a:r>
          </a:p>
          <a:p>
            <a:pPr algn="l" rtl="0"/>
            <a:r>
              <a:rPr lang="en-US" dirty="0"/>
              <a:t>The circulation to the brain on the other hand is virtually unaffected by sympathetic activity.</a:t>
            </a:r>
          </a:p>
          <a:p>
            <a:pPr algn="l" rtl="0"/>
            <a:r>
              <a:rPr lang="en-US" dirty="0"/>
              <a:t>The interplay between sympathetic vasoconstrictor tone and the action of vasodilator</a:t>
            </a:r>
          </a:p>
          <a:p>
            <a:pPr algn="l" rtl="0"/>
            <a:r>
              <a:rPr lang="en-US" dirty="0"/>
              <a:t>substances is therefore the principal means by which the distribution of flow around the</a:t>
            </a:r>
          </a:p>
          <a:p>
            <a:pPr algn="l" rtl="0"/>
            <a:r>
              <a:rPr lang="en-US" dirty="0"/>
              <a:t>cardiovascular system is controlled.</a:t>
            </a:r>
          </a:p>
          <a:p>
            <a:pPr algn="l" rtl="0"/>
            <a:r>
              <a:rPr lang="en-US" dirty="0"/>
              <a:t>Sympathetic outflow to blood vessels is controlled from the hindbrain - via the 'vasomotor' centres in the medulla oblongata</a:t>
            </a:r>
            <a:r>
              <a:rPr lang="en-US" dirty="0" smtClean="0"/>
              <a:t>.</a:t>
            </a:r>
            <a:endParaRPr lang="en-US" dirty="0"/>
          </a:p>
        </p:txBody>
      </p:sp>
    </p:spTree>
    <p:extLst>
      <p:ext uri="{BB962C8B-B14F-4D97-AF65-F5344CB8AC3E}">
        <p14:creationId xmlns:p14="http://schemas.microsoft.com/office/powerpoint/2010/main" val="2275701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l" rtl="0"/>
            <a:r>
              <a:rPr lang="en-US" dirty="0"/>
              <a:t>Sympathetic activity also produces veno-constriction which is contraction of smooth muscle in the walls of veins. This tends to increase venous pressure and force more blood back towards the heart.</a:t>
            </a:r>
          </a:p>
          <a:p>
            <a:pPr algn="l" rtl="0"/>
            <a:r>
              <a:rPr lang="en-US" dirty="0"/>
              <a:t>The parasympathetic branch of the ANS acts only on specialised blood vessels, though itsstimulating action on organs such as the gut is associated with the release of mediatorswhich may produce dramatic vasodilatation.</a:t>
            </a:r>
          </a:p>
          <a:p>
            <a:pPr algn="l" rtl="0"/>
            <a:endParaRPr lang="ar-IQ" dirty="0"/>
          </a:p>
        </p:txBody>
      </p:sp>
    </p:spTree>
    <p:extLst>
      <p:ext uri="{BB962C8B-B14F-4D97-AF65-F5344CB8AC3E}">
        <p14:creationId xmlns:p14="http://schemas.microsoft.com/office/powerpoint/2010/main" val="1518229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marL="82296" indent="0" algn="ctr" rtl="0">
              <a:buNone/>
            </a:pPr>
            <a:r>
              <a:rPr lang="en-US" sz="4400" b="1" dirty="0"/>
              <a:t>The </a:t>
            </a:r>
            <a:r>
              <a:rPr lang="en-US" sz="4400" b="1" dirty="0" smtClean="0"/>
              <a:t>heart</a:t>
            </a:r>
          </a:p>
          <a:p>
            <a:pPr marL="82296" indent="0" algn="ctr" rtl="0">
              <a:buNone/>
            </a:pPr>
            <a:endParaRPr lang="en-US" sz="4400" b="1" dirty="0"/>
          </a:p>
          <a:p>
            <a:pPr algn="l" rtl="0"/>
            <a:r>
              <a:rPr lang="en-US" dirty="0"/>
              <a:t>Heart rate is affected by both the parasympathetic and sympathetic branches of the ANS.</a:t>
            </a:r>
          </a:p>
          <a:p>
            <a:pPr algn="l" rtl="0"/>
            <a:r>
              <a:rPr lang="en-US" dirty="0"/>
              <a:t>Parasympathetic activity tends to slow the heart rate. In the absence of any </a:t>
            </a:r>
            <a:r>
              <a:rPr lang="en-US" dirty="0" smtClean="0"/>
              <a:t>autonomic activity </a:t>
            </a:r>
            <a:r>
              <a:rPr lang="en-US" dirty="0"/>
              <a:t>the heart rate is about 100 bpm, so the normal resting heart rate of about 60 </a:t>
            </a:r>
            <a:r>
              <a:rPr lang="en-US" dirty="0" smtClean="0"/>
              <a:t>is produced </a:t>
            </a:r>
            <a:r>
              <a:rPr lang="en-US" dirty="0"/>
              <a:t>by a constant parasympathetic 'tone'. Initially increases in heart rate are brought about by reducing parasympathetic activity.</a:t>
            </a:r>
          </a:p>
          <a:p>
            <a:pPr algn="l" rtl="0"/>
            <a:r>
              <a:rPr lang="en-US" dirty="0"/>
              <a:t>Sympathetic activity increases heart rate. Rises in heart rate beyond 100 bpm are brought about by sympathetic stimulation. Both parasympathetic and sympathetic outflow to the heartis controlled by centres in the medulla oblongata which themselves receive information from sensory receptors detecting blood pressure ('baroreceptors') and higher centres in the CNS.</a:t>
            </a:r>
          </a:p>
          <a:p>
            <a:pPr algn="l" rtl="0"/>
            <a:r>
              <a:rPr lang="en-US" dirty="0"/>
              <a:t>The force of contraction of heart muscle ('contractility' - see next session) is increased by sympathetic activity</a:t>
            </a:r>
            <a:endParaRPr lang="ar-IQ" dirty="0"/>
          </a:p>
        </p:txBody>
      </p:sp>
    </p:spTree>
    <p:extLst>
      <p:ext uri="{BB962C8B-B14F-4D97-AF65-F5344CB8AC3E}">
        <p14:creationId xmlns:p14="http://schemas.microsoft.com/office/powerpoint/2010/main" val="4023356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lgn="l" rtl="0"/>
            <a:r>
              <a:rPr lang="en-US" dirty="0"/>
              <a:t>The action of the parasympathetic system on heart rate is mediated via </a:t>
            </a:r>
            <a:r>
              <a:rPr lang="en-US" dirty="0" smtClean="0"/>
              <a:t>acetylcholine acting </a:t>
            </a:r>
            <a:r>
              <a:rPr lang="en-US" dirty="0"/>
              <a:t>on muscarinic receptors</a:t>
            </a:r>
            <a:r>
              <a:rPr lang="en-US" dirty="0" smtClean="0"/>
              <a:t>.</a:t>
            </a:r>
          </a:p>
          <a:p>
            <a:pPr marL="82296" indent="0" algn="l" rtl="0">
              <a:buNone/>
            </a:pPr>
            <a:endParaRPr lang="en-US" dirty="0"/>
          </a:p>
          <a:p>
            <a:pPr algn="l" rtl="0"/>
            <a:r>
              <a:rPr lang="en-US" dirty="0"/>
              <a:t>The action of the sympathetic system on heart rate and contractility is mediated </a:t>
            </a:r>
            <a:r>
              <a:rPr lang="en-US" dirty="0" smtClean="0"/>
              <a:t>via Noradrenaline </a:t>
            </a:r>
            <a:r>
              <a:rPr lang="en-US" dirty="0"/>
              <a:t>acting on </a:t>
            </a:r>
            <a:r>
              <a:rPr lang="el-GR" dirty="0"/>
              <a:t>β1 </a:t>
            </a:r>
            <a:r>
              <a:rPr lang="en-US" dirty="0"/>
              <a:t>receptors. Adrenaline from the adrenal medulla also acts on the heart. The autonomic nervous system therefore provides the central nervous centresresponsible for controlling the CVS with the means to affect the Total Peripheral Resistanceand distribution of blood flow, and the cardiac output.</a:t>
            </a:r>
            <a:endParaRPr lang="ar-IQ" dirty="0"/>
          </a:p>
        </p:txBody>
      </p:sp>
    </p:spTree>
    <p:extLst>
      <p:ext uri="{BB962C8B-B14F-4D97-AF65-F5344CB8AC3E}">
        <p14:creationId xmlns:p14="http://schemas.microsoft.com/office/powerpoint/2010/main" val="2911847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l" rtl="0"/>
            <a:endParaRPr lang="en-US" dirty="0" smtClean="0"/>
          </a:p>
          <a:p>
            <a:pPr algn="l" rtl="0"/>
            <a:endParaRPr lang="en-US" dirty="0"/>
          </a:p>
          <a:p>
            <a:pPr marL="82296" indent="0" algn="ctr" rtl="0">
              <a:buNone/>
            </a:pPr>
            <a:r>
              <a:rPr lang="en-US" sz="4000" b="1" dirty="0" smtClean="0"/>
              <a:t>Thanks </a:t>
            </a:r>
            <a:endParaRPr lang="ar-IQ" sz="4000" b="1" dirty="0"/>
          </a:p>
        </p:txBody>
      </p:sp>
    </p:spTree>
    <p:extLst>
      <p:ext uri="{BB962C8B-B14F-4D97-AF65-F5344CB8AC3E}">
        <p14:creationId xmlns:p14="http://schemas.microsoft.com/office/powerpoint/2010/main" val="6615821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487</TotalTime>
  <Words>1455</Words>
  <Application>Microsoft Office PowerPoint</Application>
  <PresentationFormat>On-screen Show (4:3)</PresentationFormat>
  <Paragraphs>72</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Solstice</vt:lpstr>
      <vt:lpstr>PowerPoint Presentation</vt:lpstr>
      <vt:lpstr>PowerPoint Presentation</vt:lpstr>
      <vt:lpstr> Learning outcomes: </vt:lpstr>
      <vt:lpstr>PowerPoint Presentation</vt:lpstr>
      <vt:lpstr>PowerPoint Presentation</vt:lpstr>
      <vt:lpstr>PowerPoint Presentation</vt:lpstr>
      <vt:lpstr>PowerPoint Presentation</vt:lpstr>
      <vt:lpstr>PowerPoint Presentation</vt:lpstr>
      <vt:lpstr>PowerPoint Presentation</vt:lpstr>
      <vt:lpstr> Chemical transmitters in the ANS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karenpc</dc:creator>
  <cp:lastModifiedBy>karenpc</cp:lastModifiedBy>
  <cp:revision>49</cp:revision>
  <dcterms:created xsi:type="dcterms:W3CDTF">2006-08-16T00:00:00Z</dcterms:created>
  <dcterms:modified xsi:type="dcterms:W3CDTF">2019-10-02T04:39:48Z</dcterms:modified>
</cp:coreProperties>
</file>