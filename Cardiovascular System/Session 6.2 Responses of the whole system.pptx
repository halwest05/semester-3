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8" d="100"/>
          <a:sy n="68" d="100"/>
        </p:scale>
        <p:origin x="144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a:t>Click to edit Master title style</a:t>
            </a:r>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7" name="Date Placeholder 6"/>
          <p:cNvSpPr>
            <a:spLocks noGrp="1"/>
          </p:cNvSpPr>
          <p:nvPr>
            <p:ph type="dt" sz="half" idx="10"/>
          </p:nvPr>
        </p:nvSpPr>
        <p:spPr/>
        <p:txBody>
          <a:bodyPr/>
          <a:lstStyle/>
          <a:p>
            <a:fld id="{1D8BD707-D9CF-40AE-B4C6-C98DA3205C09}" type="datetimeFigureOut">
              <a:rPr lang="en-US" smtClean="0"/>
              <a:pPr/>
              <a:t>1/29/2021</a:t>
            </a:fld>
            <a:endParaRPr lang="en-US"/>
          </a:p>
        </p:txBody>
      </p:sp>
      <p:sp>
        <p:nvSpPr>
          <p:cNvPr id="20" name="Footer Placeholder 19"/>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B6F15528-21DE-4FAA-801E-634DDDAF4B2B}" type="slidenum">
              <a:rPr lang="en-US" smtClean="0"/>
              <a:pPr/>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1/29/2021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a:t>Click to edit Master title style</a:t>
            </a:r>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kumimoji="0" lang="en-US"/>
              <a:t>Click to edit Master title style</a:t>
            </a:r>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1/29/2021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a:t>Click to edit Master title style</a:t>
            </a:r>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1/29/2021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p>
            <a:r>
              <a:rPr kumimoji="0"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1/29/2021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1D8BD707-D9CF-40AE-B4C6-C98DA3205C09}" type="datetimeFigureOut">
              <a:rPr lang="en-US" smtClean="0"/>
              <a:pPr/>
              <a:t>1/29/2021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a:t>Click to edit Master title style</a:t>
            </a:r>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1/29/2021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a:t>Click to edit Master title style</a:t>
            </a:r>
          </a:p>
        </p:txBody>
      </p:sp>
      <p:sp>
        <p:nvSpPr>
          <p:cNvPr id="5" name="Date Placeholder 4"/>
          <p:cNvSpPr>
            <a:spLocks noGrp="1"/>
          </p:cNvSpPr>
          <p:nvPr>
            <p:ph type="dt" sz="half" idx="10"/>
          </p:nvPr>
        </p:nvSpPr>
        <p:spPr/>
        <p:txBody>
          <a:bodyPr/>
          <a:lstStyle/>
          <a:p>
            <a:fld id="{1D8BD707-D9CF-40AE-B4C6-C98DA3205C09}" type="datetimeFigureOut">
              <a:rPr lang="en-US" smtClean="0"/>
              <a:pPr/>
              <a:t>1/29/2021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1/29/2021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1430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1/29/2021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p>
            <a:r>
              <a:rPr kumimoji="0" lang="en-US"/>
              <a:t>Click to edit Master title style</a:t>
            </a:r>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1D8BD707-D9CF-40AE-B4C6-C98DA3205C09}" type="datetimeFigureOut">
              <a:rPr lang="en-US" smtClean="0"/>
              <a:pPr/>
              <a:t>1/29/2021</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B6F15528-21DE-4FAA-801E-634DDDAF4B2B}" type="slidenum">
              <a:rPr lang="en-US" smtClean="0"/>
              <a:pPr/>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1"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r" rtl="1"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r" rtl="1"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r" rtl="1"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r" rtl="1"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r" rtl="1"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r" rtl="1"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r" rtl="1"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r" rtl="1"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r" rtl="1"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r" rtl="1" eaLnBrk="1" latinLnBrk="0" hangingPunct="1">
        <a:defRPr kumimoji="0" kern="1200">
          <a:solidFill>
            <a:schemeClr val="tx1"/>
          </a:solidFill>
          <a:latin typeface="+mn-lt"/>
          <a:ea typeface="+mn-ea"/>
          <a:cs typeface="+mn-cs"/>
        </a:defRPr>
      </a:lvl1pPr>
      <a:lvl2pPr marL="457200" algn="r" rtl="1" eaLnBrk="1" latinLnBrk="0" hangingPunct="1">
        <a:defRPr kumimoji="0" kern="1200">
          <a:solidFill>
            <a:schemeClr val="tx1"/>
          </a:solidFill>
          <a:latin typeface="+mn-lt"/>
          <a:ea typeface="+mn-ea"/>
          <a:cs typeface="+mn-cs"/>
        </a:defRPr>
      </a:lvl2pPr>
      <a:lvl3pPr marL="914400" algn="r" rtl="1" eaLnBrk="1" latinLnBrk="0" hangingPunct="1">
        <a:defRPr kumimoji="0" kern="1200">
          <a:solidFill>
            <a:schemeClr val="tx1"/>
          </a:solidFill>
          <a:latin typeface="+mn-lt"/>
          <a:ea typeface="+mn-ea"/>
          <a:cs typeface="+mn-cs"/>
        </a:defRPr>
      </a:lvl3pPr>
      <a:lvl4pPr marL="1371600" algn="r" rtl="1" eaLnBrk="1" latinLnBrk="0" hangingPunct="1">
        <a:defRPr kumimoji="0" kern="1200">
          <a:solidFill>
            <a:schemeClr val="tx1"/>
          </a:solidFill>
          <a:latin typeface="+mn-lt"/>
          <a:ea typeface="+mn-ea"/>
          <a:cs typeface="+mn-cs"/>
        </a:defRPr>
      </a:lvl4pPr>
      <a:lvl5pPr marL="1828800" algn="r" rtl="1" eaLnBrk="1" latinLnBrk="0" hangingPunct="1">
        <a:defRPr kumimoji="0" kern="1200">
          <a:solidFill>
            <a:schemeClr val="tx1"/>
          </a:solidFill>
          <a:latin typeface="+mn-lt"/>
          <a:ea typeface="+mn-ea"/>
          <a:cs typeface="+mn-cs"/>
        </a:defRPr>
      </a:lvl5pPr>
      <a:lvl6pPr marL="2286000" algn="r" rtl="1" eaLnBrk="1" latinLnBrk="0" hangingPunct="1">
        <a:defRPr kumimoji="0" kern="1200">
          <a:solidFill>
            <a:schemeClr val="tx1"/>
          </a:solidFill>
          <a:latin typeface="+mn-lt"/>
          <a:ea typeface="+mn-ea"/>
          <a:cs typeface="+mn-cs"/>
        </a:defRPr>
      </a:lvl6pPr>
      <a:lvl7pPr marL="2743200" algn="r" rtl="1" eaLnBrk="1" latinLnBrk="0" hangingPunct="1">
        <a:defRPr kumimoji="0" kern="1200">
          <a:solidFill>
            <a:schemeClr val="tx1"/>
          </a:solidFill>
          <a:latin typeface="+mn-lt"/>
          <a:ea typeface="+mn-ea"/>
          <a:cs typeface="+mn-cs"/>
        </a:defRPr>
      </a:lvl7pPr>
      <a:lvl8pPr marL="3200400" algn="r" rtl="1" eaLnBrk="1" latinLnBrk="0" hangingPunct="1">
        <a:defRPr kumimoji="0" kern="1200">
          <a:solidFill>
            <a:schemeClr val="tx1"/>
          </a:solidFill>
          <a:latin typeface="+mn-lt"/>
          <a:ea typeface="+mn-ea"/>
          <a:cs typeface="+mn-cs"/>
        </a:defRPr>
      </a:lvl8pPr>
      <a:lvl9pPr marL="3657600" algn="r" rtl="1"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371600" y="2057400"/>
            <a:ext cx="6324600" cy="2743200"/>
          </a:xfrm>
        </p:spPr>
        <p:txBody>
          <a:bodyPr/>
          <a:lstStyle/>
          <a:p>
            <a:r>
              <a:rPr lang="en-US" b="1" dirty="0">
                <a:solidFill>
                  <a:schemeClr val="tx1"/>
                </a:solidFill>
              </a:rPr>
              <a:t>Cardiovascular system</a:t>
            </a:r>
          </a:p>
          <a:p>
            <a:r>
              <a:rPr lang="en-US" b="1" dirty="0">
                <a:solidFill>
                  <a:schemeClr val="tx1"/>
                </a:solidFill>
              </a:rPr>
              <a:t>Session-6</a:t>
            </a:r>
          </a:p>
          <a:p>
            <a:r>
              <a:rPr lang="en-US" b="1" dirty="0">
                <a:solidFill>
                  <a:schemeClr val="tx1"/>
                </a:solidFill>
              </a:rPr>
              <a:t>Responses of the whole system</a:t>
            </a:r>
            <a:endParaRPr lang="ar-IQ" b="1" dirty="0">
              <a:solidFill>
                <a:schemeClr val="tx1"/>
              </a:solidFill>
            </a:endParaRPr>
          </a:p>
        </p:txBody>
      </p:sp>
    </p:spTree>
    <p:extLst>
      <p:ext uri="{BB962C8B-B14F-4D97-AF65-F5344CB8AC3E}">
        <p14:creationId xmlns:p14="http://schemas.microsoft.com/office/powerpoint/2010/main" val="12805238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0000" lnSpcReduction="20000"/>
          </a:bodyPr>
          <a:lstStyle/>
          <a:p>
            <a:pPr marL="0" indent="0" algn="l" rtl="0">
              <a:buNone/>
            </a:pPr>
            <a:r>
              <a:rPr lang="en-US" b="1" dirty="0"/>
              <a:t>We can now state a set of qualitative rules which will allow prediction of how the cardiovascular system will change in the short term under different circumstances.</a:t>
            </a:r>
          </a:p>
          <a:p>
            <a:pPr algn="l" rtl="0"/>
            <a:r>
              <a:rPr lang="en-US" dirty="0"/>
              <a:t>1. Total Peripheral Resistance is inversely related to the total metabolic need for blood flow. More metabolic activity leads to lower TPR.</a:t>
            </a:r>
          </a:p>
          <a:p>
            <a:pPr algn="l" rtl="0"/>
            <a:r>
              <a:rPr lang="en-US" dirty="0"/>
              <a:t>2. If cardiac output is unchanged, changes in Total Peripheral Resistance affect arterial and venous pressure.</a:t>
            </a:r>
          </a:p>
          <a:p>
            <a:pPr algn="l" rtl="0"/>
            <a:r>
              <a:rPr lang="en-US" dirty="0"/>
              <a:t>(i) Falls in TPR increase venous pressure</a:t>
            </a:r>
          </a:p>
          <a:p>
            <a:pPr algn="l" rtl="0"/>
            <a:r>
              <a:rPr lang="en-US" dirty="0"/>
              <a:t>(ii) Falls in TPR reduce arterial pressure</a:t>
            </a:r>
          </a:p>
          <a:p>
            <a:pPr algn="l" rtl="0"/>
            <a:r>
              <a:rPr lang="en-US" dirty="0"/>
              <a:t>3. Changes in arterial and venous pressure affect the heart.</a:t>
            </a:r>
          </a:p>
          <a:p>
            <a:pPr algn="l" rtl="0"/>
            <a:r>
              <a:rPr lang="en-US" dirty="0"/>
              <a:t>(i) If venous pressure increases cardiac output will rise</a:t>
            </a:r>
          </a:p>
          <a:p>
            <a:pPr algn="l" rtl="0"/>
            <a:r>
              <a:rPr lang="en-US" dirty="0"/>
              <a:t>(ii) If arterial pressure falls cardiac output will rise</a:t>
            </a:r>
          </a:p>
          <a:p>
            <a:pPr algn="l" rtl="0"/>
            <a:endParaRPr lang="ar-IQ" dirty="0"/>
          </a:p>
        </p:txBody>
      </p:sp>
    </p:spTree>
    <p:extLst>
      <p:ext uri="{BB962C8B-B14F-4D97-AF65-F5344CB8AC3E}">
        <p14:creationId xmlns:p14="http://schemas.microsoft.com/office/powerpoint/2010/main" val="3453398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62500" lnSpcReduction="20000"/>
          </a:bodyPr>
          <a:lstStyle/>
          <a:p>
            <a:pPr algn="l" rtl="0"/>
            <a:r>
              <a:rPr lang="en-US" dirty="0"/>
              <a:t>4. At a constant TPR changes in cardiac output alter arterial and venous pressure.</a:t>
            </a:r>
          </a:p>
          <a:p>
            <a:pPr algn="l" rtl="0"/>
            <a:r>
              <a:rPr lang="en-US" dirty="0"/>
              <a:t>(i) Increases in cardiac output decrease venous pressure</a:t>
            </a:r>
          </a:p>
          <a:p>
            <a:pPr algn="l" rtl="0"/>
            <a:r>
              <a:rPr lang="en-US" dirty="0"/>
              <a:t>(ii) Increases in cardiac output increase arterial pressure</a:t>
            </a:r>
          </a:p>
          <a:p>
            <a:pPr algn="l" rtl="0"/>
            <a:r>
              <a:rPr lang="en-US" dirty="0"/>
              <a:t>5. Arterial pressure changes reflexly affect TPR and venous capacitance.</a:t>
            </a:r>
          </a:p>
          <a:p>
            <a:pPr algn="l" rtl="0"/>
            <a:r>
              <a:rPr lang="en-US" dirty="0"/>
              <a:t>(i) If arterial pressure falls the resistance to blood flow through certain vascular beds such as the skin and gut will normally rise.</a:t>
            </a:r>
          </a:p>
          <a:p>
            <a:pPr algn="l" rtl="0"/>
            <a:r>
              <a:rPr lang="en-US" dirty="0"/>
              <a:t>(ii) If arterial pressure falls venous capacitance will be reduced by veno-constriction.</a:t>
            </a:r>
          </a:p>
          <a:p>
            <a:pPr algn="l" rtl="0"/>
            <a:r>
              <a:rPr lang="en-US" dirty="0"/>
              <a:t>Rules 3 and 4 are the key. They are reciprocal in effect. The consequence of the heart responding to changes in arterial and venous pressure is to correct those changes. In other words at any given Total Peripheral Resistance there is only one cardiac output that the system will sustain - that which matches the tissues' demands for blood flow.</a:t>
            </a:r>
            <a:endParaRPr lang="ar-IQ" dirty="0"/>
          </a:p>
        </p:txBody>
      </p:sp>
    </p:spTree>
    <p:extLst>
      <p:ext uri="{BB962C8B-B14F-4D97-AF65-F5344CB8AC3E}">
        <p14:creationId xmlns:p14="http://schemas.microsoft.com/office/powerpoint/2010/main" val="42273406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55000" lnSpcReduction="20000"/>
          </a:bodyPr>
          <a:lstStyle/>
          <a:p>
            <a:pPr algn="l" rtl="0"/>
            <a:r>
              <a:rPr lang="en-US" dirty="0"/>
              <a:t>Examples</a:t>
            </a:r>
          </a:p>
          <a:p>
            <a:pPr algn="l" rtl="0"/>
            <a:r>
              <a:rPr lang="en-US" dirty="0"/>
              <a:t>1. Consider an individual with an artificial pacemaker driving an otherwise normal heart. Whilst lying at rest his heart rate is suddenly increased from 70 to 120 bpm with no other changes in the circulation initially. What will happen?</a:t>
            </a:r>
          </a:p>
          <a:p>
            <a:pPr algn="l" rtl="0"/>
            <a:r>
              <a:rPr lang="en-US" dirty="0"/>
              <a:t>PriMariam change: Heart Rate (HR) increased</a:t>
            </a:r>
          </a:p>
          <a:p>
            <a:pPr algn="l" rtl="0"/>
            <a:r>
              <a:rPr lang="en-US" dirty="0"/>
              <a:t>Consequences: Initially, cardiac output tends to rise, but rises in cardiac output (CO)</a:t>
            </a:r>
          </a:p>
          <a:p>
            <a:pPr algn="l" rtl="0"/>
            <a:r>
              <a:rPr lang="en-US" dirty="0"/>
              <a:t>lead to falls in venous pressure (rule 4). Falls in venous pressure</a:t>
            </a:r>
          </a:p>
          <a:p>
            <a:pPr algn="l" rtl="0"/>
            <a:r>
              <a:rPr lang="en-US" dirty="0"/>
              <a:t>will tend to reduce diastolic filling of the ventricles which, by rule 4, will reduce stroke volume.</a:t>
            </a:r>
          </a:p>
          <a:p>
            <a:pPr algn="l" rtl="0"/>
            <a:r>
              <a:rPr lang="en-US" dirty="0"/>
              <a:t>So as the heart rate rises, stroke volume will tend to fall, keeping cardiac output the same.</a:t>
            </a:r>
          </a:p>
          <a:p>
            <a:pPr algn="l" rtl="0"/>
            <a:r>
              <a:rPr lang="en-US" dirty="0"/>
              <a:t>Cardiac output cannot normally be changed by action at the heart alone.</a:t>
            </a:r>
          </a:p>
          <a:p>
            <a:pPr algn="l" rtl="0"/>
            <a:r>
              <a:rPr lang="en-US" dirty="0"/>
              <a:t>What will happen in this situation if venous pressure is very high at the outset (on the top partof the 'Starling curve')?</a:t>
            </a:r>
            <a:endParaRPr lang="ar-IQ" dirty="0"/>
          </a:p>
        </p:txBody>
      </p:sp>
    </p:spTree>
    <p:extLst>
      <p:ext uri="{BB962C8B-B14F-4D97-AF65-F5344CB8AC3E}">
        <p14:creationId xmlns:p14="http://schemas.microsoft.com/office/powerpoint/2010/main" val="8947987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ar-IQ" dirty="0"/>
          </a:p>
        </p:txBody>
      </p:sp>
    </p:spTree>
    <p:extLst>
      <p:ext uri="{BB962C8B-B14F-4D97-AF65-F5344CB8AC3E}">
        <p14:creationId xmlns:p14="http://schemas.microsoft.com/office/powerpoint/2010/main" val="18938103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ar-IQ" dirty="0"/>
          </a:p>
        </p:txBody>
      </p:sp>
    </p:spTree>
    <p:extLst>
      <p:ext uri="{BB962C8B-B14F-4D97-AF65-F5344CB8AC3E}">
        <p14:creationId xmlns:p14="http://schemas.microsoft.com/office/powerpoint/2010/main" val="21536252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ar-IQ" dirty="0"/>
          </a:p>
        </p:txBody>
      </p:sp>
    </p:spTree>
    <p:extLst>
      <p:ext uri="{BB962C8B-B14F-4D97-AF65-F5344CB8AC3E}">
        <p14:creationId xmlns:p14="http://schemas.microsoft.com/office/powerpoint/2010/main" val="3360418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ar-IQ" dirty="0"/>
          </a:p>
        </p:txBody>
      </p:sp>
    </p:spTree>
    <p:extLst>
      <p:ext uri="{BB962C8B-B14F-4D97-AF65-F5344CB8AC3E}">
        <p14:creationId xmlns:p14="http://schemas.microsoft.com/office/powerpoint/2010/main" val="291959261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Elemental">
      <a:dk1>
        <a:sysClr val="windowText" lastClr="000000"/>
      </a:dk1>
      <a:lt1>
        <a:sysClr val="window" lastClr="FFFFFF"/>
      </a:lt1>
      <a:dk2>
        <a:srgbClr val="242852"/>
      </a:dk2>
      <a:lt2>
        <a:srgbClr val="ACCBF9"/>
      </a:lt2>
      <a:accent1>
        <a:srgbClr val="629DD1"/>
      </a:accent1>
      <a:accent2>
        <a:srgbClr val="297FD5"/>
      </a:accent2>
      <a:accent3>
        <a:srgbClr val="7F8FA9"/>
      </a:accent3>
      <a:accent4>
        <a:srgbClr val="4A66AC"/>
      </a:accent4>
      <a:accent5>
        <a:srgbClr val="5AA2AE"/>
      </a:accent5>
      <a:accent6>
        <a:srgbClr val="9D90A0"/>
      </a:accent6>
      <a:hlink>
        <a:srgbClr val="9454C3"/>
      </a:hlink>
      <a:folHlink>
        <a:srgbClr val="3EBBF0"/>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308</TotalTime>
  <Words>448</Words>
  <Application>Microsoft Office PowerPoint</Application>
  <PresentationFormat>On-screen Show (4:3)</PresentationFormat>
  <Paragraphs>27</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Gill Sans MT</vt:lpstr>
      <vt:lpstr>Verdana</vt:lpstr>
      <vt:lpstr>Wingdings 2</vt:lpstr>
      <vt:lpstr>Solstice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karenpc</dc:creator>
  <cp:lastModifiedBy>karenpc</cp:lastModifiedBy>
  <cp:revision>11</cp:revision>
  <dcterms:created xsi:type="dcterms:W3CDTF">2006-08-16T00:00:00Z</dcterms:created>
  <dcterms:modified xsi:type="dcterms:W3CDTF">2021-01-29T09:59:22Z</dcterms:modified>
</cp:coreProperties>
</file>