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33600"/>
            <a:ext cx="6400800" cy="3505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Cardiovascular System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Session 5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Pressures and flow in the systemic circulation</a:t>
            </a:r>
            <a:endParaRPr lang="ar-IQ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437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 smtClean="0"/>
              <a:t>Learning outcome </a:t>
            </a:r>
            <a:r>
              <a:rPr lang="en-US" sz="9600" dirty="0" smtClean="0"/>
              <a:t>:</a:t>
            </a:r>
          </a:p>
          <a:p>
            <a:pPr marL="0" indent="0">
              <a:buNone/>
            </a:pPr>
            <a:r>
              <a:rPr lang="en-US" sz="6400" dirty="0" smtClean="0"/>
              <a:t>By </a:t>
            </a:r>
            <a:r>
              <a:rPr lang="en-US" sz="6400" dirty="0"/>
              <a:t>the end of this lecture and with appropriate self study you should be able to</a:t>
            </a:r>
            <a:r>
              <a:rPr lang="en-US" sz="6400" dirty="0" smtClean="0"/>
              <a:t>:</a:t>
            </a:r>
          </a:p>
          <a:p>
            <a:pPr marL="0" indent="0">
              <a:buNone/>
            </a:pPr>
            <a:endParaRPr lang="en-US" sz="6400" dirty="0"/>
          </a:p>
          <a:p>
            <a:r>
              <a:rPr lang="en-US" sz="6400" dirty="0"/>
              <a:t>D</a:t>
            </a:r>
            <a:r>
              <a:rPr lang="en-US" sz="6400" dirty="0" smtClean="0"/>
              <a:t>efine </a:t>
            </a:r>
            <a:r>
              <a:rPr lang="en-US" sz="6400" dirty="0"/>
              <a:t>the terms 'Systolic' and 'Diastolic' arterial pressure and 'Pulse Pressure' define the term 'Total Peripheral Resistance'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escribe </a:t>
            </a:r>
            <a:r>
              <a:rPr lang="en-US" sz="6400" dirty="0"/>
              <a:t>how the elastic nature of arteries acts to reduce arterial pressure </a:t>
            </a:r>
            <a:r>
              <a:rPr lang="en-US" sz="6400" dirty="0" smtClean="0"/>
              <a:t>fluctuation between </a:t>
            </a:r>
            <a:r>
              <a:rPr lang="en-US" sz="6400" dirty="0"/>
              <a:t>systole and diastole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raw </a:t>
            </a:r>
            <a:r>
              <a:rPr lang="en-US" sz="6400" dirty="0"/>
              <a:t>the typical arterial pressure wave form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escribe </a:t>
            </a:r>
            <a:r>
              <a:rPr lang="en-US" sz="6400" dirty="0"/>
              <a:t>the pulse wave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escribe </a:t>
            </a:r>
            <a:r>
              <a:rPr lang="en-US" sz="6400" dirty="0"/>
              <a:t>the role of arterioles as resistance vessels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efine </a:t>
            </a:r>
            <a:r>
              <a:rPr lang="en-US" sz="6400" dirty="0"/>
              <a:t>the terms vasoconstriction and vasodilatation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escribe </a:t>
            </a:r>
            <a:r>
              <a:rPr lang="en-US" sz="6400" dirty="0"/>
              <a:t>what is meant by 'vasomotor tone' and list the main factors which affect it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escribe </a:t>
            </a:r>
            <a:r>
              <a:rPr lang="en-US" sz="6400" dirty="0"/>
              <a:t>how 'vasodilator metabolites' modify vasomotor activity to permit local control of blood flow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escribe </a:t>
            </a:r>
            <a:r>
              <a:rPr lang="en-US" sz="6400" dirty="0"/>
              <a:t>reactive hyperaemia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escribe </a:t>
            </a:r>
            <a:r>
              <a:rPr lang="en-US" sz="6400" dirty="0"/>
              <a:t>autoregulation</a:t>
            </a:r>
          </a:p>
          <a:p>
            <a:r>
              <a:rPr lang="en-US" sz="6400" dirty="0"/>
              <a:t>D</a:t>
            </a:r>
            <a:r>
              <a:rPr lang="en-US" sz="6400" dirty="0" smtClean="0"/>
              <a:t>efine </a:t>
            </a:r>
            <a:r>
              <a:rPr lang="en-US" sz="6400" dirty="0"/>
              <a:t>the terms 'central venous pressure' and 'venous return'</a:t>
            </a:r>
            <a:endParaRPr lang="ar-IQ" sz="6400" dirty="0"/>
          </a:p>
        </p:txBody>
      </p:sp>
    </p:spTree>
    <p:extLst>
      <p:ext uri="{BB962C8B-B14F-4D97-AF65-F5344CB8AC3E}">
        <p14:creationId xmlns:p14="http://schemas.microsoft.com/office/powerpoint/2010/main" val="2614802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pumping action of the left heart drives blood around the systemic circulation.</a:t>
            </a:r>
          </a:p>
          <a:p>
            <a:r>
              <a:rPr lang="en-US" dirty="0"/>
              <a:t>The arteries serve as a high pressure distribution system. The pressure drop along </a:t>
            </a:r>
            <a:r>
              <a:rPr lang="en-US" dirty="0" smtClean="0"/>
              <a:t>the arteries as </a:t>
            </a:r>
            <a:r>
              <a:rPr lang="en-US" dirty="0"/>
              <a:t>low, as they have low resistance, but the blood leaves the arteries via the </a:t>
            </a:r>
            <a:r>
              <a:rPr lang="en-US" dirty="0" smtClean="0"/>
              <a:t>arterioles which </a:t>
            </a:r>
            <a:r>
              <a:rPr lang="en-US" dirty="0"/>
              <a:t>have a high resistance. A high pressure is therefore developed in the arteries to </a:t>
            </a:r>
            <a:r>
              <a:rPr lang="en-US" dirty="0" smtClean="0"/>
              <a:t>drive the </a:t>
            </a:r>
            <a:r>
              <a:rPr lang="en-US" dirty="0"/>
              <a:t>cardiac output </a:t>
            </a:r>
            <a:r>
              <a:rPr lang="en-US" dirty="0" smtClean="0"/>
              <a:t> </a:t>
            </a:r>
            <a:r>
              <a:rPr lang="en-US" dirty="0"/>
              <a:t>through the Total Peripheral Resistance - the collective resistance of the arterioles.</a:t>
            </a:r>
          </a:p>
          <a:p>
            <a:r>
              <a:rPr lang="en-US" dirty="0"/>
              <a:t>The ventricle ejects blood intermittently. If the arteries were rigid, flow out through </a:t>
            </a:r>
            <a:r>
              <a:rPr lang="en-US" dirty="0" smtClean="0"/>
              <a:t>the arterioles </a:t>
            </a:r>
            <a:r>
              <a:rPr lang="en-US" dirty="0"/>
              <a:t>would occur only in systole, so pressure would have to rise very high, then fall to zero in diastole. This does not happen because the walls of arteries stretch in </a:t>
            </a:r>
            <a:r>
              <a:rPr lang="en-US" dirty="0" smtClean="0"/>
              <a:t>systole, allowing </a:t>
            </a:r>
            <a:r>
              <a:rPr lang="en-US" dirty="0"/>
              <a:t>more blood to flow into the arteries than out, and limiting the pressure rise. The 'stored' blood then flows out through the arterioles during diastole as the pressure </a:t>
            </a:r>
            <a:r>
              <a:rPr lang="en-US" dirty="0" smtClean="0"/>
              <a:t>is maintained </a:t>
            </a:r>
            <a:r>
              <a:rPr lang="en-US" dirty="0"/>
              <a:t>by 'recoil' of the stretched arterial wall.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124694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peak pressure achieved in systole is the Systolic Pressure.</a:t>
            </a:r>
          </a:p>
          <a:p>
            <a:r>
              <a:rPr lang="en-US" dirty="0"/>
              <a:t>The minimum pressure reached in diastole is the Diastolic Pressure.</a:t>
            </a:r>
          </a:p>
          <a:p>
            <a:r>
              <a:rPr lang="en-US" dirty="0"/>
              <a:t>The difference between the two is the Pulse Pressure.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What </a:t>
            </a:r>
            <a:r>
              <a:rPr lang="en-US" b="1" dirty="0"/>
              <a:t>are typical values for:</a:t>
            </a:r>
          </a:p>
          <a:p>
            <a:r>
              <a:rPr lang="en-US" dirty="0"/>
              <a:t>Systolic Pressure</a:t>
            </a:r>
          </a:p>
          <a:p>
            <a:r>
              <a:rPr lang="en-US" dirty="0"/>
              <a:t>Diastolic </a:t>
            </a:r>
            <a:r>
              <a:rPr lang="en-US" dirty="0" smtClean="0"/>
              <a:t>Pressure</a:t>
            </a:r>
          </a:p>
          <a:p>
            <a:r>
              <a:rPr lang="en-US" dirty="0"/>
              <a:t>Pulse Pressure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418286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a typical pressure wave form in the arteries over two cardiac cycles</a:t>
            </a:r>
            <a:r>
              <a:rPr lang="en-US" dirty="0" smtClean="0"/>
              <a:t>:</a:t>
            </a:r>
          </a:p>
          <a:p>
            <a:r>
              <a:rPr lang="en-US" dirty="0"/>
              <a:t>What factors affect how far pressure rises in systole?</a:t>
            </a:r>
          </a:p>
          <a:p>
            <a:r>
              <a:rPr lang="en-US" dirty="0"/>
              <a:t>What factors affect how far pressure falls in diastole?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239851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contraction of the ventricle also generates a </a:t>
            </a:r>
            <a:r>
              <a:rPr lang="en-US" b="1" dirty="0"/>
              <a:t>'pulse wave</a:t>
            </a:r>
            <a:r>
              <a:rPr lang="en-US" dirty="0"/>
              <a:t>' which propagates along </a:t>
            </a:r>
            <a:r>
              <a:rPr lang="en-US" dirty="0" smtClean="0"/>
              <a:t>the arteries </a:t>
            </a:r>
            <a:r>
              <a:rPr lang="en-US" dirty="0"/>
              <a:t>faster than blood. This is felt at a variety of locations where arteries comes close to the surface and can be pushed against a reasonably hard surface.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Resistance vessels:</a:t>
            </a:r>
            <a:endParaRPr lang="en-US" b="1" dirty="0"/>
          </a:p>
          <a:p>
            <a:r>
              <a:rPr lang="en-US" b="1" dirty="0"/>
              <a:t>Arterioles</a:t>
            </a:r>
            <a:r>
              <a:rPr lang="en-US" dirty="0"/>
              <a:t> control blood flow to tissues by variable flow restriction. Their walls contain much smooth muscle whose state of contraction determines lumen diameter and therefore flow resistance.</a:t>
            </a:r>
          </a:p>
          <a:p>
            <a:r>
              <a:rPr lang="en-US" dirty="0"/>
              <a:t>Decreases in flow are produced by reducing arterial diameter –</a:t>
            </a:r>
            <a:r>
              <a:rPr lang="en-US" b="1" dirty="0"/>
              <a:t>VASOCONSTRICTION.</a:t>
            </a:r>
          </a:p>
          <a:p>
            <a:r>
              <a:rPr lang="en-US" dirty="0"/>
              <a:t>Increases in flow are produced by allowing arterial diameter to increase </a:t>
            </a:r>
            <a:r>
              <a:rPr lang="en-US" dirty="0" smtClean="0"/>
              <a:t>- </a:t>
            </a:r>
            <a:r>
              <a:rPr lang="en-US" b="1" dirty="0" smtClean="0"/>
              <a:t>VASODILATATION</a:t>
            </a:r>
            <a:r>
              <a:rPr lang="en-US" dirty="0"/>
              <a:t>.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860611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Muscles do not actively relax, so that it follows that, except under maximum flow conditions,there must always be </a:t>
            </a:r>
            <a:r>
              <a:rPr lang="en-US" dirty="0" smtClean="0"/>
              <a:t>some vasoconstriction</a:t>
            </a:r>
            <a:r>
              <a:rPr lang="en-US" dirty="0"/>
              <a:t>. Vasodilatation is therefore reduced vaso-constriction. This continuous contraction of the muscle is known as </a:t>
            </a:r>
            <a:r>
              <a:rPr lang="en-US" b="1" dirty="0"/>
              <a:t>vasomotor tone</a:t>
            </a:r>
            <a:r>
              <a:rPr lang="en-US" dirty="0"/>
              <a:t>. Tone is due to a number of factors. One of the main influences is </a:t>
            </a:r>
            <a:r>
              <a:rPr lang="en-US" dirty="0" smtClean="0"/>
              <a:t>the sympathetic </a:t>
            </a:r>
            <a:r>
              <a:rPr lang="en-US" dirty="0"/>
              <a:t>branch of the autonomic nervous system.</a:t>
            </a:r>
          </a:p>
          <a:p>
            <a:r>
              <a:rPr lang="en-US" b="1" dirty="0"/>
              <a:t>'Sympathetic vasoconstrictor tone</a:t>
            </a:r>
            <a:r>
              <a:rPr lang="en-US" dirty="0"/>
              <a:t>' is modulated by substances produced in the </a:t>
            </a:r>
            <a:r>
              <a:rPr lang="en-US" dirty="0" smtClean="0"/>
              <a:t>tissues supplied </a:t>
            </a:r>
            <a:r>
              <a:rPr lang="en-US" dirty="0"/>
              <a:t>by individual arterioles. This can be seen if blood flow to an organ is temporarily prevented. Local arterioles dilate maximally after a minute or two, so when perfusion is restored blood flood is very high. This </a:t>
            </a:r>
            <a:r>
              <a:rPr lang="en-US" b="1" dirty="0"/>
              <a:t>'Reactive Hyperaemia</a:t>
            </a:r>
            <a:r>
              <a:rPr lang="en-US" dirty="0"/>
              <a:t>' is due to </a:t>
            </a:r>
            <a:r>
              <a:rPr lang="en-US" dirty="0" smtClean="0"/>
              <a:t>metabolites accumulating </a:t>
            </a:r>
            <a:r>
              <a:rPr lang="en-US" dirty="0"/>
              <a:t>during the period when metabolism continues but no blood is flowing to remove them. These metabolites are called </a:t>
            </a:r>
            <a:r>
              <a:rPr lang="en-US" b="1" dirty="0"/>
              <a:t>'vasodilator metabolites</a:t>
            </a:r>
            <a:r>
              <a:rPr lang="en-US" dirty="0"/>
              <a:t>'.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67157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What substances can act as vasodilator metabolites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dirty="0"/>
              <a:t>If the metabolites of a tissue change with no initial change in blood flow, then </a:t>
            </a:r>
            <a:r>
              <a:rPr lang="en-US" dirty="0" smtClean="0"/>
              <a:t>more metabolites </a:t>
            </a:r>
            <a:r>
              <a:rPr lang="en-US" dirty="0"/>
              <a:t>are produced, which are not carried away by the blood. These accumulate, dilate the arterioles and, provided supply pressure remains constant, lead to increased blood </a:t>
            </a:r>
            <a:r>
              <a:rPr lang="en-US" dirty="0" smtClean="0"/>
              <a:t>flow. </a:t>
            </a:r>
          </a:p>
          <a:p>
            <a:pPr marL="0" indent="0">
              <a:buNone/>
            </a:pPr>
            <a:r>
              <a:rPr lang="en-US" dirty="0" smtClean="0"/>
              <a:t>Therefore</a:t>
            </a:r>
            <a:r>
              <a:rPr lang="en-US" dirty="0"/>
              <a:t>:</a:t>
            </a:r>
          </a:p>
          <a:p>
            <a:r>
              <a:rPr lang="en-US" dirty="0"/>
              <a:t>At most levels of metabolic activity most organs can automatically take the blood flow they need so long as the pressure in the arteries supplying </a:t>
            </a:r>
            <a:r>
              <a:rPr lang="en-US" dirty="0" smtClean="0"/>
              <a:t> them </a:t>
            </a:r>
            <a:r>
              <a:rPr lang="en-US" dirty="0"/>
              <a:t>is kept within a certain range.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128372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Veins :</a:t>
            </a:r>
            <a:endParaRPr lang="en-US" b="1" dirty="0"/>
          </a:p>
          <a:p>
            <a:r>
              <a:rPr lang="en-US" dirty="0"/>
              <a:t>The veins are low resistance, high capacitance vessels. The pressure in veins is </a:t>
            </a:r>
            <a:r>
              <a:rPr lang="en-US" dirty="0" smtClean="0"/>
              <a:t>much affected </a:t>
            </a:r>
            <a:r>
              <a:rPr lang="en-US" dirty="0"/>
              <a:t>by the volume of blood they contain. They contain most of the blood in </a:t>
            </a:r>
            <a:r>
              <a:rPr lang="en-US" dirty="0" smtClean="0"/>
              <a:t>the circulation</a:t>
            </a:r>
            <a:r>
              <a:rPr lang="en-US" dirty="0"/>
              <a:t>. </a:t>
            </a:r>
            <a:r>
              <a:rPr lang="en-US" b="1" dirty="0"/>
              <a:t>Central venous pressure </a:t>
            </a:r>
            <a:r>
              <a:rPr lang="en-US" dirty="0"/>
              <a:t>is the pressure in the great veins supplying the heart.</a:t>
            </a:r>
          </a:p>
          <a:p>
            <a:r>
              <a:rPr lang="en-US" dirty="0"/>
              <a:t>Gravity has a considerable effect on venous pressure.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355366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Practical exercise in your own time.</a:t>
            </a:r>
          </a:p>
          <a:p>
            <a:r>
              <a:rPr lang="en-US" dirty="0"/>
              <a:t>Find a tape measure. Lie down for about ten minutes, then get a friend to measure </a:t>
            </a:r>
            <a:r>
              <a:rPr lang="en-US" dirty="0" smtClean="0"/>
              <a:t>the circumference </a:t>
            </a:r>
            <a:r>
              <a:rPr lang="en-US" dirty="0"/>
              <a:t>of each of your ankles. Stand as still as possible for 15 minutes, preferably in a warm room, then, without moving, get a friend to measure the circumference of your </a:t>
            </a:r>
            <a:r>
              <a:rPr lang="en-US" dirty="0" smtClean="0"/>
              <a:t>ankles again</a:t>
            </a:r>
            <a:r>
              <a:rPr lang="en-US" dirty="0"/>
              <a:t>. Why are they different?</a:t>
            </a:r>
          </a:p>
          <a:p>
            <a:r>
              <a:rPr lang="en-US" dirty="0"/>
              <a:t>Now try wriggling your toes vigorously. Does this have any effect on the circumference of your ankles? If so, why? (think about the structure of veins)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3975710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901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karenpc</dc:creator>
  <cp:lastModifiedBy>karenpc</cp:lastModifiedBy>
  <cp:revision>13</cp:revision>
  <dcterms:created xsi:type="dcterms:W3CDTF">2006-08-16T00:00:00Z</dcterms:created>
  <dcterms:modified xsi:type="dcterms:W3CDTF">2019-10-04T12:01:21Z</dcterms:modified>
</cp:coreProperties>
</file>