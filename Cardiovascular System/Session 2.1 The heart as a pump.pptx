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sldIdLst>
    <p:sldId id="256" r:id="rId2"/>
    <p:sldId id="257" r:id="rId3"/>
    <p:sldId id="263" r:id="rId4"/>
    <p:sldId id="258" r:id="rId5"/>
    <p:sldId id="259" r:id="rId6"/>
    <p:sldId id="264" r:id="rId7"/>
    <p:sldId id="265" r:id="rId8"/>
    <p:sldId id="266" r:id="rId9"/>
    <p:sldId id="260" r:id="rId10"/>
    <p:sldId id="261" r:id="rId11"/>
    <p:sldId id="262"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4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fld id="{1D8BD707-D9CF-40AE-B4C6-C98DA3205C09}" type="datetimeFigureOut">
              <a:rPr lang="en-US" smtClean="0"/>
              <a:pPr/>
              <a:t>9/19/2021</a:t>
            </a:fld>
            <a:endParaRPr lang="en-US"/>
          </a:p>
        </p:txBody>
      </p:sp>
      <p:sp>
        <p:nvSpPr>
          <p:cNvPr id="20" name="Footer Placeholder 19"/>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B6F15528-21DE-4FAA-801E-634DDDAF4B2B}"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9/19/2021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9/19/2021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9/19/2021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9/19/2021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1D8BD707-D9CF-40AE-B4C6-C98DA3205C09}" type="datetimeFigureOut">
              <a:rPr lang="en-US" smtClean="0"/>
              <a:pPr/>
              <a:t>9/19/2021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9/19/2021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1D8BD707-D9CF-40AE-B4C6-C98DA3205C09}" type="datetimeFigureOut">
              <a:rPr lang="en-US" smtClean="0"/>
              <a:pPr/>
              <a:t>9/19/2021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9/19/2021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9/19/2021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1D8BD707-D9CF-40AE-B4C6-C98DA3205C09}" type="datetimeFigureOut">
              <a:rPr lang="en-US" smtClean="0"/>
              <a:pPr/>
              <a:t>9/19/2021</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B6F15528-21DE-4FAA-801E-634DDDAF4B2B}"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rtl="1"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r" rtl="1"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r" rtl="1"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r" rtl="1"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r" rtl="1"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r" rtl="1"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r" rtl="1"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r" rtl="1"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r" rtl="1"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r" rtl="1"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r" rtl="1" eaLnBrk="1" latinLnBrk="0" hangingPunct="1">
        <a:defRPr kumimoji="0" kern="1200">
          <a:solidFill>
            <a:schemeClr val="tx1"/>
          </a:solidFill>
          <a:latin typeface="+mn-lt"/>
          <a:ea typeface="+mn-ea"/>
          <a:cs typeface="+mn-cs"/>
        </a:defRPr>
      </a:lvl1pPr>
      <a:lvl2pPr marL="457200" algn="r" rtl="1" eaLnBrk="1" latinLnBrk="0" hangingPunct="1">
        <a:defRPr kumimoji="0" kern="1200">
          <a:solidFill>
            <a:schemeClr val="tx1"/>
          </a:solidFill>
          <a:latin typeface="+mn-lt"/>
          <a:ea typeface="+mn-ea"/>
          <a:cs typeface="+mn-cs"/>
        </a:defRPr>
      </a:lvl2pPr>
      <a:lvl3pPr marL="914400" algn="r" rtl="1" eaLnBrk="1" latinLnBrk="0" hangingPunct="1">
        <a:defRPr kumimoji="0" kern="1200">
          <a:solidFill>
            <a:schemeClr val="tx1"/>
          </a:solidFill>
          <a:latin typeface="+mn-lt"/>
          <a:ea typeface="+mn-ea"/>
          <a:cs typeface="+mn-cs"/>
        </a:defRPr>
      </a:lvl3pPr>
      <a:lvl4pPr marL="1371600" algn="r" rtl="1" eaLnBrk="1" latinLnBrk="0" hangingPunct="1">
        <a:defRPr kumimoji="0" kern="1200">
          <a:solidFill>
            <a:schemeClr val="tx1"/>
          </a:solidFill>
          <a:latin typeface="+mn-lt"/>
          <a:ea typeface="+mn-ea"/>
          <a:cs typeface="+mn-cs"/>
        </a:defRPr>
      </a:lvl4pPr>
      <a:lvl5pPr marL="1828800" algn="r" rtl="1" eaLnBrk="1" latinLnBrk="0" hangingPunct="1">
        <a:defRPr kumimoji="0" kern="1200">
          <a:solidFill>
            <a:schemeClr val="tx1"/>
          </a:solidFill>
          <a:latin typeface="+mn-lt"/>
          <a:ea typeface="+mn-ea"/>
          <a:cs typeface="+mn-cs"/>
        </a:defRPr>
      </a:lvl5pPr>
      <a:lvl6pPr marL="2286000" algn="r" rtl="1" eaLnBrk="1" latinLnBrk="0" hangingPunct="1">
        <a:defRPr kumimoji="0" kern="1200">
          <a:solidFill>
            <a:schemeClr val="tx1"/>
          </a:solidFill>
          <a:latin typeface="+mn-lt"/>
          <a:ea typeface="+mn-ea"/>
          <a:cs typeface="+mn-cs"/>
        </a:defRPr>
      </a:lvl6pPr>
      <a:lvl7pPr marL="2743200" algn="r" rtl="1" eaLnBrk="1" latinLnBrk="0" hangingPunct="1">
        <a:defRPr kumimoji="0" kern="1200">
          <a:solidFill>
            <a:schemeClr val="tx1"/>
          </a:solidFill>
          <a:latin typeface="+mn-lt"/>
          <a:ea typeface="+mn-ea"/>
          <a:cs typeface="+mn-cs"/>
        </a:defRPr>
      </a:lvl7pPr>
      <a:lvl8pPr marL="3200400" algn="r" rtl="1" eaLnBrk="1" latinLnBrk="0" hangingPunct="1">
        <a:defRPr kumimoji="0" kern="1200">
          <a:solidFill>
            <a:schemeClr val="tx1"/>
          </a:solidFill>
          <a:latin typeface="+mn-lt"/>
          <a:ea typeface="+mn-ea"/>
          <a:cs typeface="+mn-cs"/>
        </a:defRPr>
      </a:lvl8pPr>
      <a:lvl9pPr marL="3657600" algn="r" rtl="1"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2057400"/>
            <a:ext cx="8458200" cy="1752600"/>
          </a:xfrm>
        </p:spPr>
        <p:txBody>
          <a:bodyPr>
            <a:normAutofit/>
          </a:bodyPr>
          <a:lstStyle/>
          <a:p>
            <a:r>
              <a:rPr lang="en-US" dirty="0"/>
              <a:t>            </a:t>
            </a:r>
            <a:br>
              <a:rPr lang="en-US" dirty="0"/>
            </a:br>
            <a:r>
              <a:rPr lang="en-US" dirty="0"/>
              <a:t>             The heart as a pump</a:t>
            </a:r>
            <a:endParaRPr lang="ar-IQ" dirty="0"/>
          </a:p>
        </p:txBody>
      </p:sp>
    </p:spTree>
    <p:extLst>
      <p:ext uri="{BB962C8B-B14F-4D97-AF65-F5344CB8AC3E}">
        <p14:creationId xmlns:p14="http://schemas.microsoft.com/office/powerpoint/2010/main" val="4711810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62500" lnSpcReduction="20000"/>
          </a:bodyPr>
          <a:lstStyle/>
          <a:p>
            <a:pPr algn="l" rtl="0"/>
            <a:r>
              <a:rPr lang="en-US" dirty="0"/>
              <a:t>The heart is two pumps in series. Thin walled </a:t>
            </a:r>
            <a:r>
              <a:rPr lang="en-US" b="1" dirty="0"/>
              <a:t>atria act as reservoirs</a:t>
            </a:r>
            <a:r>
              <a:rPr lang="en-US" dirty="0"/>
              <a:t> to supply </a:t>
            </a:r>
            <a:r>
              <a:rPr lang="en-US" b="1" dirty="0"/>
              <a:t>muscular pumping chambers </a:t>
            </a:r>
            <a:r>
              <a:rPr lang="en-US" dirty="0"/>
              <a:t>- </a:t>
            </a:r>
            <a:r>
              <a:rPr lang="en-US" b="1" dirty="0"/>
              <a:t>the ventricles</a:t>
            </a:r>
            <a:r>
              <a:rPr lang="en-US" dirty="0"/>
              <a:t>. </a:t>
            </a:r>
          </a:p>
          <a:p>
            <a:pPr marL="82296" indent="0" algn="l" rtl="0">
              <a:buNone/>
            </a:pPr>
            <a:endParaRPr lang="en-US" dirty="0"/>
          </a:p>
          <a:p>
            <a:pPr algn="l" rtl="0"/>
            <a:r>
              <a:rPr lang="en-US" dirty="0"/>
              <a:t>In-flow and out-flow to the ventricles are separated by valves. The right side of the heart pumps blood to the lungs (</a:t>
            </a:r>
            <a:r>
              <a:rPr lang="en-US" b="1" dirty="0"/>
              <a:t>pulmonary circulation</a:t>
            </a:r>
            <a:r>
              <a:rPr lang="en-US" dirty="0"/>
              <a:t>), the left side to </a:t>
            </a:r>
            <a:r>
              <a:rPr lang="en-US" b="1" dirty="0"/>
              <a:t>the body - or systemic circulation</a:t>
            </a:r>
            <a:r>
              <a:rPr lang="en-US" dirty="0"/>
              <a:t>.</a:t>
            </a:r>
          </a:p>
          <a:p>
            <a:pPr marL="0" indent="0" algn="l" rtl="0">
              <a:buNone/>
            </a:pPr>
            <a:endParaRPr lang="en-US" dirty="0"/>
          </a:p>
          <a:p>
            <a:pPr algn="l" rtl="0"/>
            <a:r>
              <a:rPr lang="en-US" dirty="0"/>
              <a:t>Cardiac muscle is a specialised form. The myocardium consists of individual cells joined by </a:t>
            </a:r>
            <a:r>
              <a:rPr lang="en-US" b="1" dirty="0"/>
              <a:t>low electrical resistance connections</a:t>
            </a:r>
            <a:r>
              <a:rPr lang="en-US" dirty="0"/>
              <a:t>. </a:t>
            </a:r>
          </a:p>
          <a:p>
            <a:pPr algn="l" rtl="0"/>
            <a:endParaRPr lang="en-US" dirty="0"/>
          </a:p>
          <a:p>
            <a:pPr algn="l" rtl="0"/>
            <a:r>
              <a:rPr lang="en-US" dirty="0"/>
              <a:t>The contraction of each cell is produced by a rise in intracellular calcium concentration triggered by an all or none electrical event in the cell membrane - </a:t>
            </a:r>
            <a:r>
              <a:rPr lang="en-US" b="1" dirty="0"/>
              <a:t>the action potential</a:t>
            </a:r>
            <a:r>
              <a:rPr lang="en-US" dirty="0"/>
              <a:t>. </a:t>
            </a:r>
          </a:p>
        </p:txBody>
      </p:sp>
    </p:spTree>
    <p:extLst>
      <p:ext uri="{BB962C8B-B14F-4D97-AF65-F5344CB8AC3E}">
        <p14:creationId xmlns:p14="http://schemas.microsoft.com/office/powerpoint/2010/main" val="28456859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62500" lnSpcReduction="20000"/>
          </a:bodyPr>
          <a:lstStyle/>
          <a:p>
            <a:pPr algn="l" rtl="0"/>
            <a:r>
              <a:rPr lang="en-US" dirty="0"/>
              <a:t>The cardiac action potential is very long, so over most of the heart a single action potential will produce a sustained contraction of the cell lasting about (200 - 300 )ms. Action potentials spread from cell to cell, so at each heart beat all the cells in the heart normally contract.</a:t>
            </a:r>
          </a:p>
          <a:p>
            <a:pPr marL="82296" indent="0" algn="l" rtl="0">
              <a:buNone/>
            </a:pPr>
            <a:endParaRPr lang="en-US" dirty="0"/>
          </a:p>
          <a:p>
            <a:pPr algn="l" rtl="0"/>
            <a:r>
              <a:rPr lang="en-US" dirty="0"/>
              <a:t>Pumping action requires a regular, co-ordinated pattern of contraction. Action potentials are generated spontaneously at regular intervals by specialised pacemaker cells. In the normal heart the pacemaker is the sino-atrial node, in the right atrium. Excitation spreads over the atria to the atrio-ventricular node, and thence down the muscular septum between the ventricles to excite the ventricular muscle from the endocardial side, from where the contraction spreads through the ventricular myocardium  and up towards the AV junction where the valves are located.</a:t>
            </a:r>
          </a:p>
          <a:p>
            <a:pPr algn="l" rtl="0"/>
            <a:endParaRPr lang="ar-IQ" dirty="0"/>
          </a:p>
        </p:txBody>
      </p:sp>
    </p:spTree>
    <p:extLst>
      <p:ext uri="{BB962C8B-B14F-4D97-AF65-F5344CB8AC3E}">
        <p14:creationId xmlns:p14="http://schemas.microsoft.com/office/powerpoint/2010/main" val="27195418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pPr algn="l" rtl="0"/>
            <a:r>
              <a:rPr lang="en-US" dirty="0"/>
              <a:t>The period when the myocardium is contracting is known as </a:t>
            </a:r>
            <a:r>
              <a:rPr lang="en-US" b="1" dirty="0"/>
              <a:t>SYSTOLE</a:t>
            </a:r>
          </a:p>
          <a:p>
            <a:pPr marL="82296" indent="0" algn="l" rtl="0">
              <a:buNone/>
            </a:pPr>
            <a:endParaRPr lang="en-US" b="1" dirty="0"/>
          </a:p>
          <a:p>
            <a:pPr algn="l" rtl="0"/>
            <a:r>
              <a:rPr lang="en-US" dirty="0"/>
              <a:t>The period of relaxation between contractions is </a:t>
            </a:r>
            <a:r>
              <a:rPr lang="en-US" b="1" dirty="0"/>
              <a:t>DIASTOLE</a:t>
            </a:r>
          </a:p>
          <a:p>
            <a:pPr marL="82296" indent="0" algn="l" rtl="0">
              <a:buNone/>
            </a:pPr>
            <a:endParaRPr lang="en-US" b="1" dirty="0"/>
          </a:p>
          <a:p>
            <a:pPr algn="l" rtl="0"/>
            <a:r>
              <a:rPr lang="en-US" dirty="0"/>
              <a:t>Contraction of the atria is not forceful, but the ventricular muscle is organised into figure of eight bands which squeeze the ventricular chamber forcefully in a way most effective for ejection through the out flow valve.</a:t>
            </a:r>
          </a:p>
          <a:p>
            <a:pPr marL="82296" indent="0" algn="l" rtl="0">
              <a:buNone/>
            </a:pPr>
            <a:r>
              <a:rPr lang="en-US" dirty="0"/>
              <a:t> </a:t>
            </a:r>
          </a:p>
          <a:p>
            <a:pPr algn="l" rtl="0"/>
            <a:r>
              <a:rPr lang="en-US" b="1" dirty="0"/>
              <a:t>The apex of the heart contracts first and relaxes last to prevent back flow</a:t>
            </a:r>
            <a:endParaRPr lang="ar-IQ" b="1" dirty="0"/>
          </a:p>
        </p:txBody>
      </p:sp>
    </p:spTree>
    <p:extLst>
      <p:ext uri="{BB962C8B-B14F-4D97-AF65-F5344CB8AC3E}">
        <p14:creationId xmlns:p14="http://schemas.microsoft.com/office/powerpoint/2010/main" val="35324973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62500" lnSpcReduction="20000"/>
          </a:bodyPr>
          <a:lstStyle/>
          <a:p>
            <a:pPr algn="l" rtl="0"/>
            <a:r>
              <a:rPr lang="en-US" dirty="0"/>
              <a:t>The cardiac cycle is the sequence of pressure flow changes and valve operations that occur with each heartbeat.</a:t>
            </a:r>
          </a:p>
          <a:p>
            <a:pPr marL="82296" indent="0" algn="l" rtl="0">
              <a:buNone/>
            </a:pPr>
            <a:endParaRPr lang="en-US" dirty="0"/>
          </a:p>
          <a:p>
            <a:pPr algn="l" rtl="0"/>
            <a:r>
              <a:rPr lang="en-US" dirty="0"/>
              <a:t>As the ventricular muscle relaxes (i.e. early diastole), the intra-ventricular pressure falls, and the atrio-ventricular valves (tricuspid and mitral) open as atrial pressure exceeds ventricular.</a:t>
            </a:r>
          </a:p>
          <a:p>
            <a:pPr marL="82296" indent="0" algn="l" rtl="0">
              <a:buNone/>
            </a:pPr>
            <a:endParaRPr lang="en-US" dirty="0"/>
          </a:p>
          <a:p>
            <a:pPr algn="l" rtl="0"/>
            <a:r>
              <a:rPr lang="en-US" dirty="0"/>
              <a:t>The atria have been distended by continuing venous return during the preceding systole, so initially blood is forced rapidly from the atria into the ventricles - the </a:t>
            </a:r>
            <a:r>
              <a:rPr lang="en-US" b="1" dirty="0"/>
              <a:t>'rapid filling' phase</a:t>
            </a:r>
            <a:r>
              <a:rPr lang="en-US" dirty="0"/>
              <a:t>.</a:t>
            </a:r>
          </a:p>
          <a:p>
            <a:pPr marL="82296" indent="0" algn="l" rtl="0">
              <a:buNone/>
            </a:pPr>
            <a:r>
              <a:rPr lang="en-US" dirty="0"/>
              <a:t> </a:t>
            </a:r>
          </a:p>
          <a:p>
            <a:pPr algn="l" rtl="0"/>
            <a:r>
              <a:rPr lang="en-US" dirty="0"/>
              <a:t>Fillingof the ventricles continue throughout diastole, at a steadily decreasing rate until the intra-ventricular pressure rises to match atrial pressure. At low heart rates the ventricles are more or less full before the next systole begins.</a:t>
            </a:r>
          </a:p>
          <a:p>
            <a:pPr algn="l" rtl="0"/>
            <a:endParaRPr lang="en-US" dirty="0"/>
          </a:p>
        </p:txBody>
      </p:sp>
    </p:spTree>
    <p:extLst>
      <p:ext uri="{BB962C8B-B14F-4D97-AF65-F5344CB8AC3E}">
        <p14:creationId xmlns:p14="http://schemas.microsoft.com/office/powerpoint/2010/main" val="39457775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62200" y="1126842"/>
            <a:ext cx="5638799" cy="4130958"/>
          </a:xfrm>
        </p:spPr>
      </p:pic>
    </p:spTree>
    <p:extLst>
      <p:ext uri="{BB962C8B-B14F-4D97-AF65-F5344CB8AC3E}">
        <p14:creationId xmlns:p14="http://schemas.microsoft.com/office/powerpoint/2010/main" val="36837953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62200" y="1295400"/>
            <a:ext cx="5562599" cy="4476750"/>
          </a:xfrm>
        </p:spPr>
      </p:pic>
    </p:spTree>
    <p:extLst>
      <p:ext uri="{BB962C8B-B14F-4D97-AF65-F5344CB8AC3E}">
        <p14:creationId xmlns:p14="http://schemas.microsoft.com/office/powerpoint/2010/main" val="2139225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37155" y="1575084"/>
            <a:ext cx="6095239" cy="4546032"/>
          </a:xfrm>
        </p:spPr>
      </p:pic>
    </p:spTree>
    <p:extLst>
      <p:ext uri="{BB962C8B-B14F-4D97-AF65-F5344CB8AC3E}">
        <p14:creationId xmlns:p14="http://schemas.microsoft.com/office/powerpoint/2010/main" val="2695394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47500" lnSpcReduction="20000"/>
          </a:bodyPr>
          <a:lstStyle/>
          <a:p>
            <a:pPr algn="l" rtl="0"/>
            <a:r>
              <a:rPr lang="en-US" dirty="0"/>
              <a:t>Atrial systole is the contraction of the atria, which forces a small extra amount of blood into the ventricles. After a delay of about (100-150) ms the ventricles begin to contract (systole) .</a:t>
            </a:r>
          </a:p>
          <a:p>
            <a:pPr marL="82296" indent="0" algn="l" rtl="0">
              <a:buNone/>
            </a:pPr>
            <a:endParaRPr lang="en-US" dirty="0"/>
          </a:p>
          <a:p>
            <a:pPr algn="l" rtl="0"/>
            <a:r>
              <a:rPr lang="en-US" dirty="0"/>
              <a:t>As intra ventricular pressure rises, so blood tends to flow the 'wrong way' through the A/V valves, producing turbulence which closes the valves forcibly. </a:t>
            </a:r>
          </a:p>
          <a:p>
            <a:pPr marL="82296" indent="0" algn="l" rtl="0">
              <a:buNone/>
            </a:pPr>
            <a:endParaRPr lang="en-US" dirty="0"/>
          </a:p>
          <a:p>
            <a:pPr algn="l" rtl="0"/>
            <a:r>
              <a:rPr lang="en-US" dirty="0"/>
              <a:t>The ventricles then contract 'isovolumetrically' and intra ventricular pressure rises rapidly until it exceeds the diastolic pressure in the arteries, when the outflow (aortic and pulmonary) valves open. There is then a period of rapid ejection of blood, and both intra ventricular and arterial pressure riseto a maximum. Towards the end of systole intra ventricular pressure falls, and once it is below the arterial pressure the outflow valves close, and when the atrial pressure is reached the A/Vvalves open, and the whole process starts again.</a:t>
            </a:r>
          </a:p>
          <a:p>
            <a:pPr marL="82296" indent="0" algn="l" rtl="0">
              <a:buNone/>
            </a:pPr>
            <a:endParaRPr lang="en-US" dirty="0"/>
          </a:p>
          <a:p>
            <a:pPr algn="l" rtl="0"/>
            <a:r>
              <a:rPr lang="en-US" dirty="0"/>
              <a:t>These events are associated with sounds which are often used to assess the state of the heart. Sound is produced by sudden acceleration and deceleration of structures or by turbulent flow.</a:t>
            </a:r>
            <a:endParaRPr lang="ar-IQ" dirty="0"/>
          </a:p>
        </p:txBody>
      </p:sp>
    </p:spTree>
    <p:extLst>
      <p:ext uri="{BB962C8B-B14F-4D97-AF65-F5344CB8AC3E}">
        <p14:creationId xmlns:p14="http://schemas.microsoft.com/office/powerpoint/2010/main" val="34176428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55000" lnSpcReduction="20000"/>
          </a:bodyPr>
          <a:lstStyle/>
          <a:p>
            <a:pPr algn="l" rtl="0"/>
            <a:r>
              <a:rPr lang="en-US" dirty="0"/>
              <a:t>In the normal heart there are always two sounds. Two others may be audible.</a:t>
            </a:r>
          </a:p>
          <a:p>
            <a:pPr marL="82296" indent="0" algn="l" rtl="0">
              <a:buNone/>
            </a:pPr>
            <a:endParaRPr lang="en-US" dirty="0"/>
          </a:p>
          <a:p>
            <a:pPr algn="l" rtl="0"/>
            <a:r>
              <a:rPr lang="en-US" b="1" dirty="0"/>
              <a:t>First heart sound</a:t>
            </a:r>
            <a:r>
              <a:rPr lang="en-US" dirty="0"/>
              <a:t>: As the A-V valves close oscillations are induced in a variety of structures, producing a mixed sound with crescendo-descendo quality - '</a:t>
            </a:r>
            <a:r>
              <a:rPr lang="en-US" b="1" dirty="0"/>
              <a:t>lup</a:t>
            </a:r>
            <a:r>
              <a:rPr lang="en-US" dirty="0"/>
              <a:t>'.</a:t>
            </a:r>
          </a:p>
          <a:p>
            <a:pPr algn="l" rtl="0"/>
            <a:r>
              <a:rPr lang="en-US" b="1" dirty="0"/>
              <a:t>Second heart sound</a:t>
            </a:r>
            <a:r>
              <a:rPr lang="en-US" dirty="0"/>
              <a:t>: As the semi-lunar valves close oscillations are induced in other structures including the column of blood in the arteries. This produces sound of shorter duration, higher frequency and lower intensity than the first - '</a:t>
            </a:r>
            <a:r>
              <a:rPr lang="en-US" b="1" dirty="0"/>
              <a:t>dup</a:t>
            </a:r>
            <a:r>
              <a:rPr lang="en-US" dirty="0"/>
              <a:t>'.</a:t>
            </a:r>
          </a:p>
          <a:p>
            <a:pPr marL="82296" indent="0" algn="l" rtl="0">
              <a:buNone/>
            </a:pPr>
            <a:endParaRPr lang="en-US" dirty="0"/>
          </a:p>
          <a:p>
            <a:pPr algn="l" rtl="0"/>
            <a:r>
              <a:rPr lang="en-US" b="1" dirty="0"/>
              <a:t>A third sound </a:t>
            </a:r>
            <a:r>
              <a:rPr lang="en-US" dirty="0"/>
              <a:t>may be heard early in diastole, and a </a:t>
            </a:r>
            <a:r>
              <a:rPr lang="en-US" b="1" dirty="0"/>
              <a:t>4th sound</a:t>
            </a:r>
            <a:r>
              <a:rPr lang="en-US" dirty="0"/>
              <a:t> is sometimes associated with atrial contraction.</a:t>
            </a:r>
          </a:p>
          <a:p>
            <a:pPr marL="82296" indent="0" algn="l" rtl="0">
              <a:buNone/>
            </a:pPr>
            <a:endParaRPr lang="en-US" dirty="0"/>
          </a:p>
          <a:p>
            <a:pPr algn="l" rtl="0"/>
            <a:r>
              <a:rPr lang="en-US" dirty="0"/>
              <a:t>In exercise turbulent flow generates '</a:t>
            </a:r>
            <a:r>
              <a:rPr lang="en-US" b="1" dirty="0"/>
              <a:t>murmurs</a:t>
            </a:r>
            <a:r>
              <a:rPr lang="en-US" dirty="0"/>
              <a:t>' in normal individuals, but at rest murmurs are associated with disturbed flow, say through a </a:t>
            </a:r>
            <a:r>
              <a:rPr lang="en-US" b="1" dirty="0"/>
              <a:t>narrowed valve</a:t>
            </a:r>
            <a:r>
              <a:rPr lang="en-US" dirty="0"/>
              <a:t>, or back flow through an </a:t>
            </a:r>
            <a:r>
              <a:rPr lang="en-US" b="1" dirty="0"/>
              <a:t>incompetent valve</a:t>
            </a:r>
            <a:r>
              <a:rPr lang="en-US" dirty="0"/>
              <a:t>.</a:t>
            </a:r>
            <a:endParaRPr lang="ar-IQ" dirty="0"/>
          </a:p>
        </p:txBody>
      </p:sp>
    </p:spTree>
    <p:extLst>
      <p:ext uri="{BB962C8B-B14F-4D97-AF65-F5344CB8AC3E}">
        <p14:creationId xmlns:p14="http://schemas.microsoft.com/office/powerpoint/2010/main" val="9199371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l" rtl="0"/>
            <a:r>
              <a:rPr lang="en-US" b="1" dirty="0"/>
              <a:t>Cardiac output: The volume pumped per minute </a:t>
            </a:r>
            <a:r>
              <a:rPr lang="en-US" dirty="0"/>
              <a:t>by the left heart is known as the CardiacOutput. As the pumping is intermittent, </a:t>
            </a:r>
            <a:r>
              <a:rPr lang="en-US" b="1" dirty="0"/>
              <a:t>it is the product of the volume ejected per cardiaccycle </a:t>
            </a:r>
            <a:r>
              <a:rPr lang="en-US" dirty="0"/>
              <a:t>- </a:t>
            </a:r>
            <a:r>
              <a:rPr lang="en-US" b="1" dirty="0"/>
              <a:t>stroke volume </a:t>
            </a:r>
            <a:r>
              <a:rPr lang="en-US" dirty="0"/>
              <a:t>and the </a:t>
            </a:r>
            <a:r>
              <a:rPr lang="en-US" b="1" dirty="0"/>
              <a:t>number of cycles per minute - the Heart rate</a:t>
            </a:r>
            <a:r>
              <a:rPr lang="en-US" dirty="0"/>
              <a:t>. Both may vary.</a:t>
            </a:r>
            <a:endParaRPr lang="ar-IQ" dirty="0"/>
          </a:p>
        </p:txBody>
      </p:sp>
    </p:spTree>
    <p:extLst>
      <p:ext uri="{BB962C8B-B14F-4D97-AF65-F5344CB8AC3E}">
        <p14:creationId xmlns:p14="http://schemas.microsoft.com/office/powerpoint/2010/main" val="187960017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52</TotalTime>
  <Words>859</Words>
  <Application>Microsoft Office PowerPoint</Application>
  <PresentationFormat>On-screen Show (4:3)</PresentationFormat>
  <Paragraphs>41</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Gill Sans MT</vt:lpstr>
      <vt:lpstr>Verdana</vt:lpstr>
      <vt:lpstr>Wingdings 2</vt:lpstr>
      <vt:lpstr>Solstice</vt:lpstr>
      <vt:lpstr>                          The heart as a pump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The heart as a pump</dc:title>
  <dc:creator>karenpc</dc:creator>
  <cp:lastModifiedBy>adnan tawfiq</cp:lastModifiedBy>
  <cp:revision>23</cp:revision>
  <dcterms:created xsi:type="dcterms:W3CDTF">2006-08-16T00:00:00Z</dcterms:created>
  <dcterms:modified xsi:type="dcterms:W3CDTF">2021-09-18T21:47:09Z</dcterms:modified>
</cp:coreProperties>
</file>