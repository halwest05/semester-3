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0" r:id="rId3"/>
    <p:sldId id="261" r:id="rId4"/>
    <p:sldId id="262" r:id="rId5"/>
    <p:sldId id="263" r:id="rId6"/>
    <p:sldId id="264" r:id="rId7"/>
    <p:sldId id="265" r:id="rId8"/>
    <p:sldId id="266" r:id="rId9"/>
    <p:sldId id="267" r:id="rId10"/>
    <p:sldId id="257" r:id="rId11"/>
    <p:sldId id="258" r:id="rId12"/>
    <p:sldId id="268" r:id="rId13"/>
    <p:sldId id="259"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10/16/2019</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10/16/2019</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1"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r" rtl="1"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r" rtl="1"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r" rtl="1"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r" rtl="1"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r" rtl="1"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r" rtl="1"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1981200"/>
            <a:ext cx="6400800" cy="2895600"/>
          </a:xfrm>
        </p:spPr>
        <p:txBody>
          <a:bodyPr/>
          <a:lstStyle/>
          <a:p>
            <a:pPr algn="ctr"/>
            <a:endParaRPr lang="en-US" dirty="0" smtClean="0">
              <a:solidFill>
                <a:schemeClr val="tx1"/>
              </a:solidFill>
            </a:endParaRPr>
          </a:p>
          <a:p>
            <a:pPr algn="ctr"/>
            <a:r>
              <a:rPr lang="en-US" dirty="0" smtClean="0">
                <a:solidFill>
                  <a:schemeClr val="tx1"/>
                </a:solidFill>
              </a:rPr>
              <a:t>Cardiovascular </a:t>
            </a:r>
            <a:r>
              <a:rPr lang="en-US" dirty="0">
                <a:solidFill>
                  <a:schemeClr val="tx1"/>
                </a:solidFill>
              </a:rPr>
              <a:t>System</a:t>
            </a:r>
          </a:p>
          <a:p>
            <a:pPr algn="ctr"/>
            <a:r>
              <a:rPr lang="en-US" dirty="0">
                <a:solidFill>
                  <a:schemeClr val="tx1"/>
                </a:solidFill>
              </a:rPr>
              <a:t>Session 6</a:t>
            </a:r>
          </a:p>
          <a:p>
            <a:pPr algn="ctr" rtl="0"/>
            <a:r>
              <a:rPr lang="ar-IQ" dirty="0" smtClean="0">
                <a:solidFill>
                  <a:schemeClr val="tx1"/>
                </a:solidFill>
              </a:rPr>
              <a:t> </a:t>
            </a:r>
            <a:r>
              <a:rPr lang="en-US" smtClean="0">
                <a:solidFill>
                  <a:schemeClr val="tx1"/>
                </a:solidFill>
              </a:rPr>
              <a:t>Control </a:t>
            </a:r>
            <a:r>
              <a:rPr lang="en-US" dirty="0">
                <a:solidFill>
                  <a:schemeClr val="tx1"/>
                </a:solidFill>
              </a:rPr>
              <a:t>of </a:t>
            </a:r>
            <a:r>
              <a:rPr lang="en-US">
                <a:solidFill>
                  <a:schemeClr val="tx1"/>
                </a:solidFill>
              </a:rPr>
              <a:t>the </a:t>
            </a:r>
            <a:r>
              <a:rPr lang="en-US" smtClean="0">
                <a:solidFill>
                  <a:schemeClr val="tx1"/>
                </a:solidFill>
              </a:rPr>
              <a:t>Cardiac output</a:t>
            </a:r>
            <a:endParaRPr lang="ar-IQ" dirty="0">
              <a:solidFill>
                <a:schemeClr val="tx1"/>
              </a:solidFill>
            </a:endParaRPr>
          </a:p>
        </p:txBody>
      </p:sp>
    </p:spTree>
    <p:extLst>
      <p:ext uri="{BB962C8B-B14F-4D97-AF65-F5344CB8AC3E}">
        <p14:creationId xmlns:p14="http://schemas.microsoft.com/office/powerpoint/2010/main" val="412579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lgn="l" rtl="0"/>
            <a:r>
              <a:rPr lang="en-US" b="1" dirty="0"/>
              <a:t>The aim of this session is </a:t>
            </a:r>
            <a:r>
              <a:rPr lang="en-US" b="1" dirty="0" smtClean="0"/>
              <a:t>that:</a:t>
            </a:r>
          </a:p>
          <a:p>
            <a:pPr marL="82296" indent="0" algn="l" rtl="0">
              <a:buNone/>
            </a:pPr>
            <a:r>
              <a:rPr lang="en-US" dirty="0" smtClean="0"/>
              <a:t>you </a:t>
            </a:r>
            <a:r>
              <a:rPr lang="en-US" dirty="0"/>
              <a:t>should understand how the various elements of </a:t>
            </a:r>
            <a:r>
              <a:rPr lang="en-US" dirty="0" smtClean="0"/>
              <a:t>the cardiovascular </a:t>
            </a:r>
            <a:r>
              <a:rPr lang="en-US" dirty="0"/>
              <a:t>system interact in the short term to maintain stable blood flow to vital organs in the face of challenges such as exercise or alterations of blood volume. Specifically, you should understand how the pumping activity of the heart is affected by changes in </a:t>
            </a:r>
            <a:r>
              <a:rPr lang="en-US" dirty="0" smtClean="0"/>
              <a:t>venous return </a:t>
            </a:r>
            <a:r>
              <a:rPr lang="en-US" dirty="0"/>
              <a:t>and total peripheral resistance.</a:t>
            </a:r>
            <a:endParaRPr lang="ar-IQ" dirty="0"/>
          </a:p>
        </p:txBody>
      </p:sp>
    </p:spTree>
    <p:extLst>
      <p:ext uri="{BB962C8B-B14F-4D97-AF65-F5344CB8AC3E}">
        <p14:creationId xmlns:p14="http://schemas.microsoft.com/office/powerpoint/2010/main" val="4006263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l" rtl="0"/>
            <a:r>
              <a:rPr lang="en-US" b="1" dirty="0"/>
              <a:t>Learning </a:t>
            </a:r>
            <a:r>
              <a:rPr lang="en-US" b="1" dirty="0" smtClean="0"/>
              <a:t>outcomes :</a:t>
            </a:r>
            <a:endParaRPr lang="en-US" b="1" dirty="0"/>
          </a:p>
          <a:p>
            <a:pPr marL="82296" indent="0" algn="l" rtl="0">
              <a:buNone/>
            </a:pPr>
            <a:r>
              <a:rPr lang="en-US" dirty="0"/>
              <a:t>By the end of this lecture and with appropriate self study you should be able to:</a:t>
            </a:r>
          </a:p>
          <a:p>
            <a:pPr algn="l" rtl="0"/>
            <a:r>
              <a:rPr lang="en-US" dirty="0"/>
              <a:t>D</a:t>
            </a:r>
            <a:r>
              <a:rPr lang="en-US" dirty="0" smtClean="0"/>
              <a:t>escribe </a:t>
            </a:r>
            <a:r>
              <a:rPr lang="en-US" dirty="0"/>
              <a:t>the effects of changes in total peripheral resistance, at a given cardiac output, on arterial and venous pressures</a:t>
            </a:r>
          </a:p>
          <a:p>
            <a:pPr algn="l" rtl="0"/>
            <a:r>
              <a:rPr lang="en-US" dirty="0"/>
              <a:t>D</a:t>
            </a:r>
            <a:r>
              <a:rPr lang="en-US" dirty="0" smtClean="0"/>
              <a:t>escribe </a:t>
            </a:r>
            <a:r>
              <a:rPr lang="en-US" dirty="0"/>
              <a:t>the effects of changes in cardiac output, at a given total peripheral resistance, on arterial and venous pressures</a:t>
            </a:r>
          </a:p>
          <a:p>
            <a:pPr algn="l" rtl="0"/>
            <a:r>
              <a:rPr lang="en-US" dirty="0"/>
              <a:t>E</a:t>
            </a:r>
            <a:r>
              <a:rPr lang="en-US" dirty="0" smtClean="0"/>
              <a:t>xplain </a:t>
            </a:r>
            <a:r>
              <a:rPr lang="en-US" dirty="0"/>
              <a:t>how the cardiovascular system will be stable if the cardiac output is increased by rises in venous pressure and falls in arterial pressure, and vice versa</a:t>
            </a:r>
          </a:p>
          <a:p>
            <a:pPr algn="l" rtl="0"/>
            <a:r>
              <a:rPr lang="en-US" dirty="0"/>
              <a:t>D</a:t>
            </a:r>
            <a:r>
              <a:rPr lang="en-US" dirty="0" smtClean="0"/>
              <a:t>efine </a:t>
            </a:r>
            <a:r>
              <a:rPr lang="en-US" dirty="0"/>
              <a:t>the terms stroke volume, end diastolic volume and end systolic volume</a:t>
            </a:r>
            <a:endParaRPr lang="ar-IQ" dirty="0"/>
          </a:p>
        </p:txBody>
      </p:sp>
    </p:spTree>
    <p:extLst>
      <p:ext uri="{BB962C8B-B14F-4D97-AF65-F5344CB8AC3E}">
        <p14:creationId xmlns:p14="http://schemas.microsoft.com/office/powerpoint/2010/main" val="2728022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D</a:t>
            </a:r>
            <a:r>
              <a:rPr lang="en-US" dirty="0" smtClean="0"/>
              <a:t>escribe </a:t>
            </a:r>
            <a:r>
              <a:rPr lang="en-US" dirty="0"/>
              <a:t>the factors which determine how much the ventricles fill during diastole, and draw a graph of the relationship between end-diastolic volume in the left ventricle and venous pressure</a:t>
            </a:r>
          </a:p>
          <a:p>
            <a:pPr algn="l" rtl="0"/>
            <a:r>
              <a:rPr lang="en-US" dirty="0"/>
              <a:t>D</a:t>
            </a:r>
            <a:r>
              <a:rPr lang="en-US" dirty="0" smtClean="0"/>
              <a:t>efine </a:t>
            </a:r>
            <a:r>
              <a:rPr lang="en-US" dirty="0"/>
              <a:t>the terms 'pre-load' and 'after-load' on the ventricular myocardium</a:t>
            </a:r>
          </a:p>
          <a:p>
            <a:pPr algn="l" rtl="0"/>
            <a:r>
              <a:rPr lang="en-US" dirty="0"/>
              <a:t>D</a:t>
            </a:r>
            <a:r>
              <a:rPr lang="en-US" dirty="0" smtClean="0"/>
              <a:t>escribe </a:t>
            </a:r>
            <a:r>
              <a:rPr lang="en-US" dirty="0"/>
              <a:t>how changes in end-diastolic volume affect the force of contraction of the myocardium during the following systole.</a:t>
            </a:r>
          </a:p>
          <a:p>
            <a:pPr algn="l" rtl="0"/>
            <a:r>
              <a:rPr lang="en-US" dirty="0"/>
              <a:t>D</a:t>
            </a:r>
            <a:r>
              <a:rPr lang="en-US" dirty="0" smtClean="0"/>
              <a:t>raw </a:t>
            </a:r>
            <a:r>
              <a:rPr lang="en-US" dirty="0"/>
              <a:t>a graph of the relationship between venous pressure and stroke volume at a constant after-load (The 'Starling Curve')</a:t>
            </a:r>
          </a:p>
          <a:p>
            <a:pPr algn="l" rtl="0"/>
            <a:r>
              <a:rPr lang="en-US" dirty="0"/>
              <a:t>D</a:t>
            </a:r>
            <a:r>
              <a:rPr lang="en-US" dirty="0" smtClean="0"/>
              <a:t>efine </a:t>
            </a:r>
            <a:r>
              <a:rPr lang="en-US" dirty="0"/>
              <a:t>the term 'contractility' and describe, in principle, how the Starling curve is changed by factors which increase the contractility of the ventricular myocardium</a:t>
            </a:r>
          </a:p>
          <a:p>
            <a:pPr algn="l" rtl="0"/>
            <a:r>
              <a:rPr lang="en-US" dirty="0"/>
              <a:t>S</a:t>
            </a:r>
            <a:r>
              <a:rPr lang="en-US" dirty="0" smtClean="0"/>
              <a:t>tate </a:t>
            </a:r>
            <a:r>
              <a:rPr lang="en-US" dirty="0"/>
              <a:t>the effect of increases and decreases in venous return (and therefore venous pressure) on cardiac </a:t>
            </a:r>
            <a:r>
              <a:rPr lang="en-US" dirty="0" smtClean="0"/>
              <a:t>output</a:t>
            </a:r>
            <a:endParaRPr lang="en-US" dirty="0"/>
          </a:p>
        </p:txBody>
      </p:sp>
    </p:spTree>
    <p:extLst>
      <p:ext uri="{BB962C8B-B14F-4D97-AF65-F5344CB8AC3E}">
        <p14:creationId xmlns:p14="http://schemas.microsoft.com/office/powerpoint/2010/main" val="362119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lgn="l" rtl="0"/>
            <a:r>
              <a:rPr lang="en-US" dirty="0" smtClean="0"/>
              <a:t>Describe </a:t>
            </a:r>
            <a:r>
              <a:rPr lang="en-US" dirty="0"/>
              <a:t>the changes in after load affect stroke volume and peak systolic pressure at a given pre-load</a:t>
            </a:r>
          </a:p>
          <a:p>
            <a:pPr algn="l" rtl="0"/>
            <a:r>
              <a:rPr lang="en-US" dirty="0" smtClean="0"/>
              <a:t>Describe </a:t>
            </a:r>
            <a:r>
              <a:rPr lang="en-US" dirty="0"/>
              <a:t>the the way in which arterial receptors detect changes in arterial pressure</a:t>
            </a:r>
          </a:p>
          <a:p>
            <a:pPr algn="l" rtl="0"/>
            <a:r>
              <a:rPr lang="en-US" dirty="0" smtClean="0"/>
              <a:t>Describe </a:t>
            </a:r>
            <a:r>
              <a:rPr lang="en-US" dirty="0"/>
              <a:t>the effects of a fall in arterial pressure, detected by arterial baroreceptors, upon (i) heart rate (ii) ventricular contractility, and the autonomic mechanism which mediate </a:t>
            </a:r>
            <a:r>
              <a:rPr lang="en-US" dirty="0" smtClean="0"/>
              <a:t>them</a:t>
            </a:r>
          </a:p>
          <a:p>
            <a:pPr algn="l" rtl="0"/>
            <a:r>
              <a:rPr lang="en-US" dirty="0"/>
              <a:t>D</a:t>
            </a:r>
            <a:r>
              <a:rPr lang="en-US" dirty="0" smtClean="0"/>
              <a:t>escribe </a:t>
            </a:r>
            <a:r>
              <a:rPr lang="en-US" dirty="0"/>
              <a:t>the effects of rises in venous pressure on heart rate</a:t>
            </a:r>
          </a:p>
          <a:p>
            <a:pPr algn="l" rtl="0"/>
            <a:r>
              <a:rPr lang="en-US" dirty="0"/>
              <a:t>D</a:t>
            </a:r>
            <a:r>
              <a:rPr lang="en-US" dirty="0" smtClean="0"/>
              <a:t>escribe </a:t>
            </a:r>
            <a:r>
              <a:rPr lang="en-US" dirty="0"/>
              <a:t>in very general terms the role of the medulla of the brain in cardiovascular reflexes</a:t>
            </a:r>
            <a:endParaRPr lang="ar-IQ" dirty="0"/>
          </a:p>
        </p:txBody>
      </p:sp>
    </p:spTree>
    <p:extLst>
      <p:ext uri="{BB962C8B-B14F-4D97-AF65-F5344CB8AC3E}">
        <p14:creationId xmlns:p14="http://schemas.microsoft.com/office/powerpoint/2010/main" val="3336432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The pumping action of the heart removes blood from the veins, and so tends to lower venous pressure. The blood is pumped into the arteries, tending to elevate arterial pressure. All other things being equal, the more the heart pumps the lower venous pressure will be, and the higher arterial pressure will be.</a:t>
            </a:r>
          </a:p>
          <a:p>
            <a:pPr algn="l" rtl="0"/>
            <a:r>
              <a:rPr lang="en-US" dirty="0"/>
              <a:t>Blood leaves the arteries via the resistance vessels and returns to the veins. If the Total</a:t>
            </a:r>
          </a:p>
          <a:p>
            <a:pPr algn="l" rtl="0"/>
            <a:r>
              <a:rPr lang="en-US" dirty="0"/>
              <a:t>Peripheral Resistance falls, all other things being equal, then arterial pressure will fall and venous pressure will rise.</a:t>
            </a:r>
          </a:p>
          <a:p>
            <a:pPr algn="l" rtl="0"/>
            <a:r>
              <a:rPr lang="en-US" b="1" dirty="0"/>
              <a:t>Changes in cardiac output and Total Peripheral Resistance are therefore reciprocal in effect upon both arterial and venous pressure</a:t>
            </a:r>
            <a:r>
              <a:rPr lang="en-US" dirty="0" smtClean="0"/>
              <a:t>.</a:t>
            </a:r>
          </a:p>
          <a:p>
            <a:pPr algn="l" rtl="0"/>
            <a:r>
              <a:rPr lang="en-US" dirty="0"/>
              <a:t>Within individual tissues, the actions of vasodilator metabolites and other mechanisms </a:t>
            </a:r>
            <a:r>
              <a:rPr lang="en-US" dirty="0" smtClean="0"/>
              <a:t>will modify </a:t>
            </a:r>
            <a:r>
              <a:rPr lang="en-US" dirty="0"/>
              <a:t>flow resistance through arterioles to suit metabolic </a:t>
            </a:r>
            <a:r>
              <a:rPr lang="en-US" dirty="0" smtClean="0"/>
              <a:t>demand.</a:t>
            </a:r>
            <a:endParaRPr lang="ar-IQ" dirty="0"/>
          </a:p>
        </p:txBody>
      </p:sp>
    </p:spTree>
    <p:extLst>
      <p:ext uri="{BB962C8B-B14F-4D97-AF65-F5344CB8AC3E}">
        <p14:creationId xmlns:p14="http://schemas.microsoft.com/office/powerpoint/2010/main" val="331692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lgn="l" rtl="0"/>
            <a:r>
              <a:rPr lang="en-US" dirty="0"/>
              <a:t>Across the whole body the effect of those mechanisms is to make Total </a:t>
            </a:r>
            <a:r>
              <a:rPr lang="en-US" dirty="0" smtClean="0"/>
              <a:t>Peripheral Resistance </a:t>
            </a:r>
            <a:r>
              <a:rPr lang="en-US" dirty="0"/>
              <a:t>inversely proportioned to the body's need for blood flow.</a:t>
            </a:r>
          </a:p>
          <a:p>
            <a:pPr algn="l" rtl="0"/>
            <a:r>
              <a:rPr lang="en-US" dirty="0"/>
              <a:t>If the system is to be demand-led and stable, then when TPR changes and tends to </a:t>
            </a:r>
            <a:r>
              <a:rPr lang="en-US" dirty="0" smtClean="0"/>
              <a:t>alter arterial </a:t>
            </a:r>
            <a:r>
              <a:rPr lang="en-US" dirty="0"/>
              <a:t>and venous pressure, the heart must change its pumping action to correct </a:t>
            </a:r>
            <a:r>
              <a:rPr lang="en-US" dirty="0" smtClean="0"/>
              <a:t>those disturbances</a:t>
            </a:r>
            <a:r>
              <a:rPr lang="en-US" dirty="0"/>
              <a:t>.</a:t>
            </a:r>
          </a:p>
          <a:p>
            <a:pPr algn="l" rtl="0"/>
            <a:r>
              <a:rPr lang="en-US" dirty="0"/>
              <a:t>This will be achieved if the heart responds to rises in venous pressure and falls in arterial pressure by increasing its output. In this lecture we will consider the mechanisms whichensure that this occurs in the healthy individual.</a:t>
            </a:r>
            <a:endParaRPr lang="ar-IQ" dirty="0"/>
          </a:p>
        </p:txBody>
      </p:sp>
    </p:spTree>
    <p:extLst>
      <p:ext uri="{BB962C8B-B14F-4D97-AF65-F5344CB8AC3E}">
        <p14:creationId xmlns:p14="http://schemas.microsoft.com/office/powerpoint/2010/main" val="157282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82296" indent="0" algn="ctr" rtl="0">
              <a:buNone/>
            </a:pPr>
            <a:r>
              <a:rPr lang="en-US" b="1" dirty="0"/>
              <a:t>Factors affecting Cardiac </a:t>
            </a:r>
            <a:r>
              <a:rPr lang="en-US" b="1" dirty="0" smtClean="0"/>
              <a:t>Output</a:t>
            </a:r>
          </a:p>
          <a:p>
            <a:pPr marL="82296" indent="0" algn="ctr" rtl="0">
              <a:buNone/>
            </a:pPr>
            <a:endParaRPr lang="en-US" b="1" dirty="0"/>
          </a:p>
          <a:p>
            <a:pPr algn="l" rtl="0"/>
            <a:r>
              <a:rPr lang="en-US" dirty="0"/>
              <a:t>The cardiac output is the product of stroke volume and heart rate. Stroke Volume is </a:t>
            </a:r>
            <a:r>
              <a:rPr lang="en-US" dirty="0" smtClean="0"/>
              <a:t>the difference </a:t>
            </a:r>
            <a:r>
              <a:rPr lang="en-US" dirty="0"/>
              <a:t>between end diastolic volume and end systolic volume.</a:t>
            </a:r>
          </a:p>
          <a:p>
            <a:pPr algn="l" rtl="0"/>
            <a:r>
              <a:rPr lang="en-US" dirty="0"/>
              <a:t>End diastolic volume is determined by the filling of the heart. During diastole the ventricles fillas the venous pressure drives blood into them. As they fill so the passive stretch of the ventricular wall causes intra ventricular pressure to rise, until it matches venous pressure,when no more filling will occur. Within limits, the higher the venous pressure, the more the ventricle will fill in diastole.</a:t>
            </a:r>
            <a:endParaRPr lang="ar-IQ" dirty="0"/>
          </a:p>
        </p:txBody>
      </p:sp>
    </p:spTree>
    <p:extLst>
      <p:ext uri="{BB962C8B-B14F-4D97-AF65-F5344CB8AC3E}">
        <p14:creationId xmlns:p14="http://schemas.microsoft.com/office/powerpoint/2010/main" val="1993589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l" rtl="0"/>
            <a:r>
              <a:rPr lang="en-US" dirty="0"/>
              <a:t>End systolic volume increases if venous pressure increases.</a:t>
            </a:r>
          </a:p>
          <a:p>
            <a:pPr algn="l" rtl="0"/>
            <a:r>
              <a:rPr lang="en-US" dirty="0"/>
              <a:t>End systolic volume is determined by how much the ventricle contracts during systole. All myocardial cells normally contract, so active tension is changed by factors which act directly upon individual myocardial cells. These factors may be mechanical or chemical.</a:t>
            </a:r>
            <a:endParaRPr lang="ar-IQ" dirty="0"/>
          </a:p>
        </p:txBody>
      </p:sp>
    </p:spTree>
    <p:extLst>
      <p:ext uri="{BB962C8B-B14F-4D97-AF65-F5344CB8AC3E}">
        <p14:creationId xmlns:p14="http://schemas.microsoft.com/office/powerpoint/2010/main" val="314472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marL="82296" indent="0" algn="ctr" rtl="0">
              <a:buNone/>
            </a:pPr>
            <a:r>
              <a:rPr lang="en-US" b="1" dirty="0"/>
              <a:t>Mechanical </a:t>
            </a:r>
            <a:r>
              <a:rPr lang="en-US" b="1" dirty="0" smtClean="0"/>
              <a:t>factors</a:t>
            </a:r>
          </a:p>
          <a:p>
            <a:pPr marL="82296" indent="0" algn="ctr" rtl="0">
              <a:buNone/>
            </a:pPr>
            <a:endParaRPr lang="en-US" dirty="0"/>
          </a:p>
          <a:p>
            <a:pPr algn="l" rtl="0"/>
            <a:r>
              <a:rPr lang="en-US" dirty="0"/>
              <a:t>Because of the operation of the valves in the heart the mechanical forces acting on </a:t>
            </a:r>
            <a:r>
              <a:rPr lang="en-US" dirty="0" smtClean="0"/>
              <a:t>the </a:t>
            </a:r>
          </a:p>
          <a:p>
            <a:pPr algn="l" rtl="0"/>
            <a:r>
              <a:rPr lang="en-US" dirty="0" smtClean="0"/>
              <a:t>myocardium </a:t>
            </a:r>
            <a:r>
              <a:rPr lang="en-US" dirty="0"/>
              <a:t>are different in diastole and systole. In diastole the ventricle is connected to the veins, so venous pressure determines the end diastolic stretch or 'pre-load' on the</a:t>
            </a:r>
          </a:p>
          <a:p>
            <a:pPr algn="l" rtl="0"/>
            <a:r>
              <a:rPr lang="en-US" dirty="0"/>
              <a:t>myocardium. Once systole begins the ventricles are isolated from the veins but connected to the arteries, and the force necessary to expel blood into the arteries or the 'after-load' determines what happens during systole. Pre-load and after-load may vary independently.</a:t>
            </a:r>
          </a:p>
          <a:p>
            <a:pPr algn="l" rtl="0"/>
            <a:r>
              <a:rPr lang="en-US" dirty="0"/>
              <a:t>Like all muscles, if the myocardium is stretched before a contraction (i.e. the 'pre-load' isincreased) then, within limits, it will contract harder during the following systole. Therefore </a:t>
            </a:r>
            <a:r>
              <a:rPr lang="en-US" dirty="0" smtClean="0"/>
              <a:t>if all </a:t>
            </a:r>
            <a:r>
              <a:rPr lang="en-US" dirty="0"/>
              <a:t>other things are equal, increases in venous pressure (and therefore in end </a:t>
            </a:r>
            <a:r>
              <a:rPr lang="en-US" dirty="0" smtClean="0"/>
              <a:t>diastolic volume</a:t>
            </a:r>
            <a:r>
              <a:rPr lang="en-US" dirty="0"/>
              <a:t>) will lead to increases in stroke volume. This is 'Starlings law' of the heart and can be summarised simply - </a:t>
            </a:r>
            <a:r>
              <a:rPr lang="en-US" b="1" dirty="0"/>
              <a:t>More in: More out.</a:t>
            </a:r>
            <a:endParaRPr lang="ar-IQ" b="1" dirty="0"/>
          </a:p>
        </p:txBody>
      </p:sp>
    </p:spTree>
    <p:extLst>
      <p:ext uri="{BB962C8B-B14F-4D97-AF65-F5344CB8AC3E}">
        <p14:creationId xmlns:p14="http://schemas.microsoft.com/office/powerpoint/2010/main" val="4103082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lgn="l" rtl="0"/>
            <a:r>
              <a:rPr lang="en-US" dirty="0"/>
              <a:t>After-load determines the effect of a given force of contraction during systole. If it is easy to eject blood (i.e. blood can leave the arteries easily via the total peripheral resistance), then the volume in the ventricle will fall a lot in systole, but pressure will rise only a </a:t>
            </a:r>
            <a:r>
              <a:rPr lang="en-US" dirty="0" smtClean="0"/>
              <a:t>little.</a:t>
            </a:r>
          </a:p>
          <a:p>
            <a:pPr algn="l" rtl="0"/>
            <a:r>
              <a:rPr lang="en-US" dirty="0"/>
              <a:t>Therefore, falls in TPR increase stroke volume by reducing after-load. If it is difficult to eject blood, because blood will not readily leave the arteries (TPR high), then the stroke volume will be less, but a much higher pressure will be generated.</a:t>
            </a:r>
            <a:endParaRPr lang="ar-IQ" dirty="0"/>
          </a:p>
        </p:txBody>
      </p:sp>
    </p:spTree>
    <p:extLst>
      <p:ext uri="{BB962C8B-B14F-4D97-AF65-F5344CB8AC3E}">
        <p14:creationId xmlns:p14="http://schemas.microsoft.com/office/powerpoint/2010/main" val="4161960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l" rtl="0"/>
            <a:r>
              <a:rPr lang="en-US" dirty="0" smtClean="0"/>
              <a:t>Rises </a:t>
            </a:r>
            <a:r>
              <a:rPr lang="en-US" dirty="0"/>
              <a:t>in venous pressure lead to increased stroke volume</a:t>
            </a:r>
          </a:p>
          <a:p>
            <a:pPr algn="l" rtl="0"/>
            <a:r>
              <a:rPr lang="en-US" dirty="0" smtClean="0"/>
              <a:t>Falls </a:t>
            </a:r>
            <a:r>
              <a:rPr lang="en-US" dirty="0"/>
              <a:t>in total peripheral resistance lead to increased stroke volume.</a:t>
            </a:r>
            <a:endParaRPr lang="ar-IQ" dirty="0"/>
          </a:p>
        </p:txBody>
      </p:sp>
    </p:spTree>
    <p:extLst>
      <p:ext uri="{BB962C8B-B14F-4D97-AF65-F5344CB8AC3E}">
        <p14:creationId xmlns:p14="http://schemas.microsoft.com/office/powerpoint/2010/main" val="3587215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82296" indent="0" algn="ctr" rtl="0">
              <a:buNone/>
            </a:pPr>
            <a:r>
              <a:rPr lang="en-US" dirty="0"/>
              <a:t>Chemical </a:t>
            </a:r>
            <a:r>
              <a:rPr lang="en-US" dirty="0" smtClean="0"/>
              <a:t>factors</a:t>
            </a:r>
          </a:p>
          <a:p>
            <a:pPr marL="82296" indent="0" algn="ctr" rtl="0">
              <a:buNone/>
            </a:pPr>
            <a:endParaRPr lang="en-US" dirty="0"/>
          </a:p>
          <a:p>
            <a:pPr algn="l" rtl="0"/>
            <a:r>
              <a:rPr lang="en-US" dirty="0"/>
              <a:t>The force of contraction of the ventricle always varies with pre-load, but the slope of </a:t>
            </a:r>
            <a:r>
              <a:rPr lang="en-US" dirty="0" smtClean="0"/>
              <a:t>this relationship </a:t>
            </a:r>
            <a:r>
              <a:rPr lang="en-US" dirty="0"/>
              <a:t>- the contractility can be affected by neuro-transmitters, hormones, or </a:t>
            </a:r>
            <a:r>
              <a:rPr lang="en-US" dirty="0" smtClean="0"/>
              <a:t>drugs  acting </a:t>
            </a:r>
            <a:r>
              <a:rPr lang="en-US" dirty="0"/>
              <a:t>on the myocardium.</a:t>
            </a:r>
          </a:p>
          <a:p>
            <a:pPr algn="l" rtl="0"/>
            <a:r>
              <a:rPr lang="en-US" dirty="0"/>
              <a:t>Noradrenaline and adrenaline increase contractility - a 'positive inotropic' effect. So </a:t>
            </a:r>
            <a:r>
              <a:rPr lang="en-US" dirty="0" smtClean="0"/>
              <a:t>increases in </a:t>
            </a:r>
            <a:r>
              <a:rPr lang="en-US" dirty="0"/>
              <a:t>sympathetic activity will increase stroke volume at a given pre-load and after-load</a:t>
            </a:r>
            <a:endParaRPr lang="ar-IQ" dirty="0"/>
          </a:p>
        </p:txBody>
      </p:sp>
    </p:spTree>
    <p:extLst>
      <p:ext uri="{BB962C8B-B14F-4D97-AF65-F5344CB8AC3E}">
        <p14:creationId xmlns:p14="http://schemas.microsoft.com/office/powerpoint/2010/main" val="122722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lgn="ctr" rtl="0"/>
            <a:endParaRPr lang="en-US" dirty="0" smtClean="0"/>
          </a:p>
          <a:p>
            <a:pPr marL="82296" indent="0" algn="ctr" rtl="0">
              <a:buNone/>
            </a:pPr>
            <a:r>
              <a:rPr lang="en-US" dirty="0" smtClean="0"/>
              <a:t>Factors </a:t>
            </a:r>
            <a:r>
              <a:rPr lang="en-US" dirty="0"/>
              <a:t>affecting heart rate</a:t>
            </a:r>
          </a:p>
          <a:p>
            <a:pPr algn="l" rtl="0"/>
            <a:r>
              <a:rPr lang="en-US" dirty="0"/>
              <a:t>The frequency of firing of the pacemaker cells in the sino-atrial node is affected </a:t>
            </a:r>
            <a:r>
              <a:rPr lang="en-US" dirty="0" smtClean="0"/>
              <a:t>by neurotransmitters </a:t>
            </a:r>
            <a:r>
              <a:rPr lang="en-US" dirty="0"/>
              <a:t>from both the sympathetic and parasympathetic branch of the autonomicnervous system. Sympathetic activity increases heart rate, parasympathetic decreases it. Atrest parasympathetic activity predominates, so increases in heart rate up to about 100 bpmare produced by turning off the parasympathetic control, rises about 100 bpm (up to a max. around 200 bpm in the young) are produced by sympathetic stimulation.</a:t>
            </a:r>
          </a:p>
          <a:p>
            <a:pPr algn="l" rtl="0"/>
            <a:r>
              <a:rPr lang="en-US" dirty="0"/>
              <a:t>The autonomic nervous system can therefore influence cardiac output by changing heart rate (parasympathetic and sympathetic branch) and contractility (sympathetic branch).</a:t>
            </a:r>
            <a:endParaRPr lang="ar-IQ" dirty="0"/>
          </a:p>
        </p:txBody>
      </p:sp>
    </p:spTree>
    <p:extLst>
      <p:ext uri="{BB962C8B-B14F-4D97-AF65-F5344CB8AC3E}">
        <p14:creationId xmlns:p14="http://schemas.microsoft.com/office/powerpoint/2010/main" val="2758999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The main factor influencing autonomic control of the heart is the activity of </a:t>
            </a:r>
            <a:r>
              <a:rPr lang="en-US" dirty="0" smtClean="0"/>
              <a:t>baroreceptors which </a:t>
            </a:r>
            <a:r>
              <a:rPr lang="en-US" dirty="0"/>
              <a:t>monitor arterial blood pressure. Stretch receptors in the walls of the aorta and the carotid sinus at the bifurcation of the common carotid artery detect changes in arterial blood pressure. This information is released to the medulla in the brain, where collections </a:t>
            </a:r>
            <a:r>
              <a:rPr lang="en-US" dirty="0" smtClean="0"/>
              <a:t>of neurones </a:t>
            </a:r>
            <a:r>
              <a:rPr lang="en-US" dirty="0"/>
              <a:t>- the 'cardiovascular centres' modify the behaviour of the heart and circulation via the autonomic nervous system. Falls in arterial pressure lead to rises in heart rate and contractility.</a:t>
            </a:r>
          </a:p>
          <a:p>
            <a:pPr algn="l" rtl="0"/>
            <a:r>
              <a:rPr lang="en-US" dirty="0"/>
              <a:t>baroreceptors ensure that if arterial pressure falls both heart rate and stroke volume tend to </a:t>
            </a:r>
            <a:r>
              <a:rPr lang="en-US" dirty="0" smtClean="0"/>
              <a:t>rise</a:t>
            </a:r>
          </a:p>
          <a:p>
            <a:pPr algn="l" rtl="0"/>
            <a:r>
              <a:rPr lang="en-US" dirty="0"/>
              <a:t>There is also a minor effect of venous pressure (detected by stretch receptors in the atria and great veins) on heart rate - if venous pressure rises, then heart rate rises (the 'Bainbridge reflex').</a:t>
            </a:r>
            <a:endParaRPr lang="ar-IQ" dirty="0"/>
          </a:p>
        </p:txBody>
      </p:sp>
    </p:spTree>
    <p:extLst>
      <p:ext uri="{BB962C8B-B14F-4D97-AF65-F5344CB8AC3E}">
        <p14:creationId xmlns:p14="http://schemas.microsoft.com/office/powerpoint/2010/main" val="1340611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5100" y="990600"/>
            <a:ext cx="749935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61112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171</TotalTime>
  <Words>1426</Words>
  <Application>Microsoft Office PowerPoint</Application>
  <PresentationFormat>On-screen Show (4:3)</PresentationFormat>
  <Paragraphs>58</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Solstice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karenpc</dc:creator>
  <cp:lastModifiedBy>karenpc</cp:lastModifiedBy>
  <cp:revision>31</cp:revision>
  <dcterms:created xsi:type="dcterms:W3CDTF">2006-08-16T00:00:00Z</dcterms:created>
  <dcterms:modified xsi:type="dcterms:W3CDTF">2019-10-16T00:17:29Z</dcterms:modified>
</cp:coreProperties>
</file>