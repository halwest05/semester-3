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5"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40" autoAdjust="0"/>
  </p:normalViewPr>
  <p:slideViewPr>
    <p:cSldViewPr snapToGrid="0">
      <p:cViewPr varScale="1">
        <p:scale>
          <a:sx n="63" d="100"/>
          <a:sy n="63" d="100"/>
        </p:scale>
        <p:origin x="9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924143-812C-4F16-938D-AE104CFF65EB}" type="datetimeFigureOut">
              <a:rPr lang="en-GB" smtClean="0"/>
              <a:t>08/01/2024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F1EEDA-1FCF-42AA-BFCD-50B1EA7F1F14}" type="slidenum">
              <a:rPr lang="en-GB" smtClean="0"/>
              <a:t>‹#›</a:t>
            </a:fld>
            <a:endParaRPr lang="en-GB"/>
          </a:p>
        </p:txBody>
      </p:sp>
    </p:spTree>
    <p:extLst>
      <p:ext uri="{BB962C8B-B14F-4D97-AF65-F5344CB8AC3E}">
        <p14:creationId xmlns:p14="http://schemas.microsoft.com/office/powerpoint/2010/main" val="2874036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0F1EEDA-1FCF-42AA-BFCD-50B1EA7F1F14}" type="slidenum">
              <a:rPr lang="en-GB" smtClean="0"/>
              <a:t>4</a:t>
            </a:fld>
            <a:endParaRPr lang="en-GB"/>
          </a:p>
        </p:txBody>
      </p:sp>
    </p:spTree>
    <p:extLst>
      <p:ext uri="{BB962C8B-B14F-4D97-AF65-F5344CB8AC3E}">
        <p14:creationId xmlns:p14="http://schemas.microsoft.com/office/powerpoint/2010/main" val="4064321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0F1EEDA-1FCF-42AA-BFCD-50B1EA7F1F14}" type="slidenum">
              <a:rPr lang="en-GB" smtClean="0"/>
              <a:t>13</a:t>
            </a:fld>
            <a:endParaRPr lang="en-GB"/>
          </a:p>
        </p:txBody>
      </p:sp>
    </p:spTree>
    <p:extLst>
      <p:ext uri="{BB962C8B-B14F-4D97-AF65-F5344CB8AC3E}">
        <p14:creationId xmlns:p14="http://schemas.microsoft.com/office/powerpoint/2010/main" val="884814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AEFE3E-9AB2-4064-88F1-DB58FE1DF6E5}" type="datetimeFigureOut">
              <a:rPr lang="en-GB" smtClean="0"/>
              <a:t>08/01/2024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1692529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AEFE3E-9AB2-4064-88F1-DB58FE1DF6E5}" type="datetimeFigureOut">
              <a:rPr lang="en-GB" smtClean="0"/>
              <a:t>08/01/2024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70111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AEFE3E-9AB2-4064-88F1-DB58FE1DF6E5}" type="datetimeFigureOut">
              <a:rPr lang="en-GB" smtClean="0"/>
              <a:t>08/01/2024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3111228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AEFE3E-9AB2-4064-88F1-DB58FE1DF6E5}" type="datetimeFigureOut">
              <a:rPr lang="en-GB" smtClean="0"/>
              <a:t>08/01/2024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128814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AEFE3E-9AB2-4064-88F1-DB58FE1DF6E5}" type="datetimeFigureOut">
              <a:rPr lang="en-GB" smtClean="0"/>
              <a:t>08/01/2024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4003813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AEFE3E-9AB2-4064-88F1-DB58FE1DF6E5}" type="datetimeFigureOut">
              <a:rPr lang="en-GB" smtClean="0"/>
              <a:t>08/01/2024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355889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AEFE3E-9AB2-4064-88F1-DB58FE1DF6E5}" type="datetimeFigureOut">
              <a:rPr lang="en-GB" smtClean="0"/>
              <a:t>08/01/2024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3741980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AEFE3E-9AB2-4064-88F1-DB58FE1DF6E5}" type="datetimeFigureOut">
              <a:rPr lang="en-GB" smtClean="0"/>
              <a:t>08/01/2024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3882676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AEFE3E-9AB2-4064-88F1-DB58FE1DF6E5}" type="datetimeFigureOut">
              <a:rPr lang="en-GB" smtClean="0"/>
              <a:t>08/01/2024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945318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AEFE3E-9AB2-4064-88F1-DB58FE1DF6E5}" type="datetimeFigureOut">
              <a:rPr lang="en-GB" smtClean="0"/>
              <a:t>08/01/2024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1274328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AEFE3E-9AB2-4064-88F1-DB58FE1DF6E5}" type="datetimeFigureOut">
              <a:rPr lang="en-GB" smtClean="0"/>
              <a:t>08/01/2024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519350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AEFE3E-9AB2-4064-88F1-DB58FE1DF6E5}" type="datetimeFigureOut">
              <a:rPr lang="en-GB" smtClean="0"/>
              <a:t>08/01/2024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A5989B1-745D-449B-8BDE-E1EA60F8902E}" type="slidenum">
              <a:rPr lang="en-GB" smtClean="0"/>
              <a:t>‹#›</a:t>
            </a:fld>
            <a:endParaRPr lang="en-GB"/>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23733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AEFE3E-9AB2-4064-88F1-DB58FE1DF6E5}" type="datetimeFigureOut">
              <a:rPr lang="en-GB" smtClean="0"/>
              <a:t>08/01/2024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7624422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AAEFE3E-9AB2-4064-88F1-DB58FE1DF6E5}" type="datetimeFigureOut">
              <a:rPr lang="en-GB" smtClean="0"/>
              <a:t>08/01/2024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3825890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AAEFE3E-9AB2-4064-88F1-DB58FE1DF6E5}" type="datetimeFigureOut">
              <a:rPr lang="en-GB" smtClean="0"/>
              <a:t>08/01/2024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2165377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AEFE3E-9AB2-4064-88F1-DB58FE1DF6E5}" type="datetimeFigureOut">
              <a:rPr lang="en-GB" smtClean="0"/>
              <a:t>08/01/2024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11566244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AEFE3E-9AB2-4064-88F1-DB58FE1DF6E5}" type="datetimeFigureOut">
              <a:rPr lang="en-GB" smtClean="0"/>
              <a:t>08/01/2024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A5989B1-745D-449B-8BDE-E1EA60F8902E}" type="slidenum">
              <a:rPr lang="en-GB" smtClean="0"/>
              <a:t>‹#›</a:t>
            </a:fld>
            <a:endParaRPr lang="en-GB"/>
          </a:p>
        </p:txBody>
      </p:sp>
    </p:spTree>
    <p:extLst>
      <p:ext uri="{BB962C8B-B14F-4D97-AF65-F5344CB8AC3E}">
        <p14:creationId xmlns:p14="http://schemas.microsoft.com/office/powerpoint/2010/main" val="440035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AAEFE3E-9AB2-4064-88F1-DB58FE1DF6E5}" type="datetimeFigureOut">
              <a:rPr lang="en-GB" smtClean="0"/>
              <a:t>08/01/2024</a:t>
            </a:fld>
            <a:endParaRPr lang="en-GB"/>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A5989B1-745D-449B-8BDE-E1EA60F8902E}" type="slidenum">
              <a:rPr lang="en-GB" smtClean="0"/>
              <a:t>‹#›</a:t>
            </a:fld>
            <a:endParaRPr lang="en-GB"/>
          </a:p>
        </p:txBody>
      </p:sp>
    </p:spTree>
    <p:extLst>
      <p:ext uri="{BB962C8B-B14F-4D97-AF65-F5344CB8AC3E}">
        <p14:creationId xmlns:p14="http://schemas.microsoft.com/office/powerpoint/2010/main" val="958773152"/>
      </p:ext>
    </p:extLst>
  </p:cSld>
  <p:clrMap bg1="dk1" tx1="lt1" bg2="dk2" tx2="lt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619E29-9601-B530-C935-20D996FE2269}"/>
              </a:ext>
            </a:extLst>
          </p:cNvPr>
          <p:cNvSpPr>
            <a:spLocks noGrp="1"/>
          </p:cNvSpPr>
          <p:nvPr>
            <p:ph type="subTitle" idx="1"/>
          </p:nvPr>
        </p:nvSpPr>
        <p:spPr>
          <a:xfrm>
            <a:off x="243840" y="502920"/>
            <a:ext cx="11948160" cy="5577840"/>
          </a:xfrm>
        </p:spPr>
        <p:txBody>
          <a:bodyPr>
            <a:normAutofit fontScale="92500" lnSpcReduction="10000"/>
          </a:bodyPr>
          <a:lstStyle/>
          <a:p>
            <a:endParaRPr lang="en-US" b="1" dirty="0"/>
          </a:p>
          <a:p>
            <a:endParaRPr lang="en-US" b="1" dirty="0"/>
          </a:p>
          <a:p>
            <a:r>
              <a:rPr lang="en-US" sz="4000" b="1" dirty="0" err="1">
                <a:solidFill>
                  <a:schemeClr val="tx2"/>
                </a:solidFill>
              </a:rPr>
              <a:t>Electocardiography</a:t>
            </a:r>
            <a:endParaRPr lang="en-US" sz="4000" b="1" dirty="0">
              <a:solidFill>
                <a:schemeClr val="tx2"/>
              </a:solidFill>
            </a:endParaRPr>
          </a:p>
          <a:p>
            <a:r>
              <a:rPr lang="en-GB" sz="4000" dirty="0"/>
              <a:t>Prepared by </a:t>
            </a:r>
          </a:p>
          <a:p>
            <a:r>
              <a:rPr lang="en-GB" sz="4000" dirty="0" err="1"/>
              <a:t>Dr.</a:t>
            </a:r>
            <a:r>
              <a:rPr lang="en-GB" sz="4000" dirty="0"/>
              <a:t> Adnan T. Al </a:t>
            </a:r>
            <a:r>
              <a:rPr lang="en-GB" sz="4000" dirty="0" err="1"/>
              <a:t>Bajalan</a:t>
            </a:r>
            <a:r>
              <a:rPr lang="en-GB" sz="4000" dirty="0"/>
              <a:t> </a:t>
            </a:r>
          </a:p>
          <a:p>
            <a:r>
              <a:rPr lang="en-GB" sz="4000" dirty="0"/>
              <a:t>M.B.CH.B (Suli Univ.) , MSc in cardiology (Ain shams univ. ) </a:t>
            </a:r>
          </a:p>
          <a:p>
            <a:r>
              <a:rPr lang="en-GB" sz="4000" dirty="0"/>
              <a:t>2023-2024</a:t>
            </a:r>
          </a:p>
          <a:p>
            <a:endParaRPr lang="en-US" sz="4000" b="1" dirty="0">
              <a:solidFill>
                <a:schemeClr val="accent1">
                  <a:lumMod val="75000"/>
                </a:schemeClr>
              </a:solidFill>
            </a:endParaRPr>
          </a:p>
        </p:txBody>
      </p:sp>
    </p:spTree>
    <p:extLst>
      <p:ext uri="{BB962C8B-B14F-4D97-AF65-F5344CB8AC3E}">
        <p14:creationId xmlns:p14="http://schemas.microsoft.com/office/powerpoint/2010/main" val="28349344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6F7EE1C-1F32-BAD4-EF47-33915B1606BD}"/>
              </a:ext>
            </a:extLst>
          </p:cNvPr>
          <p:cNvPicPr>
            <a:picLocks noGrp="1" noChangeAspect="1"/>
          </p:cNvPicPr>
          <p:nvPr>
            <p:ph idx="1"/>
          </p:nvPr>
        </p:nvPicPr>
        <p:blipFill>
          <a:blip r:embed="rId2"/>
          <a:stretch>
            <a:fillRect/>
          </a:stretch>
        </p:blipFill>
        <p:spPr>
          <a:xfrm>
            <a:off x="862818" y="1261402"/>
            <a:ext cx="9450610" cy="2396197"/>
          </a:xfrm>
        </p:spPr>
      </p:pic>
      <p:sp>
        <p:nvSpPr>
          <p:cNvPr id="11" name="TextBox 10">
            <a:extLst>
              <a:ext uri="{FF2B5EF4-FFF2-40B4-BE49-F238E27FC236}">
                <a16:creationId xmlns:a16="http://schemas.microsoft.com/office/drawing/2014/main" id="{8F1BE308-99D1-52D2-9E85-6343590F6ACC}"/>
              </a:ext>
            </a:extLst>
          </p:cNvPr>
          <p:cNvSpPr txBox="1"/>
          <p:nvPr/>
        </p:nvSpPr>
        <p:spPr>
          <a:xfrm>
            <a:off x="1397977" y="4119269"/>
            <a:ext cx="7571934" cy="1477328"/>
          </a:xfrm>
          <a:prstGeom prst="rect">
            <a:avLst/>
          </a:prstGeom>
          <a:noFill/>
        </p:spPr>
        <p:txBody>
          <a:bodyPr wrap="square">
            <a:spAutoFit/>
          </a:bodyPr>
          <a:lstStyle/>
          <a:p>
            <a:r>
              <a:rPr lang="en-US" dirty="0"/>
              <a:t>Figure 1:  </a:t>
            </a:r>
            <a:r>
              <a:rPr lang="en-US" b="1" dirty="0"/>
              <a:t>P</a:t>
            </a:r>
            <a:r>
              <a:rPr lang="en-US" dirty="0"/>
              <a:t>–</a:t>
            </a:r>
            <a:r>
              <a:rPr lang="en-US" b="1" dirty="0"/>
              <a:t>QRS</a:t>
            </a:r>
            <a:r>
              <a:rPr lang="en-US" dirty="0"/>
              <a:t>–</a:t>
            </a:r>
            <a:r>
              <a:rPr lang="en-US" b="1" dirty="0"/>
              <a:t>T</a:t>
            </a:r>
            <a:r>
              <a:rPr lang="en-US" dirty="0"/>
              <a:t> complex. </a:t>
            </a:r>
            <a:r>
              <a:rPr lang="en-US" b="1" dirty="0"/>
              <a:t>P</a:t>
            </a:r>
            <a:r>
              <a:rPr lang="en-US" dirty="0"/>
              <a:t> wave represents the atrial depolarization and includes a part of the AV nodal conduction. </a:t>
            </a:r>
            <a:r>
              <a:rPr lang="en-US" b="1" dirty="0"/>
              <a:t>PR</a:t>
            </a:r>
            <a:r>
              <a:rPr lang="en-US" dirty="0"/>
              <a:t> interval consists of P wave </a:t>
            </a:r>
          </a:p>
          <a:p>
            <a:r>
              <a:rPr lang="en-US" dirty="0"/>
              <a:t>and AV conduction. </a:t>
            </a:r>
            <a:r>
              <a:rPr lang="en-US" b="1" dirty="0"/>
              <a:t>QRS </a:t>
            </a:r>
            <a:r>
              <a:rPr lang="en-US" dirty="0"/>
              <a:t>complex represents ventricular depolarization. </a:t>
            </a:r>
            <a:r>
              <a:rPr lang="en-US" b="1" dirty="0"/>
              <a:t>ST–T</a:t>
            </a:r>
            <a:r>
              <a:rPr lang="en-US" dirty="0"/>
              <a:t> segments represent ventricular repolarization. The normal </a:t>
            </a:r>
            <a:r>
              <a:rPr lang="en-US" b="1" dirty="0"/>
              <a:t>U</a:t>
            </a:r>
            <a:r>
              <a:rPr lang="en-US" dirty="0"/>
              <a:t> wave is a diastolic wave related to the mechanical stretch of the myocardium .</a:t>
            </a:r>
          </a:p>
        </p:txBody>
      </p:sp>
    </p:spTree>
    <p:extLst>
      <p:ext uri="{BB962C8B-B14F-4D97-AF65-F5344CB8AC3E}">
        <p14:creationId xmlns:p14="http://schemas.microsoft.com/office/powerpoint/2010/main" val="1573463525"/>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DE8F27-3067-E154-85A8-73BCD9FE393B}"/>
              </a:ext>
            </a:extLst>
          </p:cNvPr>
          <p:cNvSpPr>
            <a:spLocks noGrp="1"/>
          </p:cNvSpPr>
          <p:nvPr>
            <p:ph idx="1"/>
          </p:nvPr>
        </p:nvSpPr>
        <p:spPr/>
        <p:txBody>
          <a:bodyPr/>
          <a:lstStyle/>
          <a:p>
            <a:pPr marL="0" indent="0">
              <a:buNone/>
            </a:pPr>
            <a:r>
              <a:rPr lang="en-US" u="sng" dirty="0"/>
              <a:t>Normal calibration</a:t>
            </a:r>
            <a:r>
              <a:rPr lang="en-US" dirty="0"/>
              <a:t>: </a:t>
            </a:r>
          </a:p>
          <a:p>
            <a:pPr marL="0" indent="0">
              <a:buNone/>
            </a:pPr>
            <a:endParaRPr lang="en-US" dirty="0"/>
          </a:p>
          <a:p>
            <a:pPr marL="0" indent="0">
              <a:buNone/>
            </a:pPr>
            <a:r>
              <a:rPr lang="en-US" dirty="0"/>
              <a:t>• Height of one small box =1 mm=0.1 mV. One big box =5 small boxes=0.5 mV. </a:t>
            </a:r>
          </a:p>
          <a:p>
            <a:pPr marL="0" indent="0">
              <a:buNone/>
            </a:pPr>
            <a:r>
              <a:rPr lang="en-US" dirty="0"/>
              <a:t>• Width of one small box =1 mm=0.04 seconds. One big box =5 small boxes=0.2 seconds (sweep speed: 25 mm/s). </a:t>
            </a:r>
            <a:endParaRPr lang="en-GB" dirty="0"/>
          </a:p>
          <a:p>
            <a:endParaRPr lang="en-GB" dirty="0"/>
          </a:p>
        </p:txBody>
      </p:sp>
    </p:spTree>
    <p:extLst>
      <p:ext uri="{BB962C8B-B14F-4D97-AF65-F5344CB8AC3E}">
        <p14:creationId xmlns:p14="http://schemas.microsoft.com/office/powerpoint/2010/main" val="1771940144"/>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4FA3FA-691F-0390-F33F-ED267598C557}"/>
              </a:ext>
            </a:extLst>
          </p:cNvPr>
          <p:cNvPicPr>
            <a:picLocks noGrp="1" noChangeAspect="1"/>
          </p:cNvPicPr>
          <p:nvPr>
            <p:ph idx="1"/>
          </p:nvPr>
        </p:nvPicPr>
        <p:blipFill>
          <a:blip r:embed="rId3"/>
          <a:stretch>
            <a:fillRect/>
          </a:stretch>
        </p:blipFill>
        <p:spPr>
          <a:xfrm>
            <a:off x="716280" y="1074672"/>
            <a:ext cx="4779713" cy="4220413"/>
          </a:xfrm>
        </p:spPr>
      </p:pic>
      <p:sp>
        <p:nvSpPr>
          <p:cNvPr id="7" name="TextBox 6">
            <a:extLst>
              <a:ext uri="{FF2B5EF4-FFF2-40B4-BE49-F238E27FC236}">
                <a16:creationId xmlns:a16="http://schemas.microsoft.com/office/drawing/2014/main" id="{51CAE09D-485C-A514-D5C0-10ED1E2B5426}"/>
              </a:ext>
            </a:extLst>
          </p:cNvPr>
          <p:cNvSpPr txBox="1"/>
          <p:nvPr/>
        </p:nvSpPr>
        <p:spPr>
          <a:xfrm>
            <a:off x="5795890" y="747827"/>
            <a:ext cx="5679830" cy="4524315"/>
          </a:xfrm>
          <a:prstGeom prst="rect">
            <a:avLst/>
          </a:prstGeom>
          <a:noFill/>
        </p:spPr>
        <p:txBody>
          <a:bodyPr wrap="square">
            <a:spAutoFit/>
          </a:bodyPr>
          <a:lstStyle/>
          <a:p>
            <a:r>
              <a:rPr lang="en-US" b="1" dirty="0"/>
              <a:t>Figure 2:  </a:t>
            </a:r>
            <a:r>
              <a:rPr lang="en-US" dirty="0"/>
              <a:t>Illustration of how the electrical depolarization spreads in the heart (frontal plane, bipolar limb leads). The blue arrows represent the left‐to‐ right septal depolarization. The gray arrow is the main axis of depolarization along the septum towards the LV and apex. The black arrows represent the late depolarization spreading towards the base. The QRS deflections that correspond to each one of these depolarizations are colored likewise. The QRS complex in each lead represents how the electrical activity is spreading in relation to the lead. The septal depolarization (blue) explains the normal small q wave seen in normal individuals in lead I, other limb leads (sometimes), and left precordial leads. The basal depolarization explains the late “s” wave in those leads. The main deflection (big R or big S) is explained by the main depolarization spread. </a:t>
            </a:r>
            <a:endParaRPr lang="en-GB" dirty="0"/>
          </a:p>
        </p:txBody>
      </p:sp>
    </p:spTree>
    <p:extLst>
      <p:ext uri="{BB962C8B-B14F-4D97-AF65-F5344CB8AC3E}">
        <p14:creationId xmlns:p14="http://schemas.microsoft.com/office/powerpoint/2010/main" val="35474804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4CBFAAD-1B2A-2A42-B7FA-AFF684237176}"/>
              </a:ext>
            </a:extLst>
          </p:cNvPr>
          <p:cNvPicPr>
            <a:picLocks noGrp="1" noChangeAspect="1"/>
          </p:cNvPicPr>
          <p:nvPr>
            <p:ph idx="1"/>
          </p:nvPr>
        </p:nvPicPr>
        <p:blipFill>
          <a:blip r:embed="rId2"/>
          <a:stretch>
            <a:fillRect/>
          </a:stretch>
        </p:blipFill>
        <p:spPr>
          <a:xfrm>
            <a:off x="304799" y="990600"/>
            <a:ext cx="5793029" cy="3368040"/>
          </a:xfrm>
        </p:spPr>
      </p:pic>
      <p:sp>
        <p:nvSpPr>
          <p:cNvPr id="7" name="TextBox 6">
            <a:extLst>
              <a:ext uri="{FF2B5EF4-FFF2-40B4-BE49-F238E27FC236}">
                <a16:creationId xmlns:a16="http://schemas.microsoft.com/office/drawing/2014/main" id="{6169307A-CE88-E1C2-367C-8382A7A7FE78}"/>
              </a:ext>
            </a:extLst>
          </p:cNvPr>
          <p:cNvSpPr txBox="1"/>
          <p:nvPr/>
        </p:nvSpPr>
        <p:spPr>
          <a:xfrm>
            <a:off x="6096000" y="1337161"/>
            <a:ext cx="5120640" cy="1754326"/>
          </a:xfrm>
          <a:prstGeom prst="rect">
            <a:avLst/>
          </a:prstGeom>
          <a:noFill/>
        </p:spPr>
        <p:txBody>
          <a:bodyPr wrap="square">
            <a:spAutoFit/>
          </a:bodyPr>
          <a:lstStyle/>
          <a:p>
            <a:r>
              <a:rPr lang="en-US" b="1" dirty="0"/>
              <a:t>Figure 3</a:t>
            </a:r>
            <a:r>
              <a:rPr lang="en-US" dirty="0"/>
              <a:t>:  Illustration of how electrical depolarization spreads in the heart (frontal plane, unipolar limb leads). In order to catch cardiac activity, the axis of the lead should traverse near the heart; as such, no cardiac activity is detected when both poles are placed on the legs. </a:t>
            </a:r>
            <a:endParaRPr lang="en-GB" dirty="0"/>
          </a:p>
        </p:txBody>
      </p:sp>
    </p:spTree>
    <p:extLst>
      <p:ext uri="{BB962C8B-B14F-4D97-AF65-F5344CB8AC3E}">
        <p14:creationId xmlns:p14="http://schemas.microsoft.com/office/powerpoint/2010/main" val="271370532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EA10E61-DB20-2C0C-549B-A8B549C69EE7}"/>
              </a:ext>
            </a:extLst>
          </p:cNvPr>
          <p:cNvPicPr>
            <a:picLocks noGrp="1" noChangeAspect="1"/>
          </p:cNvPicPr>
          <p:nvPr>
            <p:ph idx="1"/>
          </p:nvPr>
        </p:nvPicPr>
        <p:blipFill>
          <a:blip r:embed="rId2"/>
          <a:stretch>
            <a:fillRect/>
          </a:stretch>
        </p:blipFill>
        <p:spPr>
          <a:xfrm>
            <a:off x="162684" y="1310640"/>
            <a:ext cx="5772629" cy="3886200"/>
          </a:xfrm>
        </p:spPr>
      </p:pic>
      <p:sp>
        <p:nvSpPr>
          <p:cNvPr id="7" name="TextBox 6">
            <a:extLst>
              <a:ext uri="{FF2B5EF4-FFF2-40B4-BE49-F238E27FC236}">
                <a16:creationId xmlns:a16="http://schemas.microsoft.com/office/drawing/2014/main" id="{F66406A5-646F-13D3-9F4D-36BF201DFB07}"/>
              </a:ext>
            </a:extLst>
          </p:cNvPr>
          <p:cNvSpPr txBox="1"/>
          <p:nvPr/>
        </p:nvSpPr>
        <p:spPr>
          <a:xfrm>
            <a:off x="6096000" y="1569778"/>
            <a:ext cx="5709192" cy="2862322"/>
          </a:xfrm>
          <a:prstGeom prst="rect">
            <a:avLst/>
          </a:prstGeom>
          <a:noFill/>
        </p:spPr>
        <p:txBody>
          <a:bodyPr wrap="square">
            <a:spAutoFit/>
          </a:bodyPr>
          <a:lstStyle/>
          <a:p>
            <a:r>
              <a:rPr lang="en-US" b="1" dirty="0"/>
              <a:t>Figure 4</a:t>
            </a:r>
            <a:r>
              <a:rPr lang="en-US" dirty="0"/>
              <a:t>: Illustration of how electrical depolarization spreads in the heart (horizontal plane, unipolar precordial leads). V1 and V2 overlie the right heart and the septum, whereas V4 through V6 overlie the apex and the LV. The QRS complex starts as </a:t>
            </a:r>
            <a:r>
              <a:rPr lang="en-US" dirty="0" err="1"/>
              <a:t>rS</a:t>
            </a:r>
            <a:r>
              <a:rPr lang="en-US" dirty="0"/>
              <a:t> in leads V1 –V3 and progresses to </a:t>
            </a:r>
            <a:r>
              <a:rPr lang="en-US" dirty="0" err="1"/>
              <a:t>qRs</a:t>
            </a:r>
            <a:r>
              <a:rPr lang="en-US" dirty="0"/>
              <a:t> in the left leads. The small r in V1 –V2 and the small q past the transition zone (V4 –V6 ) represent septal depolarization. At the transition zone (e.g., V3 in this picture), the R wave represents septal depolarization and part of the main axis of depolarization. </a:t>
            </a:r>
            <a:endParaRPr lang="en-GB" dirty="0"/>
          </a:p>
        </p:txBody>
      </p:sp>
    </p:spTree>
    <p:extLst>
      <p:ext uri="{BB962C8B-B14F-4D97-AF65-F5344CB8AC3E}">
        <p14:creationId xmlns:p14="http://schemas.microsoft.com/office/powerpoint/2010/main" val="412677815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54835-CA54-B321-2958-B16533F4F132}"/>
              </a:ext>
            </a:extLst>
          </p:cNvPr>
          <p:cNvSpPr>
            <a:spLocks noGrp="1"/>
          </p:cNvSpPr>
          <p:nvPr>
            <p:ph idx="1"/>
          </p:nvPr>
        </p:nvSpPr>
        <p:spPr>
          <a:xfrm>
            <a:off x="838200" y="731521"/>
            <a:ext cx="10515600" cy="5445442"/>
          </a:xfrm>
        </p:spPr>
        <p:txBody>
          <a:bodyPr>
            <a:normAutofit fontScale="77500" lnSpcReduction="20000"/>
          </a:bodyPr>
          <a:lstStyle/>
          <a:p>
            <a:r>
              <a:rPr lang="en-US" dirty="0"/>
              <a:t>Since leads V1 and V2 overlie the right heart, any abnormality that makes electrical forces go towards the right heart makes QRS positive in V1 or V2 ,  this is the case in RBBB and RVH. </a:t>
            </a:r>
          </a:p>
          <a:p>
            <a:r>
              <a:rPr lang="en-US" dirty="0"/>
              <a:t>Conversely, any abnormality that makes electrical forces go towards the left makes QRS positive in V5 or V6 , this is the case in LBBB and LVH.</a:t>
            </a:r>
          </a:p>
          <a:p>
            <a:pPr marL="0" indent="0">
              <a:buNone/>
            </a:pPr>
            <a:r>
              <a:rPr lang="en-US" dirty="0"/>
              <a:t> </a:t>
            </a:r>
          </a:p>
          <a:p>
            <a:r>
              <a:rPr lang="en-US" dirty="0"/>
              <a:t>V1→4th intercostal space, right sternal border. </a:t>
            </a:r>
          </a:p>
          <a:p>
            <a:r>
              <a:rPr lang="en-US" dirty="0"/>
              <a:t>V2→4th intercostal space, left sternal border. </a:t>
            </a:r>
          </a:p>
          <a:p>
            <a:r>
              <a:rPr lang="en-US" dirty="0"/>
              <a:t>V4→5th intercostal space, midclavicular level. </a:t>
            </a:r>
          </a:p>
          <a:p>
            <a:r>
              <a:rPr lang="en-US" dirty="0"/>
              <a:t>V3→between V2 and V4 . </a:t>
            </a:r>
          </a:p>
          <a:p>
            <a:r>
              <a:rPr lang="en-US" dirty="0"/>
              <a:t>V5→5th space, anterior axillary line. </a:t>
            </a:r>
          </a:p>
          <a:p>
            <a:r>
              <a:rPr lang="en-US" dirty="0"/>
              <a:t>V6→5th space, midaxillary line. </a:t>
            </a:r>
          </a:p>
          <a:p>
            <a:r>
              <a:rPr lang="en-US" dirty="0"/>
              <a:t>V7→posterior axillary line</a:t>
            </a:r>
          </a:p>
          <a:p>
            <a:r>
              <a:rPr lang="en-US" dirty="0"/>
              <a:t>V9→paraspinal line </a:t>
            </a:r>
          </a:p>
          <a:p>
            <a:r>
              <a:rPr lang="en-US" dirty="0"/>
              <a:t>V8→between V7 </a:t>
            </a:r>
          </a:p>
          <a:p>
            <a:r>
              <a:rPr lang="en-US" dirty="0"/>
              <a:t>V9 (~ below the scapula)</a:t>
            </a:r>
            <a:endParaRPr lang="en-GB" dirty="0"/>
          </a:p>
        </p:txBody>
      </p:sp>
    </p:spTree>
    <p:extLst>
      <p:ext uri="{BB962C8B-B14F-4D97-AF65-F5344CB8AC3E}">
        <p14:creationId xmlns:p14="http://schemas.microsoft.com/office/powerpoint/2010/main" val="317232667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BD57F-4370-96BB-0C39-3E3A15A0994B}"/>
              </a:ext>
            </a:extLst>
          </p:cNvPr>
          <p:cNvSpPr>
            <a:spLocks noGrp="1"/>
          </p:cNvSpPr>
          <p:nvPr>
            <p:ph idx="1"/>
          </p:nvPr>
        </p:nvSpPr>
        <p:spPr>
          <a:xfrm>
            <a:off x="838200" y="563880"/>
            <a:ext cx="10515600" cy="5613083"/>
          </a:xfrm>
        </p:spPr>
        <p:txBody>
          <a:bodyPr>
            <a:normAutofit fontScale="62500" lnSpcReduction="20000"/>
          </a:bodyPr>
          <a:lstStyle/>
          <a:p>
            <a:pPr marL="0" indent="0">
              <a:buNone/>
            </a:pPr>
            <a:r>
              <a:rPr lang="en-US" b="1" dirty="0"/>
              <a:t> # Stepwise approach to ECG interpretation </a:t>
            </a:r>
            <a:r>
              <a:rPr lang="en-US" dirty="0"/>
              <a:t>The following steps are followed in ECG interpretation:</a:t>
            </a:r>
          </a:p>
          <a:p>
            <a:pPr marL="0" indent="0">
              <a:buNone/>
            </a:pPr>
            <a:r>
              <a:rPr lang="en-US" b="1" dirty="0"/>
              <a:t> 1. Rhythm</a:t>
            </a:r>
            <a:r>
              <a:rPr lang="en-US" dirty="0"/>
              <a:t>: look at QRS regularity and rate. </a:t>
            </a:r>
          </a:p>
          <a:p>
            <a:pPr marL="0" indent="0">
              <a:buNone/>
            </a:pPr>
            <a:r>
              <a:rPr lang="en-US" dirty="0"/>
              <a:t>           •Then look for P waves, and assess the P–QRS relationship. </a:t>
            </a:r>
          </a:p>
          <a:p>
            <a:pPr marL="0" indent="0">
              <a:buNone/>
            </a:pPr>
            <a:r>
              <a:rPr lang="en-US" dirty="0"/>
              <a:t>           • Determine if the rhythm is sinus (P [+] in I and II and [–] in </a:t>
            </a:r>
            <a:r>
              <a:rPr lang="en-US" dirty="0" err="1"/>
              <a:t>aVR</a:t>
            </a:r>
            <a:r>
              <a:rPr lang="en-US" dirty="0"/>
              <a:t>). </a:t>
            </a:r>
          </a:p>
          <a:p>
            <a:pPr marL="0" indent="0">
              <a:buNone/>
            </a:pPr>
            <a:r>
              <a:rPr lang="en-US" b="1" dirty="0"/>
              <a:t> 2</a:t>
            </a:r>
            <a:r>
              <a:rPr lang="en-US" dirty="0"/>
              <a:t>. </a:t>
            </a:r>
            <a:r>
              <a:rPr lang="en-US" b="1" dirty="0"/>
              <a:t>Determine QRS axis </a:t>
            </a:r>
            <a:r>
              <a:rPr lang="en-US" dirty="0"/>
              <a:t>in the frontal plane (leads I, II, and </a:t>
            </a:r>
            <a:r>
              <a:rPr lang="en-US" dirty="0" err="1"/>
              <a:t>aVF</a:t>
            </a:r>
            <a:r>
              <a:rPr lang="en-US" dirty="0"/>
              <a:t>). Also assess R‐wave progression in V1 –V6 (normal vs. poor progression vs. early transition)</a:t>
            </a:r>
          </a:p>
          <a:p>
            <a:pPr marL="0" indent="0">
              <a:buNone/>
            </a:pPr>
            <a:r>
              <a:rPr lang="en-US" dirty="0"/>
              <a:t>       .Then start analyzing each ECG segment: </a:t>
            </a:r>
          </a:p>
          <a:p>
            <a:pPr marL="0" indent="0">
              <a:buNone/>
            </a:pPr>
            <a:r>
              <a:rPr lang="en-US" b="1" dirty="0"/>
              <a:t> 3</a:t>
            </a:r>
            <a:r>
              <a:rPr lang="en-US" dirty="0"/>
              <a:t>. </a:t>
            </a:r>
            <a:r>
              <a:rPr lang="en-US" b="1" dirty="0"/>
              <a:t>Analyze P </a:t>
            </a:r>
            <a:r>
              <a:rPr lang="en-US" dirty="0"/>
              <a:t>wave in leads II and V1 –V2 (left or right atrial enlargement). </a:t>
            </a:r>
          </a:p>
          <a:p>
            <a:pPr marL="0" indent="0">
              <a:buNone/>
            </a:pPr>
            <a:r>
              <a:rPr lang="en-US" dirty="0"/>
              <a:t> </a:t>
            </a:r>
            <a:r>
              <a:rPr lang="en-US" b="1" dirty="0"/>
              <a:t>4</a:t>
            </a:r>
            <a:r>
              <a:rPr lang="en-US" dirty="0"/>
              <a:t>. </a:t>
            </a:r>
            <a:r>
              <a:rPr lang="en-US" b="1" dirty="0"/>
              <a:t>Analyze PR interval</a:t>
            </a:r>
            <a:r>
              <a:rPr lang="en-US" dirty="0"/>
              <a:t>. </a:t>
            </a:r>
          </a:p>
          <a:p>
            <a:pPr marL="0" indent="0">
              <a:buNone/>
            </a:pPr>
            <a:r>
              <a:rPr lang="en-US" b="1" dirty="0"/>
              <a:t> 5. Analyze QRS </a:t>
            </a:r>
            <a:r>
              <a:rPr lang="en-US" dirty="0"/>
              <a:t>width: if≥120 </a:t>
            </a:r>
            <a:r>
              <a:rPr lang="en-US" dirty="0" err="1"/>
              <a:t>ms</a:t>
            </a:r>
            <a:r>
              <a:rPr lang="en-US" dirty="0"/>
              <a:t>, look at the QRS morphology in the right leads V1 –V2 and the left leads V5 –V6 , and characterize it as RBBB (wide upright QRS on the right, V1 –V2 ), LBBB (wide upright QRS on the left, V5 –V6 ), non‐specific conduction delay, or pre‐excitation (WPW). </a:t>
            </a:r>
          </a:p>
          <a:p>
            <a:pPr marL="0" indent="0">
              <a:buNone/>
            </a:pPr>
            <a:r>
              <a:rPr lang="en-US" b="1" dirty="0"/>
              <a:t> 6. Look for abnormal Q waves</a:t>
            </a:r>
            <a:r>
              <a:rPr lang="en-US" dirty="0"/>
              <a:t>. </a:t>
            </a:r>
          </a:p>
          <a:p>
            <a:pPr marL="0" indent="0">
              <a:buNone/>
            </a:pPr>
            <a:r>
              <a:rPr lang="en-US" dirty="0"/>
              <a:t> </a:t>
            </a:r>
            <a:r>
              <a:rPr lang="en-US" b="1" dirty="0"/>
              <a:t>7. Analyze ST–T segments</a:t>
            </a:r>
            <a:r>
              <a:rPr lang="en-US" dirty="0"/>
              <a:t>. Are they depressed or elevated? In which leads and which family? </a:t>
            </a:r>
          </a:p>
          <a:p>
            <a:pPr marL="0" indent="0">
              <a:buNone/>
            </a:pPr>
            <a:r>
              <a:rPr lang="en-US" dirty="0"/>
              <a:t>          • In case of ST depression, does the abnormality appear secondary to LVH/LBBB/RVH/RBBB and is it opposite to the QRS direction? Or does it appear ischemic? </a:t>
            </a:r>
          </a:p>
          <a:p>
            <a:pPr marL="0" indent="0">
              <a:buNone/>
            </a:pPr>
            <a:r>
              <a:rPr lang="en-US" dirty="0"/>
              <a:t>          • In case of ST elevation, does the abnormality appear secondary to LVH/LBBB and is it opposite to QRS direction? Is it concave upward without reciprocal changes or Q waves (this may suggest pericarditis or secondary ST elevation)? Is PR segment depressed? </a:t>
            </a:r>
          </a:p>
          <a:p>
            <a:pPr marL="0" indent="0">
              <a:buNone/>
            </a:pPr>
            <a:r>
              <a:rPr lang="en-US" dirty="0"/>
              <a:t> </a:t>
            </a:r>
            <a:r>
              <a:rPr lang="en-US" b="1" dirty="0"/>
              <a:t>8. Assess QT segment</a:t>
            </a:r>
            <a:r>
              <a:rPr lang="en-US" dirty="0"/>
              <a:t>. Look for patterns of electrolyte abnormalities</a:t>
            </a:r>
            <a:endParaRPr lang="en-GB" dirty="0"/>
          </a:p>
        </p:txBody>
      </p:sp>
    </p:spTree>
    <p:extLst>
      <p:ext uri="{BB962C8B-B14F-4D97-AF65-F5344CB8AC3E}">
        <p14:creationId xmlns:p14="http://schemas.microsoft.com/office/powerpoint/2010/main" val="1726977300"/>
      </p:ext>
    </p:extLst>
  </p:cSld>
  <p:clrMapOvr>
    <a:masterClrMapping/>
  </p:clrMapOvr>
  <p:transition spd="slow">
    <p:wheel spokes="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0C91CB-D369-DE3E-9641-22B6B93B7635}"/>
              </a:ext>
            </a:extLst>
          </p:cNvPr>
          <p:cNvSpPr>
            <a:spLocks noGrp="1"/>
          </p:cNvSpPr>
          <p:nvPr>
            <p:ph idx="1"/>
          </p:nvPr>
        </p:nvSpPr>
        <p:spPr>
          <a:xfrm>
            <a:off x="838200" y="868680"/>
            <a:ext cx="10515600" cy="5308283"/>
          </a:xfrm>
        </p:spPr>
        <p:txBody>
          <a:bodyPr>
            <a:normAutofit fontScale="70000" lnSpcReduction="20000"/>
          </a:bodyPr>
          <a:lstStyle/>
          <a:p>
            <a:pPr marL="0" indent="0">
              <a:buNone/>
            </a:pPr>
            <a:r>
              <a:rPr lang="en-US" dirty="0"/>
              <a:t># </a:t>
            </a:r>
            <a:r>
              <a:rPr lang="en-US" b="1" dirty="0"/>
              <a:t>Rhythm and rate </a:t>
            </a:r>
          </a:p>
          <a:p>
            <a:pPr marL="0" indent="0">
              <a:buNone/>
            </a:pPr>
            <a:r>
              <a:rPr lang="en-US" b="1" dirty="0" err="1"/>
              <a:t>A.Look</a:t>
            </a:r>
            <a:r>
              <a:rPr lang="en-US" b="1" dirty="0"/>
              <a:t> at the rhythm strip and survey for the following</a:t>
            </a:r>
            <a:r>
              <a:rPr lang="en-US" dirty="0"/>
              <a:t>: </a:t>
            </a:r>
          </a:p>
          <a:p>
            <a:pPr marL="0" indent="0">
              <a:buNone/>
            </a:pPr>
            <a:r>
              <a:rPr lang="en-US" dirty="0"/>
              <a:t>  </a:t>
            </a:r>
            <a:r>
              <a:rPr lang="en-US" b="1" dirty="0"/>
              <a:t>1. Assess the regularity of QRS complexes.</a:t>
            </a:r>
            <a:r>
              <a:rPr lang="en-US" dirty="0"/>
              <a:t> </a:t>
            </a:r>
            <a:r>
              <a:rPr lang="en-US" b="1" dirty="0"/>
              <a:t>Then look for P waves and assess the P and QRS relationship</a:t>
            </a:r>
            <a:r>
              <a:rPr lang="en-US" dirty="0"/>
              <a:t>.  </a:t>
            </a:r>
          </a:p>
          <a:p>
            <a:pPr marL="0" indent="0">
              <a:buNone/>
            </a:pPr>
            <a:r>
              <a:rPr lang="en-US" dirty="0"/>
              <a:t>Examples of cardiac rhythms: </a:t>
            </a:r>
          </a:p>
          <a:p>
            <a:pPr marL="0" indent="0">
              <a:buNone/>
            </a:pPr>
            <a:r>
              <a:rPr lang="en-US" dirty="0"/>
              <a:t>                </a:t>
            </a:r>
            <a:r>
              <a:rPr lang="en-US" b="1" dirty="0"/>
              <a:t>a. Sinus rhythm or tachycardia</a:t>
            </a:r>
            <a:r>
              <a:rPr lang="en-US" dirty="0"/>
              <a:t>: one sinus‐looking P wave before each QRS .</a:t>
            </a:r>
          </a:p>
          <a:p>
            <a:pPr marL="0" indent="0">
              <a:buNone/>
            </a:pPr>
            <a:r>
              <a:rPr lang="en-US" dirty="0"/>
              <a:t>                </a:t>
            </a:r>
            <a:r>
              <a:rPr lang="en-US" b="1" dirty="0"/>
              <a:t>b. Atrial tachycardia, atrial flutter</a:t>
            </a:r>
            <a:r>
              <a:rPr lang="en-US" dirty="0"/>
              <a:t>: one or more P waves are seen before each QRS with consistent P–QRS association. R–R intervals are equal or, if not equal, there is a consistent repetition of the same pattern of R–R intervals. </a:t>
            </a:r>
          </a:p>
          <a:p>
            <a:pPr marL="0" indent="0">
              <a:buNone/>
            </a:pPr>
            <a:r>
              <a:rPr lang="en-US" dirty="0"/>
              <a:t>               </a:t>
            </a:r>
            <a:r>
              <a:rPr lang="en-US" b="1" dirty="0"/>
              <a:t>c. Atrial fibrillation</a:t>
            </a:r>
            <a:r>
              <a:rPr lang="en-US" dirty="0"/>
              <a:t>: irregularly irregular rhythm or tachycardia (total chaos; no repetition of the same R–R intervals; Another irregularly irregular rhythm is MAT. Unlike AF, in MAT, polymorphic P waves are seen and conduct in a 1:1 fashion. </a:t>
            </a:r>
          </a:p>
          <a:p>
            <a:pPr marL="0" indent="0">
              <a:buNone/>
            </a:pPr>
            <a:r>
              <a:rPr lang="en-US" dirty="0"/>
              <a:t>                 </a:t>
            </a:r>
            <a:r>
              <a:rPr lang="en-US" b="1" dirty="0"/>
              <a:t>d. AVNRT/AVRT</a:t>
            </a:r>
            <a:r>
              <a:rPr lang="en-US" dirty="0"/>
              <a:t>: regular, narrow complex tachycardia. P waves are not seen or are seen just after or within ST–T, with a 1:1 QRS–P association. </a:t>
            </a:r>
          </a:p>
          <a:p>
            <a:pPr marL="0" indent="0">
              <a:buNone/>
            </a:pPr>
            <a:r>
              <a:rPr lang="en-US" dirty="0"/>
              <a:t>                 </a:t>
            </a:r>
            <a:r>
              <a:rPr lang="en-US" b="1" dirty="0"/>
              <a:t>e. Ventricular tachycardia</a:t>
            </a:r>
            <a:r>
              <a:rPr lang="en-US" dirty="0"/>
              <a:t>: wide complex tachycardia with no relation between P waves and QRS complexes (AV dissociation) and/or more QRS complexes than P waves .</a:t>
            </a:r>
          </a:p>
          <a:p>
            <a:pPr marL="0" indent="0">
              <a:buNone/>
            </a:pPr>
            <a:r>
              <a:rPr lang="en-US" dirty="0"/>
              <a:t>                  </a:t>
            </a:r>
            <a:r>
              <a:rPr lang="en-US" b="1" dirty="0"/>
              <a:t>f. Bradycardia with regular P waves and regular QRS complexes</a:t>
            </a:r>
            <a:r>
              <a:rPr lang="en-US" dirty="0"/>
              <a:t>, unrelated to each other: complete AV block </a:t>
            </a:r>
          </a:p>
          <a:p>
            <a:pPr marL="0" indent="0">
              <a:buNone/>
            </a:pPr>
            <a:r>
              <a:rPr lang="en-US" dirty="0"/>
              <a:t>                  </a:t>
            </a:r>
            <a:r>
              <a:rPr lang="en-US" b="1" dirty="0"/>
              <a:t>g. Bradycardia without any P wave: </a:t>
            </a:r>
            <a:r>
              <a:rPr lang="en-US" dirty="0"/>
              <a:t>sinus arrest with junctional escape rhythm, AF with complete AV block and junctional escape rhythm, or hyperkalemia. </a:t>
            </a:r>
            <a:endParaRPr lang="en-GB" dirty="0"/>
          </a:p>
        </p:txBody>
      </p:sp>
    </p:spTree>
    <p:extLst>
      <p:ext uri="{BB962C8B-B14F-4D97-AF65-F5344CB8AC3E}">
        <p14:creationId xmlns:p14="http://schemas.microsoft.com/office/powerpoint/2010/main" val="230627581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874B60-3885-BB13-470D-59287EE5944E}"/>
              </a:ext>
            </a:extLst>
          </p:cNvPr>
          <p:cNvSpPr>
            <a:spLocks noGrp="1"/>
          </p:cNvSpPr>
          <p:nvPr>
            <p:ph idx="1"/>
          </p:nvPr>
        </p:nvSpPr>
        <p:spPr>
          <a:xfrm>
            <a:off x="838200" y="670560"/>
            <a:ext cx="10515600" cy="5506403"/>
          </a:xfrm>
        </p:spPr>
        <p:txBody>
          <a:bodyPr>
            <a:normAutofit/>
          </a:bodyPr>
          <a:lstStyle/>
          <a:p>
            <a:pPr marL="0" indent="0">
              <a:buNone/>
            </a:pPr>
            <a:r>
              <a:rPr lang="en-US" dirty="0"/>
              <a:t> </a:t>
            </a:r>
            <a:r>
              <a:rPr lang="en-US" b="1" dirty="0"/>
              <a:t>2. Premature ventricular or atrial complexes </a:t>
            </a:r>
            <a:r>
              <a:rPr lang="en-US" dirty="0"/>
              <a:t>(PVCs or PACs). </a:t>
            </a:r>
            <a:r>
              <a:rPr lang="en-US" b="1" dirty="0"/>
              <a:t>PVC</a:t>
            </a:r>
            <a:r>
              <a:rPr lang="en-US" dirty="0"/>
              <a:t> is wide with ST–T directed opposite to QRS. </a:t>
            </a:r>
            <a:r>
              <a:rPr lang="en-US" b="1" dirty="0"/>
              <a:t>PAC</a:t>
            </a:r>
            <a:r>
              <a:rPr lang="en-US" dirty="0"/>
              <a:t> is narrow, but may be wide in case of aberrancy </a:t>
            </a:r>
          </a:p>
          <a:p>
            <a:pPr marL="0" indent="0">
              <a:buNone/>
            </a:pPr>
            <a:r>
              <a:rPr lang="en-US" b="1" dirty="0"/>
              <a:t>3. Irregular rhythm with some pattern or regularity</a:t>
            </a:r>
            <a:r>
              <a:rPr lang="en-US" dirty="0"/>
              <a:t>, meaning that R–R intervals are not all equal, but some of them are: </a:t>
            </a:r>
          </a:p>
          <a:p>
            <a:pPr marL="0" indent="0">
              <a:buNone/>
            </a:pPr>
            <a:r>
              <a:rPr lang="en-US" dirty="0"/>
              <a:t>  • Atrial tachycardia or atrial flutter with variable AV conduction (e.g., conduction changes from 2:1 to 3:1, then 2:1 again). The rhythm is irregular, but there is a pattern to it. </a:t>
            </a:r>
          </a:p>
          <a:p>
            <a:pPr marL="0" indent="0">
              <a:buNone/>
            </a:pPr>
            <a:r>
              <a:rPr lang="en-US" dirty="0"/>
              <a:t>  • PVCs or PACs (PVCs and PACs are usually followed by a pause). </a:t>
            </a:r>
          </a:p>
          <a:p>
            <a:pPr marL="0" indent="0">
              <a:buNone/>
            </a:pPr>
            <a:r>
              <a:rPr lang="en-US" dirty="0"/>
              <a:t>  • Sinus arrhythmia (P–P interval varies cyclically, PR distance remains constant). </a:t>
            </a:r>
          </a:p>
          <a:p>
            <a:pPr marL="0" indent="0">
              <a:buNone/>
            </a:pPr>
            <a:r>
              <a:rPr lang="en-US" b="1" dirty="0"/>
              <a:t>4. Groups of beats separated by pauses: </a:t>
            </a:r>
          </a:p>
          <a:p>
            <a:pPr marL="0" indent="0">
              <a:buNone/>
            </a:pPr>
            <a:r>
              <a:rPr lang="en-US" dirty="0"/>
              <a:t>  • Second‐degree AV block </a:t>
            </a:r>
          </a:p>
          <a:p>
            <a:pPr marL="0" indent="0">
              <a:buNone/>
            </a:pPr>
            <a:r>
              <a:rPr lang="en-US" dirty="0"/>
              <a:t>  • Frequent PACs, PVCs, or non‐conducted premature Ps, each followed by a pause </a:t>
            </a:r>
          </a:p>
          <a:p>
            <a:pPr marL="0" indent="0">
              <a:buNone/>
            </a:pPr>
            <a:r>
              <a:rPr lang="en-US" b="1" dirty="0"/>
              <a:t>5. Look for pacemaker spikes </a:t>
            </a:r>
            <a:r>
              <a:rPr lang="en-US" dirty="0"/>
              <a:t>(small vertical lines before P or QRS or both P and QRS)</a:t>
            </a:r>
            <a:endParaRPr lang="en-GB" dirty="0"/>
          </a:p>
        </p:txBody>
      </p:sp>
    </p:spTree>
    <p:extLst>
      <p:ext uri="{BB962C8B-B14F-4D97-AF65-F5344CB8AC3E}">
        <p14:creationId xmlns:p14="http://schemas.microsoft.com/office/powerpoint/2010/main" val="24680039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C3E7EA-E7EC-CD82-F519-155BE83AA940}"/>
              </a:ext>
            </a:extLst>
          </p:cNvPr>
          <p:cNvPicPr>
            <a:picLocks noGrp="1" noChangeAspect="1"/>
          </p:cNvPicPr>
          <p:nvPr>
            <p:ph idx="1"/>
          </p:nvPr>
        </p:nvPicPr>
        <p:blipFill>
          <a:blip r:embed="rId2"/>
          <a:stretch>
            <a:fillRect/>
          </a:stretch>
        </p:blipFill>
        <p:spPr>
          <a:xfrm>
            <a:off x="1635442" y="513239"/>
            <a:ext cx="7447598" cy="1239361"/>
          </a:xfrm>
        </p:spPr>
      </p:pic>
      <p:sp>
        <p:nvSpPr>
          <p:cNvPr id="9" name="TextBox 8">
            <a:extLst>
              <a:ext uri="{FF2B5EF4-FFF2-40B4-BE49-F238E27FC236}">
                <a16:creationId xmlns:a16="http://schemas.microsoft.com/office/drawing/2014/main" id="{D914B7E3-ABC9-EDD3-3C9C-A466F118EEAD}"/>
              </a:ext>
            </a:extLst>
          </p:cNvPr>
          <p:cNvSpPr txBox="1"/>
          <p:nvPr/>
        </p:nvSpPr>
        <p:spPr>
          <a:xfrm>
            <a:off x="1310640" y="1883956"/>
            <a:ext cx="10485120" cy="646331"/>
          </a:xfrm>
          <a:prstGeom prst="rect">
            <a:avLst/>
          </a:prstGeom>
          <a:noFill/>
        </p:spPr>
        <p:txBody>
          <a:bodyPr wrap="square">
            <a:spAutoFit/>
          </a:bodyPr>
          <a:lstStyle/>
          <a:p>
            <a:r>
              <a:rPr lang="en-GB" dirty="0"/>
              <a:t> Regular QRS rhythm with a P wave before each QRS complex: sinus tachycardia or atrial tachycardia. </a:t>
            </a:r>
            <a:r>
              <a:rPr lang="en-GB" dirty="0" err="1"/>
              <a:t>Analyze</a:t>
            </a:r>
            <a:r>
              <a:rPr lang="en-GB" dirty="0"/>
              <a:t> P morphology in leads I, </a:t>
            </a:r>
            <a:r>
              <a:rPr lang="en-GB" dirty="0" err="1"/>
              <a:t>aVR</a:t>
            </a:r>
            <a:r>
              <a:rPr lang="en-GB" dirty="0"/>
              <a:t>, and II to determine if the rhythm is sinus or ectopic atrial</a:t>
            </a:r>
          </a:p>
        </p:txBody>
      </p:sp>
      <p:pic>
        <p:nvPicPr>
          <p:cNvPr id="11" name="Picture 10">
            <a:extLst>
              <a:ext uri="{FF2B5EF4-FFF2-40B4-BE49-F238E27FC236}">
                <a16:creationId xmlns:a16="http://schemas.microsoft.com/office/drawing/2014/main" id="{0CB0C743-75D2-9478-BAE0-296F812D21C1}"/>
              </a:ext>
            </a:extLst>
          </p:cNvPr>
          <p:cNvPicPr>
            <a:picLocks noChangeAspect="1"/>
          </p:cNvPicPr>
          <p:nvPr/>
        </p:nvPicPr>
        <p:blipFill>
          <a:blip r:embed="rId3"/>
          <a:stretch>
            <a:fillRect/>
          </a:stretch>
        </p:blipFill>
        <p:spPr>
          <a:xfrm>
            <a:off x="1767841" y="2927838"/>
            <a:ext cx="7315199" cy="671660"/>
          </a:xfrm>
          <a:prstGeom prst="rect">
            <a:avLst/>
          </a:prstGeom>
        </p:spPr>
      </p:pic>
      <p:sp>
        <p:nvSpPr>
          <p:cNvPr id="13" name="TextBox 12">
            <a:extLst>
              <a:ext uri="{FF2B5EF4-FFF2-40B4-BE49-F238E27FC236}">
                <a16:creationId xmlns:a16="http://schemas.microsoft.com/office/drawing/2014/main" id="{EE84F6ED-11FD-5E9F-A485-23470214FD2B}"/>
              </a:ext>
            </a:extLst>
          </p:cNvPr>
          <p:cNvSpPr txBox="1"/>
          <p:nvPr/>
        </p:nvSpPr>
        <p:spPr>
          <a:xfrm>
            <a:off x="1310640" y="3599498"/>
            <a:ext cx="10485120" cy="646331"/>
          </a:xfrm>
          <a:prstGeom prst="rect">
            <a:avLst/>
          </a:prstGeom>
          <a:noFill/>
        </p:spPr>
        <p:txBody>
          <a:bodyPr wrap="square">
            <a:spAutoFit/>
          </a:bodyPr>
          <a:lstStyle/>
          <a:p>
            <a:r>
              <a:rPr lang="en-US" dirty="0"/>
              <a:t>Irregular tachycardia with no repetition of any R–R pattern. No clear P wave is seen; rather, waves that vary greatly in shape are seen. This is AF with fibrillatory atrial waves</a:t>
            </a:r>
            <a:endParaRPr lang="en-GB" dirty="0"/>
          </a:p>
        </p:txBody>
      </p:sp>
      <p:pic>
        <p:nvPicPr>
          <p:cNvPr id="15" name="Picture 14">
            <a:extLst>
              <a:ext uri="{FF2B5EF4-FFF2-40B4-BE49-F238E27FC236}">
                <a16:creationId xmlns:a16="http://schemas.microsoft.com/office/drawing/2014/main" id="{3C939443-824E-0069-3D2A-7586E64A2AFC}"/>
              </a:ext>
            </a:extLst>
          </p:cNvPr>
          <p:cNvPicPr>
            <a:picLocks noChangeAspect="1"/>
          </p:cNvPicPr>
          <p:nvPr/>
        </p:nvPicPr>
        <p:blipFill>
          <a:blip r:embed="rId4"/>
          <a:stretch>
            <a:fillRect/>
          </a:stretch>
        </p:blipFill>
        <p:spPr>
          <a:xfrm>
            <a:off x="1767841" y="4471035"/>
            <a:ext cx="7787639" cy="628650"/>
          </a:xfrm>
          <a:prstGeom prst="rect">
            <a:avLst/>
          </a:prstGeom>
        </p:spPr>
      </p:pic>
      <p:sp>
        <p:nvSpPr>
          <p:cNvPr id="17" name="TextBox 16">
            <a:extLst>
              <a:ext uri="{FF2B5EF4-FFF2-40B4-BE49-F238E27FC236}">
                <a16:creationId xmlns:a16="http://schemas.microsoft.com/office/drawing/2014/main" id="{7B5F748E-DFCC-5E38-1947-2644EEB07710}"/>
              </a:ext>
            </a:extLst>
          </p:cNvPr>
          <p:cNvSpPr txBox="1"/>
          <p:nvPr/>
        </p:nvSpPr>
        <p:spPr>
          <a:xfrm>
            <a:off x="1097280" y="5144432"/>
            <a:ext cx="10698479" cy="646331"/>
          </a:xfrm>
          <a:prstGeom prst="rect">
            <a:avLst/>
          </a:prstGeom>
          <a:noFill/>
        </p:spPr>
        <p:txBody>
          <a:bodyPr wrap="square">
            <a:spAutoFit/>
          </a:bodyPr>
          <a:lstStyle/>
          <a:p>
            <a:r>
              <a:rPr lang="en-US" dirty="0"/>
              <a:t>Narrow complex tachycardia with a pseudo‐r’ in lead V1 that represents a retrograde P wave (arrows). This is a narrow complex tachycardia with a very short interval between QRS and the retrograde P </a:t>
            </a:r>
            <a:r>
              <a:rPr lang="en-US" dirty="0" err="1"/>
              <a:t>wave→AVNRT</a:t>
            </a:r>
            <a:endParaRPr lang="en-GB" dirty="0"/>
          </a:p>
        </p:txBody>
      </p:sp>
    </p:spTree>
    <p:extLst>
      <p:ext uri="{BB962C8B-B14F-4D97-AF65-F5344CB8AC3E}">
        <p14:creationId xmlns:p14="http://schemas.microsoft.com/office/powerpoint/2010/main" val="288232720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C45CC9A-7F71-E6DD-B8C6-142F2C95AB99}"/>
              </a:ext>
            </a:extLst>
          </p:cNvPr>
          <p:cNvPicPr>
            <a:picLocks noGrp="1" noChangeAspect="1"/>
          </p:cNvPicPr>
          <p:nvPr>
            <p:ph idx="1"/>
          </p:nvPr>
        </p:nvPicPr>
        <p:blipFill>
          <a:blip r:embed="rId2"/>
          <a:stretch>
            <a:fillRect/>
          </a:stretch>
        </p:blipFill>
        <p:spPr>
          <a:xfrm>
            <a:off x="1066800" y="304800"/>
            <a:ext cx="9357360" cy="1158240"/>
          </a:xfrm>
        </p:spPr>
      </p:pic>
      <p:sp>
        <p:nvSpPr>
          <p:cNvPr id="7" name="TextBox 6">
            <a:extLst>
              <a:ext uri="{FF2B5EF4-FFF2-40B4-BE49-F238E27FC236}">
                <a16:creationId xmlns:a16="http://schemas.microsoft.com/office/drawing/2014/main" id="{D44774A6-0ED6-729D-80D8-BF590D3115D4}"/>
              </a:ext>
            </a:extLst>
          </p:cNvPr>
          <p:cNvSpPr txBox="1"/>
          <p:nvPr/>
        </p:nvSpPr>
        <p:spPr>
          <a:xfrm>
            <a:off x="716280" y="1637437"/>
            <a:ext cx="11064240" cy="1200329"/>
          </a:xfrm>
          <a:prstGeom prst="rect">
            <a:avLst/>
          </a:prstGeom>
          <a:noFill/>
        </p:spPr>
        <p:txBody>
          <a:bodyPr wrap="square">
            <a:spAutoFit/>
          </a:bodyPr>
          <a:lstStyle/>
          <a:p>
            <a:r>
              <a:rPr lang="en-US" dirty="0"/>
              <a:t>Wide complex tachycardia: VT vs. SVT with bundle branch block. Look for P waves on top of the ST–T segments: one can identify deflections that have a consistent morphology and timing and that can be marched out. They occur after every third QRS. Since the number of QRS complexes&gt;number of P waves, this is VT. The P waves are retrograde P waves</a:t>
            </a:r>
            <a:endParaRPr lang="en-GB" dirty="0"/>
          </a:p>
        </p:txBody>
      </p:sp>
      <p:pic>
        <p:nvPicPr>
          <p:cNvPr id="9" name="Picture 8">
            <a:extLst>
              <a:ext uri="{FF2B5EF4-FFF2-40B4-BE49-F238E27FC236}">
                <a16:creationId xmlns:a16="http://schemas.microsoft.com/office/drawing/2014/main" id="{DB4F3A0B-A658-D01B-5FEA-9440F0299845}"/>
              </a:ext>
            </a:extLst>
          </p:cNvPr>
          <p:cNvPicPr>
            <a:picLocks noChangeAspect="1"/>
          </p:cNvPicPr>
          <p:nvPr/>
        </p:nvPicPr>
        <p:blipFill>
          <a:blip r:embed="rId3"/>
          <a:stretch>
            <a:fillRect/>
          </a:stretch>
        </p:blipFill>
        <p:spPr>
          <a:xfrm>
            <a:off x="1226134" y="2819906"/>
            <a:ext cx="9426626" cy="1200329"/>
          </a:xfrm>
          <a:prstGeom prst="rect">
            <a:avLst/>
          </a:prstGeom>
        </p:spPr>
      </p:pic>
      <p:sp>
        <p:nvSpPr>
          <p:cNvPr id="11" name="TextBox 10">
            <a:extLst>
              <a:ext uri="{FF2B5EF4-FFF2-40B4-BE49-F238E27FC236}">
                <a16:creationId xmlns:a16="http://schemas.microsoft.com/office/drawing/2014/main" id="{0B94E0CE-835E-17A1-F0E8-3F625D6C8E6B}"/>
              </a:ext>
            </a:extLst>
          </p:cNvPr>
          <p:cNvSpPr txBox="1"/>
          <p:nvPr/>
        </p:nvSpPr>
        <p:spPr>
          <a:xfrm>
            <a:off x="716280" y="4020235"/>
            <a:ext cx="11170920" cy="923330"/>
          </a:xfrm>
          <a:prstGeom prst="rect">
            <a:avLst/>
          </a:prstGeom>
          <a:noFill/>
        </p:spPr>
        <p:txBody>
          <a:bodyPr wrap="square">
            <a:spAutoFit/>
          </a:bodyPr>
          <a:lstStyle/>
          <a:p>
            <a:r>
              <a:rPr lang="en-US" dirty="0"/>
              <a:t>Bradycardia with regular P waves and regular QRS complexes, unrelated to each other. Some P waves fall on top of the ST–T segments and manifest as notches. This is a third‐degree AV block. If P wave occasionally conducts, the QRS rhythm would have some irregularity</a:t>
            </a:r>
            <a:endParaRPr lang="en-GB" dirty="0"/>
          </a:p>
        </p:txBody>
      </p:sp>
    </p:spTree>
    <p:extLst>
      <p:ext uri="{BB962C8B-B14F-4D97-AF65-F5344CB8AC3E}">
        <p14:creationId xmlns:p14="http://schemas.microsoft.com/office/powerpoint/2010/main" val="411603707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3430C8A-A883-EB8C-CE53-31ED6F1B811C}"/>
              </a:ext>
            </a:extLst>
          </p:cNvPr>
          <p:cNvPicPr>
            <a:picLocks noGrp="1" noChangeAspect="1"/>
          </p:cNvPicPr>
          <p:nvPr>
            <p:ph idx="1"/>
          </p:nvPr>
        </p:nvPicPr>
        <p:blipFill>
          <a:blip r:embed="rId3"/>
          <a:stretch>
            <a:fillRect/>
          </a:stretch>
        </p:blipFill>
        <p:spPr>
          <a:xfrm>
            <a:off x="1819274" y="624840"/>
            <a:ext cx="6166486" cy="1158240"/>
          </a:xfrm>
        </p:spPr>
      </p:pic>
      <p:sp>
        <p:nvSpPr>
          <p:cNvPr id="9" name="TextBox 8">
            <a:extLst>
              <a:ext uri="{FF2B5EF4-FFF2-40B4-BE49-F238E27FC236}">
                <a16:creationId xmlns:a16="http://schemas.microsoft.com/office/drawing/2014/main" id="{9B2D2AB6-4F51-CDAE-B177-1802F0378741}"/>
              </a:ext>
            </a:extLst>
          </p:cNvPr>
          <p:cNvSpPr txBox="1"/>
          <p:nvPr/>
        </p:nvSpPr>
        <p:spPr>
          <a:xfrm>
            <a:off x="944880" y="1783080"/>
            <a:ext cx="11033760" cy="369332"/>
          </a:xfrm>
          <a:prstGeom prst="rect">
            <a:avLst/>
          </a:prstGeom>
          <a:noFill/>
        </p:spPr>
        <p:txBody>
          <a:bodyPr wrap="square">
            <a:spAutoFit/>
          </a:bodyPr>
          <a:lstStyle/>
          <a:p>
            <a:r>
              <a:rPr lang="en-US" dirty="0"/>
              <a:t>Severe bradycardia with regular P waves and regular QRS complexes, unrelated to each other: third‐degree AV block</a:t>
            </a:r>
            <a:endParaRPr lang="en-GB" dirty="0"/>
          </a:p>
        </p:txBody>
      </p:sp>
      <p:pic>
        <p:nvPicPr>
          <p:cNvPr id="11" name="Picture 10">
            <a:extLst>
              <a:ext uri="{FF2B5EF4-FFF2-40B4-BE49-F238E27FC236}">
                <a16:creationId xmlns:a16="http://schemas.microsoft.com/office/drawing/2014/main" id="{C5179A54-4E2F-3392-08A2-1DC9D3A58B8E}"/>
              </a:ext>
            </a:extLst>
          </p:cNvPr>
          <p:cNvPicPr>
            <a:picLocks noChangeAspect="1"/>
          </p:cNvPicPr>
          <p:nvPr/>
        </p:nvPicPr>
        <p:blipFill>
          <a:blip r:embed="rId4"/>
          <a:stretch>
            <a:fillRect/>
          </a:stretch>
        </p:blipFill>
        <p:spPr>
          <a:xfrm>
            <a:off x="1488757" y="2672358"/>
            <a:ext cx="8016240" cy="1276588"/>
          </a:xfrm>
          <a:prstGeom prst="rect">
            <a:avLst/>
          </a:prstGeom>
        </p:spPr>
      </p:pic>
      <p:sp>
        <p:nvSpPr>
          <p:cNvPr id="13" name="TextBox 12">
            <a:extLst>
              <a:ext uri="{FF2B5EF4-FFF2-40B4-BE49-F238E27FC236}">
                <a16:creationId xmlns:a16="http://schemas.microsoft.com/office/drawing/2014/main" id="{B97AC121-34A7-0E18-D694-20A3CAF07EE5}"/>
              </a:ext>
            </a:extLst>
          </p:cNvPr>
          <p:cNvSpPr txBox="1"/>
          <p:nvPr/>
        </p:nvSpPr>
        <p:spPr>
          <a:xfrm>
            <a:off x="944880" y="3948946"/>
            <a:ext cx="11033759" cy="646331"/>
          </a:xfrm>
          <a:prstGeom prst="rect">
            <a:avLst/>
          </a:prstGeom>
          <a:noFill/>
        </p:spPr>
        <p:txBody>
          <a:bodyPr wrap="square">
            <a:spAutoFit/>
          </a:bodyPr>
          <a:lstStyle/>
          <a:p>
            <a:r>
              <a:rPr lang="en-US" dirty="0"/>
              <a:t>Irregularity with a pattern. Wide premature complexes with ST–T changes opposite to QRS are seen; these occur in a trigeminal pattern. A wide premature beat is typically a PVC</a:t>
            </a:r>
            <a:endParaRPr lang="en-GB" dirty="0"/>
          </a:p>
        </p:txBody>
      </p:sp>
    </p:spTree>
    <p:extLst>
      <p:ext uri="{BB962C8B-B14F-4D97-AF65-F5344CB8AC3E}">
        <p14:creationId xmlns:p14="http://schemas.microsoft.com/office/powerpoint/2010/main" val="22227076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FD7AF3-AD1B-1A7B-D7C2-B7A82B4BD202}"/>
              </a:ext>
            </a:extLst>
          </p:cNvPr>
          <p:cNvSpPr>
            <a:spLocks noGrp="1"/>
          </p:cNvSpPr>
          <p:nvPr>
            <p:ph idx="1"/>
          </p:nvPr>
        </p:nvSpPr>
        <p:spPr>
          <a:xfrm>
            <a:off x="716280" y="335280"/>
            <a:ext cx="11064240" cy="6278879"/>
          </a:xfrm>
        </p:spPr>
        <p:txBody>
          <a:bodyPr>
            <a:normAutofit/>
          </a:bodyPr>
          <a:lstStyle/>
          <a:p>
            <a:pPr marL="0" indent="0">
              <a:buNone/>
            </a:pPr>
            <a:r>
              <a:rPr lang="en-US" b="1" dirty="0"/>
              <a:t>B. Calculate the ventricular rate </a:t>
            </a:r>
          </a:p>
          <a:p>
            <a:pPr marL="0" indent="0">
              <a:buNone/>
            </a:pPr>
            <a:r>
              <a:rPr lang="en-US" dirty="0"/>
              <a:t>The ventricular rate is equal to 300 divided by the number of big boxes between two QRS complexes. If the rhythm is irregular (e.g., AF), count the number of QRS complexes in 3 seconds (15 large boxes), then multiply this number by 20; or count the number of QRS complexes on the standard 12‐lead ECG run (10 seconds) and multiply it by 6. </a:t>
            </a:r>
          </a:p>
          <a:p>
            <a:pPr marL="0" indent="0">
              <a:buNone/>
            </a:pPr>
            <a:endParaRPr lang="en-US" dirty="0"/>
          </a:p>
          <a:p>
            <a:pPr marL="0" indent="0">
              <a:buNone/>
            </a:pPr>
            <a:r>
              <a:rPr lang="en-US" b="1" dirty="0"/>
              <a:t>C. The rhythm is sinus if P wave is upright in leads I, II, and </a:t>
            </a:r>
            <a:r>
              <a:rPr lang="en-US" b="1" dirty="0" err="1"/>
              <a:t>aVF</a:t>
            </a:r>
            <a:r>
              <a:rPr lang="en-US" b="1" dirty="0"/>
              <a:t> and inverted in lead </a:t>
            </a:r>
            <a:r>
              <a:rPr lang="en-US" b="1" dirty="0" err="1"/>
              <a:t>aVR</a:t>
            </a:r>
            <a:endParaRPr lang="en-US" b="1" dirty="0"/>
          </a:p>
          <a:p>
            <a:pPr marL="0" indent="0">
              <a:buNone/>
            </a:pPr>
            <a:r>
              <a:rPr lang="en-US" dirty="0"/>
              <a:t>Also, a sinus P wave is typically biphasic (positive then negative) in V1 and V2 , but sometimes entirely positive in V1 –V2 or entirely negative in V1 . A sinus P wave is always upright in V3 –V6 . </a:t>
            </a:r>
          </a:p>
          <a:p>
            <a:pPr marL="0" indent="0">
              <a:buNone/>
            </a:pPr>
            <a:endParaRPr lang="en-US" dirty="0"/>
          </a:p>
        </p:txBody>
      </p:sp>
    </p:spTree>
    <p:extLst>
      <p:ext uri="{BB962C8B-B14F-4D97-AF65-F5344CB8AC3E}">
        <p14:creationId xmlns:p14="http://schemas.microsoft.com/office/powerpoint/2010/main" val="40240452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71D8C-CC52-DD98-D5B9-00C592CCE0DC}"/>
              </a:ext>
            </a:extLst>
          </p:cNvPr>
          <p:cNvSpPr>
            <a:spLocks noGrp="1"/>
          </p:cNvSpPr>
          <p:nvPr>
            <p:ph idx="1"/>
          </p:nvPr>
        </p:nvSpPr>
        <p:spPr>
          <a:xfrm>
            <a:off x="457200" y="320040"/>
            <a:ext cx="11521440" cy="6202680"/>
          </a:xfrm>
        </p:spPr>
        <p:txBody>
          <a:bodyPr>
            <a:normAutofit/>
          </a:bodyPr>
          <a:lstStyle/>
          <a:p>
            <a:pPr marL="0" indent="0">
              <a:buNone/>
            </a:pPr>
            <a:r>
              <a:rPr lang="en-US" b="1" dirty="0"/>
              <a:t>IV. QRS axis in the limb leads and normal QRS progression in the precordial leads</a:t>
            </a:r>
          </a:p>
          <a:p>
            <a:pPr marL="514350" indent="-514350">
              <a:buAutoNum type="alphaUcPeriod"/>
            </a:pPr>
            <a:r>
              <a:rPr lang="en-US" dirty="0"/>
              <a:t>Determine the frontal QRS axis by looking at the net QRS voltage</a:t>
            </a:r>
          </a:p>
          <a:p>
            <a:pPr marL="0" indent="0">
              <a:buNone/>
            </a:pPr>
            <a:endParaRPr lang="en-US" dirty="0"/>
          </a:p>
          <a:p>
            <a:pPr marL="0" indent="0">
              <a:buNone/>
            </a:pPr>
            <a:r>
              <a:rPr lang="en-US" dirty="0"/>
              <a:t>The normal QRS axis is between –30° and +90°. To determine QRS axis, start by looking at leads I and </a:t>
            </a:r>
            <a:r>
              <a:rPr lang="en-US" dirty="0" err="1"/>
              <a:t>aVF</a:t>
            </a:r>
            <a:r>
              <a:rPr lang="en-US" dirty="0"/>
              <a:t>. If the net QRS is negative in lead </a:t>
            </a:r>
            <a:r>
              <a:rPr lang="en-US" dirty="0" err="1"/>
              <a:t>aVF</a:t>
            </a:r>
            <a:r>
              <a:rPr lang="en-US" dirty="0"/>
              <a:t>, the axis is&lt; 0 in leads I, II, and </a:t>
            </a:r>
            <a:r>
              <a:rPr lang="en-US" dirty="0" err="1"/>
              <a:t>aVF</a:t>
            </a:r>
            <a:r>
              <a:rPr lang="en-US" dirty="0"/>
              <a:t>. </a:t>
            </a:r>
          </a:p>
          <a:p>
            <a:pPr marL="514350" indent="-514350">
              <a:buAutoNum type="arabicPeriod"/>
            </a:pPr>
            <a:r>
              <a:rPr lang="en-US" b="1" dirty="0"/>
              <a:t>Right-axis deviation </a:t>
            </a:r>
            <a:r>
              <a:rPr lang="en-US" dirty="0"/>
              <a:t>: If the net QRS is negative in lead I and upright in lead </a:t>
            </a:r>
            <a:r>
              <a:rPr lang="en-US" dirty="0" err="1"/>
              <a:t>aVF</a:t>
            </a:r>
            <a:r>
              <a:rPr lang="en-US" dirty="0"/>
              <a:t>.</a:t>
            </a:r>
          </a:p>
          <a:p>
            <a:pPr marL="514350" indent="-514350">
              <a:buAutoNum type="arabicPeriod"/>
            </a:pPr>
            <a:r>
              <a:rPr lang="en-GB" b="1" dirty="0"/>
              <a:t>Left‐axis deviation</a:t>
            </a:r>
            <a:r>
              <a:rPr lang="en-US" b="1" dirty="0"/>
              <a:t> </a:t>
            </a:r>
            <a:r>
              <a:rPr lang="en-US" dirty="0"/>
              <a:t>: If the net QRS is upright in lead I but negative in leads II and </a:t>
            </a:r>
            <a:r>
              <a:rPr lang="en-US" dirty="0" err="1"/>
              <a:t>aVF</a:t>
            </a:r>
            <a:r>
              <a:rPr lang="en-US" dirty="0"/>
              <a:t>.</a:t>
            </a:r>
          </a:p>
          <a:p>
            <a:pPr marL="514350" indent="-514350">
              <a:buAutoNum type="arabicPeriod"/>
            </a:pPr>
            <a:r>
              <a:rPr lang="en-US" dirty="0"/>
              <a:t>If the net QRS is negative in leads I and </a:t>
            </a:r>
            <a:r>
              <a:rPr lang="en-US" dirty="0" err="1"/>
              <a:t>aVF</a:t>
            </a:r>
            <a:r>
              <a:rPr lang="en-US" dirty="0"/>
              <a:t>, the axis is in the northwest quadrant (</a:t>
            </a:r>
            <a:r>
              <a:rPr lang="en-US" b="1" dirty="0"/>
              <a:t>extreme right or left deviation</a:t>
            </a:r>
            <a:r>
              <a:rPr lang="en-US" dirty="0"/>
              <a:t>). </a:t>
            </a:r>
          </a:p>
          <a:p>
            <a:pPr marL="0" indent="0">
              <a:buNone/>
            </a:pPr>
            <a:endParaRPr lang="en-US" dirty="0"/>
          </a:p>
          <a:p>
            <a:pPr marL="0" indent="0">
              <a:buNone/>
            </a:pPr>
            <a:endParaRPr lang="en-US" dirty="0">
              <a:solidFill>
                <a:srgbClr val="002060"/>
              </a:solidFill>
            </a:endParaRPr>
          </a:p>
          <a:p>
            <a:pPr marL="0" indent="0">
              <a:buNone/>
            </a:pPr>
            <a:endParaRPr lang="en-US" dirty="0"/>
          </a:p>
          <a:p>
            <a:pPr marL="0" indent="0">
              <a:buNone/>
            </a:pPr>
            <a:endParaRPr lang="en-US" dirty="0"/>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38171482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88B9E2-FE7B-45DA-4683-1B3F7D65D118}"/>
              </a:ext>
            </a:extLst>
          </p:cNvPr>
          <p:cNvSpPr>
            <a:spLocks noGrp="1"/>
          </p:cNvSpPr>
          <p:nvPr>
            <p:ph idx="1"/>
          </p:nvPr>
        </p:nvSpPr>
        <p:spPr>
          <a:xfrm>
            <a:off x="838200" y="304800"/>
            <a:ext cx="10515600" cy="6050280"/>
          </a:xfrm>
        </p:spPr>
        <p:txBody>
          <a:bodyPr>
            <a:normAutofit fontScale="92500" lnSpcReduction="10000"/>
          </a:bodyPr>
          <a:lstStyle/>
          <a:p>
            <a:pPr marL="0" indent="0">
              <a:buNone/>
            </a:pPr>
            <a:r>
              <a:rPr lang="en-US" b="1" u="sng" dirty="0"/>
              <a:t>*Causes of right-axis deviation</a:t>
            </a:r>
            <a:r>
              <a:rPr lang="en-US" u="sng" dirty="0"/>
              <a:t>: </a:t>
            </a:r>
          </a:p>
          <a:p>
            <a:pPr marL="0" indent="0">
              <a:buNone/>
            </a:pPr>
            <a:r>
              <a:rPr lang="en-US" dirty="0"/>
              <a:t>• RVH</a:t>
            </a:r>
          </a:p>
          <a:p>
            <a:pPr marL="0" indent="0">
              <a:buNone/>
            </a:pPr>
            <a:r>
              <a:rPr lang="en-US" dirty="0"/>
              <a:t>• Lung disease</a:t>
            </a:r>
          </a:p>
          <a:p>
            <a:pPr marL="0" indent="0">
              <a:buNone/>
            </a:pPr>
            <a:r>
              <a:rPr lang="en-US" dirty="0"/>
              <a:t>• Left posterior fascicular block (LPFB)</a:t>
            </a:r>
          </a:p>
          <a:p>
            <a:pPr marL="0" indent="0">
              <a:buNone/>
            </a:pPr>
            <a:r>
              <a:rPr lang="en-US" dirty="0"/>
              <a:t>• Lateral MI</a:t>
            </a:r>
          </a:p>
          <a:p>
            <a:pPr marL="0" indent="0">
              <a:buNone/>
            </a:pPr>
            <a:r>
              <a:rPr lang="en-US" dirty="0"/>
              <a:t>• Normal variant:  in young individuals </a:t>
            </a:r>
          </a:p>
          <a:p>
            <a:pPr marL="0" indent="0">
              <a:buNone/>
            </a:pPr>
            <a:r>
              <a:rPr lang="en-US" dirty="0"/>
              <a:t>• Arm electrodes misplacement: P wave will also be negative in lead I, and upright in lead </a:t>
            </a:r>
            <a:r>
              <a:rPr lang="en-US" dirty="0" err="1"/>
              <a:t>aVR</a:t>
            </a:r>
            <a:endParaRPr lang="en-US" dirty="0"/>
          </a:p>
          <a:p>
            <a:pPr marL="0" indent="0">
              <a:buNone/>
            </a:pPr>
            <a:endParaRPr lang="en-US" dirty="0"/>
          </a:p>
          <a:p>
            <a:pPr marL="0" indent="0">
              <a:buNone/>
            </a:pPr>
            <a:r>
              <a:rPr lang="en-US" b="1" u="sng" dirty="0"/>
              <a:t>*Causes of left-axis deviation: </a:t>
            </a:r>
          </a:p>
          <a:p>
            <a:pPr marL="0" indent="0">
              <a:buNone/>
            </a:pPr>
            <a:r>
              <a:rPr lang="en-GB" dirty="0"/>
              <a:t>• LVH </a:t>
            </a:r>
          </a:p>
          <a:p>
            <a:pPr marL="0" indent="0">
              <a:buNone/>
            </a:pPr>
            <a:r>
              <a:rPr lang="en-GB" dirty="0"/>
              <a:t>• Left anterior fascicular block (LAFB) </a:t>
            </a:r>
          </a:p>
          <a:p>
            <a:pPr marL="0" indent="0">
              <a:buNone/>
            </a:pPr>
            <a:r>
              <a:rPr lang="en-GB" dirty="0"/>
              <a:t>• Left bundle branch block (LBBB) </a:t>
            </a:r>
          </a:p>
          <a:p>
            <a:pPr marL="0" indent="0">
              <a:buNone/>
            </a:pPr>
            <a:r>
              <a:rPr lang="en-GB" dirty="0"/>
              <a:t>• Inferior MI</a:t>
            </a:r>
          </a:p>
        </p:txBody>
      </p:sp>
    </p:spTree>
    <p:extLst>
      <p:ext uri="{BB962C8B-B14F-4D97-AF65-F5344CB8AC3E}">
        <p14:creationId xmlns:p14="http://schemas.microsoft.com/office/powerpoint/2010/main" val="29148762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A12EAF-F993-1E0F-96EC-8B8A596A6194}"/>
              </a:ext>
            </a:extLst>
          </p:cNvPr>
          <p:cNvSpPr>
            <a:spLocks noGrp="1"/>
          </p:cNvSpPr>
          <p:nvPr>
            <p:ph idx="1"/>
          </p:nvPr>
        </p:nvSpPr>
        <p:spPr>
          <a:xfrm>
            <a:off x="838200" y="335281"/>
            <a:ext cx="10515600" cy="5455920"/>
          </a:xfrm>
        </p:spPr>
        <p:txBody>
          <a:bodyPr>
            <a:normAutofit fontScale="77500" lnSpcReduction="20000"/>
          </a:bodyPr>
          <a:lstStyle/>
          <a:p>
            <a:endParaRPr lang="en-US" b="1" dirty="0"/>
          </a:p>
          <a:p>
            <a:r>
              <a:rPr lang="en-US" b="1" dirty="0"/>
              <a:t>B. Look at the normal QRS progression across V1 –V6</a:t>
            </a:r>
          </a:p>
          <a:p>
            <a:pPr marL="0" indent="0">
              <a:buNone/>
            </a:pPr>
            <a:r>
              <a:rPr lang="en-US" dirty="0"/>
              <a:t>Normally, QRS is negative in V1 –V2 (</a:t>
            </a:r>
            <a:r>
              <a:rPr lang="en-US" dirty="0" err="1"/>
              <a:t>rS</a:t>
            </a:r>
            <a:r>
              <a:rPr lang="en-US" dirty="0"/>
              <a:t>) and becomes progressively positive in V5 –V6 (Rs). </a:t>
            </a:r>
          </a:p>
          <a:p>
            <a:pPr marL="0" indent="0">
              <a:buNone/>
            </a:pPr>
            <a:r>
              <a:rPr lang="en-US" dirty="0"/>
              <a:t>            </a:t>
            </a:r>
            <a:r>
              <a:rPr lang="en-US" b="1" dirty="0"/>
              <a:t>Note: </a:t>
            </a:r>
            <a:r>
              <a:rPr lang="en-US" dirty="0" err="1"/>
              <a:t>rS</a:t>
            </a:r>
            <a:r>
              <a:rPr lang="en-US" dirty="0"/>
              <a:t> denotes small R, big S. Rs denotes big R, small S.</a:t>
            </a:r>
          </a:p>
          <a:p>
            <a:pPr marL="0" indent="0">
              <a:buNone/>
            </a:pPr>
            <a:r>
              <a:rPr lang="en-US" b="1" dirty="0"/>
              <a:t>1</a:t>
            </a:r>
            <a:r>
              <a:rPr lang="en-US" dirty="0"/>
              <a:t>. If QRS starts positive in V1 –V2 (</a:t>
            </a:r>
            <a:r>
              <a:rPr lang="en-US" b="1" dirty="0"/>
              <a:t>early transition) </a:t>
            </a:r>
            <a:r>
              <a:rPr lang="en-US" dirty="0"/>
              <a:t>causes : </a:t>
            </a:r>
          </a:p>
          <a:p>
            <a:pPr marL="0" indent="0">
              <a:buNone/>
            </a:pPr>
            <a:r>
              <a:rPr lang="en-US" dirty="0"/>
              <a:t>• RVH</a:t>
            </a:r>
          </a:p>
          <a:p>
            <a:pPr marL="0" indent="0">
              <a:buNone/>
            </a:pPr>
            <a:r>
              <a:rPr lang="en-US" dirty="0"/>
              <a:t>• RBBB. </a:t>
            </a:r>
          </a:p>
          <a:p>
            <a:pPr marL="0" indent="0">
              <a:buNone/>
            </a:pPr>
            <a:r>
              <a:rPr lang="en-US" dirty="0"/>
              <a:t>• Posterior MI :</a:t>
            </a:r>
          </a:p>
          <a:p>
            <a:pPr marL="0" indent="0">
              <a:buNone/>
            </a:pPr>
            <a:r>
              <a:rPr lang="en-US" dirty="0"/>
              <a:t>• WPW</a:t>
            </a:r>
          </a:p>
          <a:p>
            <a:pPr marL="0" indent="0">
              <a:buNone/>
            </a:pPr>
            <a:r>
              <a:rPr lang="en-US" b="1" dirty="0"/>
              <a:t>2</a:t>
            </a:r>
            <a:r>
              <a:rPr lang="en-US" dirty="0"/>
              <a:t>.</a:t>
            </a:r>
            <a:r>
              <a:rPr lang="en-US" b="1" dirty="0"/>
              <a:t>Poor precordial R‐wave progression </a:t>
            </a:r>
            <a:r>
              <a:rPr lang="en-US" dirty="0"/>
              <a:t>means that the R‐wave height remain &lt; 3mm in lead V3 and more specifically≤1.5 mm, with failure of the R/S height ratio to increase. </a:t>
            </a:r>
          </a:p>
          <a:p>
            <a:pPr marL="0" indent="0">
              <a:buNone/>
            </a:pPr>
            <a:r>
              <a:rPr lang="en-GB" dirty="0"/>
              <a:t>• LAFB</a:t>
            </a:r>
            <a:endParaRPr lang="en-US" dirty="0"/>
          </a:p>
          <a:p>
            <a:pPr marL="0" indent="0">
              <a:buNone/>
            </a:pPr>
            <a:r>
              <a:rPr lang="en-US" dirty="0"/>
              <a:t>• LVH. </a:t>
            </a:r>
          </a:p>
          <a:p>
            <a:pPr marL="0" indent="0">
              <a:buNone/>
            </a:pPr>
            <a:r>
              <a:rPr lang="en-US" dirty="0"/>
              <a:t>• LBBB. </a:t>
            </a:r>
          </a:p>
          <a:p>
            <a:pPr marL="0" indent="0">
              <a:buNone/>
            </a:pPr>
            <a:r>
              <a:rPr lang="en-US" dirty="0"/>
              <a:t>• COPD</a:t>
            </a:r>
            <a:endParaRPr lang="en-GB" dirty="0"/>
          </a:p>
        </p:txBody>
      </p:sp>
    </p:spTree>
    <p:extLst>
      <p:ext uri="{BB962C8B-B14F-4D97-AF65-F5344CB8AC3E}">
        <p14:creationId xmlns:p14="http://schemas.microsoft.com/office/powerpoint/2010/main" val="12281989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9A1BCA-4ABD-900F-CB50-26D38BA3B52D}"/>
              </a:ext>
            </a:extLst>
          </p:cNvPr>
          <p:cNvSpPr>
            <a:spLocks noGrp="1"/>
          </p:cNvSpPr>
          <p:nvPr>
            <p:ph idx="1"/>
          </p:nvPr>
        </p:nvSpPr>
        <p:spPr>
          <a:xfrm>
            <a:off x="838200" y="609600"/>
            <a:ext cx="10515600" cy="5928360"/>
          </a:xfrm>
        </p:spPr>
        <p:txBody>
          <a:bodyPr>
            <a:normAutofit/>
          </a:bodyPr>
          <a:lstStyle/>
          <a:p>
            <a:pPr marL="0" indent="0">
              <a:buNone/>
            </a:pPr>
            <a:r>
              <a:rPr lang="en-US" dirty="0"/>
              <a:t>V</a:t>
            </a:r>
            <a:r>
              <a:rPr lang="en-US" b="1" dirty="0"/>
              <a:t>. P wave: analyze P wave in leads II and V1 for atrial enlargement, and analyze PR interval .</a:t>
            </a:r>
          </a:p>
          <a:p>
            <a:pPr marL="514350" indent="-514350">
              <a:buAutoNum type="alphaUcPeriod"/>
            </a:pPr>
            <a:r>
              <a:rPr lang="en-US" b="1" dirty="0"/>
              <a:t>Lead V1 (and/or V2 ) </a:t>
            </a:r>
          </a:p>
          <a:p>
            <a:pPr marL="0" indent="0">
              <a:buNone/>
            </a:pPr>
            <a:r>
              <a:rPr lang="en-US" dirty="0"/>
              <a:t>     • Left atrial enlargement=terminal negative P‐wave deflection&gt;1 box wide (40 </a:t>
            </a:r>
            <a:r>
              <a:rPr lang="en-US" dirty="0" err="1"/>
              <a:t>ms</a:t>
            </a:r>
            <a:r>
              <a:rPr lang="en-US" dirty="0"/>
              <a:t>) and 1 box deep (0.1 mV). </a:t>
            </a:r>
          </a:p>
          <a:p>
            <a:pPr marL="0" indent="0">
              <a:buNone/>
            </a:pPr>
            <a:r>
              <a:rPr lang="en-US" dirty="0"/>
              <a:t>     • Right atrial enlargement=initial positive P‐wave deflection≥1.5 small boxes high. </a:t>
            </a:r>
          </a:p>
          <a:p>
            <a:pPr marL="514350" indent="-514350">
              <a:buAutoNum type="alphaUcPeriod" startAt="2"/>
            </a:pPr>
            <a:r>
              <a:rPr lang="en-US" b="1" dirty="0"/>
              <a:t>Lead II (and I, III) </a:t>
            </a:r>
            <a:r>
              <a:rPr lang="en-US" dirty="0"/>
              <a:t>P waves should be &lt; 2.5 small boxes high and &lt; 3 small boxes wide </a:t>
            </a:r>
          </a:p>
          <a:p>
            <a:pPr marL="0" indent="0">
              <a:buNone/>
            </a:pPr>
            <a:r>
              <a:rPr lang="en-US" dirty="0"/>
              <a:t>  • Left atrial enlargement=P wave≥120 </a:t>
            </a:r>
            <a:r>
              <a:rPr lang="en-US" dirty="0" err="1"/>
              <a:t>ms</a:t>
            </a:r>
            <a:r>
              <a:rPr lang="en-US" dirty="0"/>
              <a:t> and notched P may have a negative terminal deflection in leads III and </a:t>
            </a:r>
            <a:r>
              <a:rPr lang="en-US" dirty="0" err="1"/>
              <a:t>aVF</a:t>
            </a:r>
            <a:r>
              <a:rPr lang="en-US" dirty="0"/>
              <a:t>.</a:t>
            </a:r>
          </a:p>
          <a:p>
            <a:pPr marL="0" indent="0">
              <a:buNone/>
            </a:pPr>
            <a:r>
              <a:rPr lang="en-US" dirty="0"/>
              <a:t>  • Right atrial enlargement=P wave is peaked≥0.25 mV</a:t>
            </a:r>
          </a:p>
          <a:p>
            <a:pPr marL="0" indent="0">
              <a:buNone/>
            </a:pPr>
            <a:r>
              <a:rPr lang="en-US" b="1" dirty="0"/>
              <a:t>C. Normal PR interval : </a:t>
            </a:r>
            <a:r>
              <a:rPr lang="en-US" dirty="0"/>
              <a:t>Normal PR interval is 120–200 </a:t>
            </a:r>
            <a:r>
              <a:rPr lang="en-US" dirty="0" err="1"/>
              <a:t>ms</a:t>
            </a:r>
            <a:r>
              <a:rPr lang="en-US" dirty="0"/>
              <a:t> (3–5 small boxes)</a:t>
            </a:r>
          </a:p>
          <a:p>
            <a:pPr marL="0" indent="0">
              <a:buNone/>
            </a:pPr>
            <a:endParaRPr lang="en-US" dirty="0"/>
          </a:p>
          <a:p>
            <a:pPr marL="0" indent="0">
              <a:buNone/>
            </a:pPr>
            <a:endParaRPr lang="en-GB" dirty="0"/>
          </a:p>
        </p:txBody>
      </p:sp>
    </p:spTree>
    <p:extLst>
      <p:ext uri="{BB962C8B-B14F-4D97-AF65-F5344CB8AC3E}">
        <p14:creationId xmlns:p14="http://schemas.microsoft.com/office/powerpoint/2010/main" val="4292407531"/>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00D59B-9C6A-E344-25F5-7B9B2F5DE9F9}"/>
              </a:ext>
            </a:extLst>
          </p:cNvPr>
          <p:cNvSpPr>
            <a:spLocks noGrp="1"/>
          </p:cNvSpPr>
          <p:nvPr>
            <p:ph idx="1"/>
          </p:nvPr>
        </p:nvSpPr>
        <p:spPr>
          <a:xfrm>
            <a:off x="838200" y="426720"/>
            <a:ext cx="10988040" cy="5750243"/>
          </a:xfrm>
        </p:spPr>
        <p:txBody>
          <a:bodyPr>
            <a:normAutofit/>
          </a:bodyPr>
          <a:lstStyle/>
          <a:p>
            <a:pPr marL="0" indent="0">
              <a:buNone/>
            </a:pPr>
            <a:r>
              <a:rPr lang="en-US" b="1" dirty="0"/>
              <a:t>VI</a:t>
            </a:r>
            <a:r>
              <a:rPr lang="en-US" dirty="0"/>
              <a:t>. </a:t>
            </a:r>
            <a:r>
              <a:rPr lang="en-US" b="1" dirty="0"/>
              <a:t>Height of QRS</a:t>
            </a:r>
            <a:r>
              <a:rPr lang="en-US" dirty="0"/>
              <a:t>:  look at the height and the width of QRS in leads V1 , V6 and I–</a:t>
            </a:r>
            <a:r>
              <a:rPr lang="en-US" dirty="0" err="1"/>
              <a:t>aVL</a:t>
            </a:r>
            <a:r>
              <a:rPr lang="en-US" dirty="0"/>
              <a:t>.</a:t>
            </a:r>
          </a:p>
          <a:p>
            <a:pPr marL="514350" indent="-514350">
              <a:buAutoNum type="alphaUcPeriod"/>
            </a:pPr>
            <a:r>
              <a:rPr lang="en-GB" b="1" dirty="0"/>
              <a:t>Look for LVH</a:t>
            </a:r>
          </a:p>
          <a:p>
            <a:pPr marL="0" indent="0">
              <a:buNone/>
            </a:pPr>
            <a:r>
              <a:rPr lang="en-US" dirty="0"/>
              <a:t>• In lead I, R wave&gt;14 mm, or R wave in lead I+S wave in lead III&gt;25 mm. </a:t>
            </a:r>
          </a:p>
          <a:p>
            <a:pPr marL="0" indent="0">
              <a:buNone/>
            </a:pPr>
            <a:r>
              <a:rPr lang="en-US" dirty="0"/>
              <a:t>• In lead </a:t>
            </a:r>
            <a:r>
              <a:rPr lang="en-US" dirty="0" err="1"/>
              <a:t>aVL</a:t>
            </a:r>
            <a:r>
              <a:rPr lang="en-US" dirty="0"/>
              <a:t>, R wave&gt;11 mm or&gt;13 mm in case of LAFB (very specific criterion). </a:t>
            </a:r>
          </a:p>
          <a:p>
            <a:pPr marL="0" indent="0">
              <a:buNone/>
            </a:pPr>
            <a:r>
              <a:rPr lang="en-US" dirty="0"/>
              <a:t>• S wave in V3+R wave in aVL≥28 mm in men or≥20 mm in women</a:t>
            </a:r>
          </a:p>
          <a:p>
            <a:pPr marL="0" indent="0">
              <a:buNone/>
            </a:pPr>
            <a:r>
              <a:rPr lang="en-US" dirty="0"/>
              <a:t>• In the precordial leads: big R on the left (V5 –V6 ) and big S on the right (V1 –V2 ).</a:t>
            </a:r>
          </a:p>
          <a:p>
            <a:pPr marL="0" indent="0">
              <a:buNone/>
            </a:pPr>
            <a:r>
              <a:rPr lang="en-GB" b="1" dirty="0"/>
              <a:t>B. Look for RVH</a:t>
            </a:r>
          </a:p>
          <a:p>
            <a:pPr marL="514350" indent="-514350">
              <a:buAutoNum type="arabicPeriod"/>
            </a:pPr>
            <a:r>
              <a:rPr lang="en-US" dirty="0"/>
              <a:t>Right‐axis deviation (net QRS [–] in lead I, [+] in lead </a:t>
            </a:r>
            <a:r>
              <a:rPr lang="en-US" dirty="0" err="1"/>
              <a:t>aVF</a:t>
            </a:r>
            <a:r>
              <a:rPr lang="en-US" dirty="0"/>
              <a:t>)</a:t>
            </a:r>
          </a:p>
          <a:p>
            <a:pPr marL="514350" indent="-514350">
              <a:buAutoNum type="arabicPeriod"/>
            </a:pPr>
            <a:r>
              <a:rPr lang="en-US" dirty="0"/>
              <a:t>Big R wave in the right lead V1 (≥7 mm), or big S wave in the left leads V5 –V6 (≥7 mm) Or big R&gt;S in V1 , big S&gt;R in V6 , or small S in V1≤2 mm </a:t>
            </a:r>
          </a:p>
          <a:p>
            <a:pPr marL="0" indent="0">
              <a:buNone/>
            </a:pPr>
            <a:r>
              <a:rPr lang="en-US" dirty="0"/>
              <a:t>Or R in V1+S in V6&gt;10.5 mm</a:t>
            </a:r>
            <a:endParaRPr lang="en-GB" b="1" dirty="0"/>
          </a:p>
        </p:txBody>
      </p:sp>
    </p:spTree>
    <p:extLst>
      <p:ext uri="{BB962C8B-B14F-4D97-AF65-F5344CB8AC3E}">
        <p14:creationId xmlns:p14="http://schemas.microsoft.com/office/powerpoint/2010/main" val="396520684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D0EEBFF-D236-9679-C433-5D7692BEF0C5}"/>
              </a:ext>
            </a:extLst>
          </p:cNvPr>
          <p:cNvSpPr>
            <a:spLocks noGrp="1"/>
          </p:cNvSpPr>
          <p:nvPr>
            <p:ph idx="1"/>
          </p:nvPr>
        </p:nvSpPr>
        <p:spPr>
          <a:xfrm>
            <a:off x="838200" y="503238"/>
            <a:ext cx="10515600" cy="5673725"/>
          </a:xfrm>
        </p:spPr>
        <p:txBody>
          <a:bodyPr/>
          <a:lstStyle/>
          <a:p>
            <a:pPr marL="0" indent="0">
              <a:buNone/>
            </a:pPr>
            <a:r>
              <a:rPr lang="en-US" b="1" dirty="0"/>
              <a:t>VII. Width of QRS. Conduction abnormalities: bundle brunch blocks</a:t>
            </a:r>
            <a:r>
              <a:rPr lang="en-US" dirty="0"/>
              <a:t> –</a:t>
            </a:r>
          </a:p>
          <a:p>
            <a:pPr marL="0" indent="0">
              <a:buNone/>
            </a:pPr>
            <a:r>
              <a:rPr lang="en-US" dirty="0"/>
              <a:t>-The normal QRS duration is </a:t>
            </a:r>
            <a:r>
              <a:rPr lang="en-GB" dirty="0"/>
              <a:t>&lt; 110 </a:t>
            </a:r>
            <a:r>
              <a:rPr lang="en-GB" dirty="0" err="1"/>
              <a:t>ms</a:t>
            </a:r>
            <a:r>
              <a:rPr lang="en-GB" dirty="0"/>
              <a:t>, </a:t>
            </a:r>
            <a:endParaRPr lang="en-US" dirty="0"/>
          </a:p>
          <a:p>
            <a:pPr marL="0" indent="0">
              <a:buNone/>
            </a:pPr>
            <a:r>
              <a:rPr lang="en-US" dirty="0"/>
              <a:t>-In complete bundle branch block, the QRS is wide ( &gt; 120 </a:t>
            </a:r>
            <a:r>
              <a:rPr lang="en-US" dirty="0" err="1"/>
              <a:t>ms</a:t>
            </a:r>
            <a:r>
              <a:rPr lang="en-US" dirty="0"/>
              <a:t> or 3 small boxes ) </a:t>
            </a:r>
          </a:p>
          <a:p>
            <a:pPr marL="0" indent="0">
              <a:buNone/>
            </a:pPr>
            <a:r>
              <a:rPr lang="en-US" dirty="0"/>
              <a:t>-In incomplete bundle branch block, the QRS is 110–119 </a:t>
            </a:r>
            <a:r>
              <a:rPr lang="en-US" dirty="0" err="1"/>
              <a:t>ms.</a:t>
            </a:r>
            <a:r>
              <a:rPr lang="en-US" dirty="0"/>
              <a:t> </a:t>
            </a:r>
          </a:p>
          <a:p>
            <a:pPr marL="0" indent="0">
              <a:buNone/>
            </a:pPr>
            <a:endParaRPr lang="en-US" b="1" dirty="0"/>
          </a:p>
          <a:p>
            <a:pPr marL="0" indent="0">
              <a:buNone/>
            </a:pPr>
            <a:r>
              <a:rPr lang="en-US" b="1" dirty="0"/>
              <a:t>Look at the QRS complex in lead V1 . Is the net QRS complex upright (i.e., positive)?</a:t>
            </a:r>
          </a:p>
          <a:p>
            <a:pPr marL="0" indent="0">
              <a:buNone/>
            </a:pPr>
            <a:r>
              <a:rPr lang="en-US" dirty="0"/>
              <a:t>• If yes, consider </a:t>
            </a:r>
            <a:r>
              <a:rPr lang="en-US" b="1" dirty="0"/>
              <a:t>RBBB</a:t>
            </a:r>
            <a:r>
              <a:rPr lang="en-US" dirty="0"/>
              <a:t>. </a:t>
            </a:r>
          </a:p>
          <a:p>
            <a:pPr marL="0" indent="0">
              <a:buNone/>
            </a:pPr>
            <a:r>
              <a:rPr lang="en-US" dirty="0"/>
              <a:t>• If no (negative QRS in lead V1 ), consider </a:t>
            </a:r>
            <a:r>
              <a:rPr lang="en-US" b="1" dirty="0"/>
              <a:t>LBBB</a:t>
            </a:r>
            <a:r>
              <a:rPr lang="en-US" dirty="0"/>
              <a:t>. </a:t>
            </a:r>
            <a:endParaRPr lang="en-GB" b="1" dirty="0"/>
          </a:p>
        </p:txBody>
      </p:sp>
    </p:spTree>
    <p:extLst>
      <p:ext uri="{BB962C8B-B14F-4D97-AF65-F5344CB8AC3E}">
        <p14:creationId xmlns:p14="http://schemas.microsoft.com/office/powerpoint/2010/main" val="2781132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DAA3079-74CD-24F4-94D5-B4A315454B2F}"/>
              </a:ext>
            </a:extLst>
          </p:cNvPr>
          <p:cNvPicPr>
            <a:picLocks noGrp="1" noChangeAspect="1"/>
          </p:cNvPicPr>
          <p:nvPr>
            <p:ph idx="1"/>
          </p:nvPr>
        </p:nvPicPr>
        <p:blipFill>
          <a:blip r:embed="rId2"/>
          <a:stretch>
            <a:fillRect/>
          </a:stretch>
        </p:blipFill>
        <p:spPr>
          <a:xfrm>
            <a:off x="487680" y="548640"/>
            <a:ext cx="8976360" cy="3901440"/>
          </a:xfrm>
        </p:spPr>
      </p:pic>
      <p:sp>
        <p:nvSpPr>
          <p:cNvPr id="8" name="TextBox 7">
            <a:extLst>
              <a:ext uri="{FF2B5EF4-FFF2-40B4-BE49-F238E27FC236}">
                <a16:creationId xmlns:a16="http://schemas.microsoft.com/office/drawing/2014/main" id="{AC771937-0A2C-A57A-3838-0F516D5A700D}"/>
              </a:ext>
            </a:extLst>
          </p:cNvPr>
          <p:cNvSpPr txBox="1"/>
          <p:nvPr/>
        </p:nvSpPr>
        <p:spPr>
          <a:xfrm>
            <a:off x="381000" y="4648200"/>
            <a:ext cx="11430000" cy="2031325"/>
          </a:xfrm>
          <a:prstGeom prst="rect">
            <a:avLst/>
          </a:prstGeom>
          <a:noFill/>
        </p:spPr>
        <p:txBody>
          <a:bodyPr wrap="square">
            <a:spAutoFit/>
          </a:bodyPr>
          <a:lstStyle/>
          <a:p>
            <a:r>
              <a:rPr lang="en-US" dirty="0"/>
              <a:t>In RBBB, the vector of depolarization spreads from the left septum to the right and left ventricles. RSR’ is seen in V1 , R being septal depolarization, S being LV depolarization, and R’ being the late RV depolarization. RS is seen in V6 , R being LV depolarization, and the wide S being the slow RV depolarization. In LBBB, the vector of depolarization spreads from the right septum to the left septum and the left ventricle. The vector looks toward V6 and away from V1 . Thus, in LBBB, QRS is positive in V5 –V6 and widely negative in V1 . The septal q wave that is normally seen in the left lateral leads is lost, as the septum depolarizes from the right to the left. The presence of any q wave in leads V5 –V6 or lead I is not typical of LBBB and suggests an old MI. Only rarely, a q wave may be seen in lead </a:t>
            </a:r>
            <a:r>
              <a:rPr lang="en-US" dirty="0" err="1"/>
              <a:t>aVL</a:t>
            </a:r>
            <a:r>
              <a:rPr lang="en-US" dirty="0"/>
              <a:t>.</a:t>
            </a:r>
            <a:endParaRPr lang="en-GB" dirty="0"/>
          </a:p>
        </p:txBody>
      </p:sp>
    </p:spTree>
    <p:extLst>
      <p:ext uri="{BB962C8B-B14F-4D97-AF65-F5344CB8AC3E}">
        <p14:creationId xmlns:p14="http://schemas.microsoft.com/office/powerpoint/2010/main" val="24165655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15DD6C-4F8A-0271-224D-630A5943A68B}"/>
              </a:ext>
            </a:extLst>
          </p:cNvPr>
          <p:cNvSpPr>
            <a:spLocks noGrp="1"/>
          </p:cNvSpPr>
          <p:nvPr>
            <p:ph idx="1"/>
          </p:nvPr>
        </p:nvSpPr>
        <p:spPr>
          <a:xfrm>
            <a:off x="838200" y="289560"/>
            <a:ext cx="10515600" cy="6233160"/>
          </a:xfrm>
        </p:spPr>
        <p:txBody>
          <a:bodyPr/>
          <a:lstStyle/>
          <a:p>
            <a:pPr marL="0" indent="0">
              <a:buNone/>
            </a:pPr>
            <a:r>
              <a:rPr lang="en-US" dirty="0"/>
              <a:t>A. RBBB In RBBB, QRS has a slurred positivity in the right leads. Beside QRS≥120 </a:t>
            </a:r>
            <a:r>
              <a:rPr lang="en-US" dirty="0" err="1"/>
              <a:t>ms</a:t>
            </a:r>
            <a:r>
              <a:rPr lang="en-US" dirty="0"/>
              <a:t>, both the following two criteria are required to make the diagnosis of RBBB: </a:t>
            </a:r>
          </a:p>
          <a:p>
            <a:pPr marL="0" indent="0">
              <a:buNone/>
            </a:pPr>
            <a:r>
              <a:rPr lang="en-US" dirty="0"/>
              <a:t>     • </a:t>
            </a:r>
            <a:r>
              <a:rPr lang="en-US" dirty="0" err="1"/>
              <a:t>rSR</a:t>
            </a:r>
            <a:r>
              <a:rPr lang="en-US" dirty="0"/>
              <a:t>’, </a:t>
            </a:r>
            <a:r>
              <a:rPr lang="en-US" dirty="0" err="1"/>
              <a:t>rsR</a:t>
            </a:r>
            <a:r>
              <a:rPr lang="en-US" dirty="0"/>
              <a:t>’, or </a:t>
            </a:r>
            <a:r>
              <a:rPr lang="en-US" dirty="0" err="1"/>
              <a:t>rsr</a:t>
            </a:r>
            <a:r>
              <a:rPr lang="en-US" dirty="0"/>
              <a:t>’ pattern in the right leads V1 and/or V2 . R’ is usually wider and taller than the initial R wave. A </a:t>
            </a:r>
            <a:r>
              <a:rPr lang="en-US" dirty="0" err="1"/>
              <a:t>qR</a:t>
            </a:r>
            <a:r>
              <a:rPr lang="en-US" dirty="0"/>
              <a:t> pattern may replace </a:t>
            </a:r>
            <a:r>
              <a:rPr lang="en-US" dirty="0" err="1"/>
              <a:t>rSR</a:t>
            </a:r>
            <a:r>
              <a:rPr lang="en-US" dirty="0"/>
              <a:t>’ in lead V1 when the initial r wave is isoelectric. A single wide R wave, often notched, may be seen instead of </a:t>
            </a:r>
            <a:r>
              <a:rPr lang="en-US" dirty="0" err="1"/>
              <a:t>rSR</a:t>
            </a:r>
            <a:r>
              <a:rPr lang="en-US" dirty="0"/>
              <a:t>’. </a:t>
            </a:r>
          </a:p>
          <a:p>
            <a:pPr marL="0" indent="0">
              <a:buNone/>
            </a:pPr>
            <a:r>
              <a:rPr lang="en-US" dirty="0"/>
              <a:t>    • A wide S wave in the left leads I and V6 . S wave must be wider than R wave or wider than 40 </a:t>
            </a:r>
            <a:r>
              <a:rPr lang="en-US" dirty="0" err="1"/>
              <a:t>ms.</a:t>
            </a:r>
            <a:r>
              <a:rPr lang="en-US" dirty="0"/>
              <a:t> In addition, T‐wave inversion in V1 –V2 is common but not mandatory (T directed in an opposite direction to QRS)</a:t>
            </a:r>
          </a:p>
          <a:p>
            <a:pPr marL="0" indent="0">
              <a:buNone/>
            </a:pPr>
            <a:endParaRPr lang="en-GB" dirty="0"/>
          </a:p>
        </p:txBody>
      </p:sp>
    </p:spTree>
    <p:extLst>
      <p:ext uri="{BB962C8B-B14F-4D97-AF65-F5344CB8AC3E}">
        <p14:creationId xmlns:p14="http://schemas.microsoft.com/office/powerpoint/2010/main" val="38347280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F96B19-9ABD-9723-D521-953B0ABE7AFB}"/>
              </a:ext>
            </a:extLst>
          </p:cNvPr>
          <p:cNvPicPr>
            <a:picLocks noGrp="1" noChangeAspect="1"/>
          </p:cNvPicPr>
          <p:nvPr>
            <p:ph idx="1"/>
          </p:nvPr>
        </p:nvPicPr>
        <p:blipFill>
          <a:blip r:embed="rId2"/>
          <a:stretch>
            <a:fillRect/>
          </a:stretch>
        </p:blipFill>
        <p:spPr>
          <a:xfrm>
            <a:off x="1036320" y="924560"/>
            <a:ext cx="7559040" cy="2992120"/>
          </a:xfrm>
        </p:spPr>
      </p:pic>
      <p:sp>
        <p:nvSpPr>
          <p:cNvPr id="7" name="TextBox 6">
            <a:extLst>
              <a:ext uri="{FF2B5EF4-FFF2-40B4-BE49-F238E27FC236}">
                <a16:creationId xmlns:a16="http://schemas.microsoft.com/office/drawing/2014/main" id="{106391D9-D89E-891F-A2C1-8D3E49BAAB22}"/>
              </a:ext>
            </a:extLst>
          </p:cNvPr>
          <p:cNvSpPr txBox="1"/>
          <p:nvPr/>
        </p:nvSpPr>
        <p:spPr>
          <a:xfrm>
            <a:off x="746760" y="4846320"/>
            <a:ext cx="11125200" cy="923330"/>
          </a:xfrm>
          <a:prstGeom prst="rect">
            <a:avLst/>
          </a:prstGeom>
          <a:noFill/>
        </p:spPr>
        <p:txBody>
          <a:bodyPr wrap="square">
            <a:spAutoFit/>
          </a:bodyPr>
          <a:lstStyle/>
          <a:p>
            <a:r>
              <a:rPr lang="en-US" b="1" dirty="0"/>
              <a:t>RBBB</a:t>
            </a:r>
            <a:r>
              <a:rPr lang="en-US" dirty="0"/>
              <a:t>. </a:t>
            </a:r>
            <a:r>
              <a:rPr lang="en-US" dirty="0" err="1"/>
              <a:t>rSR</a:t>
            </a:r>
            <a:r>
              <a:rPr lang="en-US" dirty="0"/>
              <a:t>’ is seen in V1 , notched R wave is seen in V2 , and </a:t>
            </a:r>
            <a:r>
              <a:rPr lang="en-US" dirty="0" err="1"/>
              <a:t>rsR</a:t>
            </a:r>
            <a:r>
              <a:rPr lang="en-US" dirty="0"/>
              <a:t>’ and </a:t>
            </a:r>
            <a:r>
              <a:rPr lang="en-US" dirty="0" err="1"/>
              <a:t>qR</a:t>
            </a:r>
            <a:r>
              <a:rPr lang="en-US" dirty="0"/>
              <a:t> patterns are shown on the right (</a:t>
            </a:r>
            <a:r>
              <a:rPr lang="en-US" dirty="0" err="1"/>
              <a:t>rsR</a:t>
            </a:r>
            <a:r>
              <a:rPr lang="en-US" dirty="0"/>
              <a:t>’ means small R, small S, big R’). Any of those patterns is consistent with RBBB in V1 –V2 . S wave is wide and slurred in leads I, </a:t>
            </a:r>
            <a:r>
              <a:rPr lang="en-US" dirty="0" err="1"/>
              <a:t>aVL</a:t>
            </a:r>
            <a:r>
              <a:rPr lang="en-US" dirty="0"/>
              <a:t>, and V5 –V</a:t>
            </a:r>
            <a:endParaRPr lang="en-GB" dirty="0"/>
          </a:p>
        </p:txBody>
      </p:sp>
    </p:spTree>
    <p:extLst>
      <p:ext uri="{BB962C8B-B14F-4D97-AF65-F5344CB8AC3E}">
        <p14:creationId xmlns:p14="http://schemas.microsoft.com/office/powerpoint/2010/main" val="243967072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7D5512-2A1E-0946-5C6A-7223CC7F0B21}"/>
              </a:ext>
            </a:extLst>
          </p:cNvPr>
          <p:cNvPicPr>
            <a:picLocks noGrp="1" noChangeAspect="1"/>
          </p:cNvPicPr>
          <p:nvPr>
            <p:ph idx="1"/>
          </p:nvPr>
        </p:nvPicPr>
        <p:blipFill>
          <a:blip r:embed="rId2"/>
          <a:stretch>
            <a:fillRect/>
          </a:stretch>
        </p:blipFill>
        <p:spPr>
          <a:xfrm>
            <a:off x="1798320" y="1310640"/>
            <a:ext cx="7741920" cy="3474085"/>
          </a:xfrm>
        </p:spPr>
      </p:pic>
      <p:sp>
        <p:nvSpPr>
          <p:cNvPr id="7" name="TextBox 6">
            <a:extLst>
              <a:ext uri="{FF2B5EF4-FFF2-40B4-BE49-F238E27FC236}">
                <a16:creationId xmlns:a16="http://schemas.microsoft.com/office/drawing/2014/main" id="{F39090D4-DBE0-CB79-BCB5-073566B67631}"/>
              </a:ext>
            </a:extLst>
          </p:cNvPr>
          <p:cNvSpPr txBox="1"/>
          <p:nvPr/>
        </p:nvSpPr>
        <p:spPr>
          <a:xfrm>
            <a:off x="1325880" y="5102275"/>
            <a:ext cx="9372600" cy="369332"/>
          </a:xfrm>
          <a:prstGeom prst="rect">
            <a:avLst/>
          </a:prstGeom>
          <a:noFill/>
        </p:spPr>
        <p:txBody>
          <a:bodyPr wrap="square">
            <a:spAutoFit/>
          </a:bodyPr>
          <a:lstStyle/>
          <a:p>
            <a:r>
              <a:rPr lang="en-US" b="1" dirty="0"/>
              <a:t>Sinus tachycardia with RBBB </a:t>
            </a:r>
            <a:r>
              <a:rPr lang="en-US" dirty="0"/>
              <a:t>(</a:t>
            </a:r>
            <a:r>
              <a:rPr lang="en-US" dirty="0" err="1"/>
              <a:t>rSR</a:t>
            </a:r>
            <a:r>
              <a:rPr lang="en-US" dirty="0"/>
              <a:t>’ in V1 –V2 , wide and slurred S in V5 –V6 and I–</a:t>
            </a:r>
            <a:r>
              <a:rPr lang="en-US" dirty="0" err="1"/>
              <a:t>aVL</a:t>
            </a:r>
            <a:r>
              <a:rPr lang="en-US" dirty="0"/>
              <a:t>, arrows)</a:t>
            </a:r>
            <a:endParaRPr lang="en-GB" dirty="0"/>
          </a:p>
        </p:txBody>
      </p:sp>
    </p:spTree>
    <p:extLst>
      <p:ext uri="{BB962C8B-B14F-4D97-AF65-F5344CB8AC3E}">
        <p14:creationId xmlns:p14="http://schemas.microsoft.com/office/powerpoint/2010/main" val="23428647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AB6A24-FFF4-9879-A0D2-7B820BA46F6F}"/>
              </a:ext>
            </a:extLst>
          </p:cNvPr>
          <p:cNvSpPr>
            <a:spLocks noGrp="1"/>
          </p:cNvSpPr>
          <p:nvPr>
            <p:ph idx="1"/>
          </p:nvPr>
        </p:nvSpPr>
        <p:spPr>
          <a:xfrm>
            <a:off x="838200" y="198120"/>
            <a:ext cx="10515600" cy="5978843"/>
          </a:xfrm>
        </p:spPr>
        <p:txBody>
          <a:bodyPr>
            <a:normAutofit/>
          </a:bodyPr>
          <a:lstStyle/>
          <a:p>
            <a:pPr marL="0" indent="0">
              <a:buNone/>
            </a:pPr>
            <a:r>
              <a:rPr lang="en-US" b="1" dirty="0"/>
              <a:t>B. LBBB </a:t>
            </a:r>
          </a:p>
          <a:p>
            <a:pPr marL="0" indent="0">
              <a:buNone/>
            </a:pPr>
            <a:r>
              <a:rPr lang="en-US" dirty="0"/>
              <a:t>In LBBB, QRS has a slurred positivity in the left leads. </a:t>
            </a:r>
          </a:p>
          <a:p>
            <a:pPr marL="0" indent="0">
              <a:buNone/>
            </a:pPr>
            <a:r>
              <a:rPr lang="en-US" b="1" dirty="0"/>
              <a:t>The four criteria are required to make the diagnosis of LBBB</a:t>
            </a:r>
            <a:r>
              <a:rPr lang="en-US" dirty="0"/>
              <a:t>: </a:t>
            </a:r>
          </a:p>
          <a:p>
            <a:pPr marL="514350" indent="-514350">
              <a:buAutoNum type="arabicPeriod"/>
            </a:pPr>
            <a:r>
              <a:rPr lang="en-US" dirty="0"/>
              <a:t>Wide notched R wave in leads I, </a:t>
            </a:r>
            <a:r>
              <a:rPr lang="en-US" dirty="0" err="1"/>
              <a:t>aVL</a:t>
            </a:r>
            <a:r>
              <a:rPr lang="en-US" dirty="0"/>
              <a:t>, and V5 –V6 (M‐shaped or slurred, plateaued R wave). </a:t>
            </a:r>
          </a:p>
          <a:p>
            <a:pPr marL="514350" indent="-514350">
              <a:buAutoNum type="arabicPeriod"/>
            </a:pPr>
            <a:r>
              <a:rPr lang="en-US" dirty="0"/>
              <a:t>QRS is negative in leads V1 , V2 , V3 with an </a:t>
            </a:r>
            <a:r>
              <a:rPr lang="en-US" dirty="0" err="1"/>
              <a:t>rS</a:t>
            </a:r>
            <a:r>
              <a:rPr lang="en-US" dirty="0"/>
              <a:t> or QS pattern. QS pattern may also occur in leads III and </a:t>
            </a:r>
            <a:r>
              <a:rPr lang="en-US" dirty="0" err="1"/>
              <a:t>aVF</a:t>
            </a:r>
            <a:r>
              <a:rPr lang="en-US" dirty="0"/>
              <a:t>, simulating an inferior MI, but not in lead II..</a:t>
            </a:r>
            <a:r>
              <a:rPr lang="en-US" b="1" dirty="0"/>
              <a:t> QR pattern does not occur with LBBB and always implies an associated MI</a:t>
            </a:r>
            <a:endParaRPr lang="en-US" dirty="0"/>
          </a:p>
          <a:p>
            <a:pPr marL="514350" indent="-514350">
              <a:buAutoNum type="arabicPeriod" startAt="3"/>
            </a:pPr>
            <a:r>
              <a:rPr lang="en-US" dirty="0"/>
              <a:t>The septal q wave should be absent in the left leads I and V5 –V6 The ST segment and T wave should be directed opposite to QRS. Unlike LVH, RBBB, and RVH, secondary ST–T changes are mandatory in LBBB</a:t>
            </a:r>
          </a:p>
        </p:txBody>
      </p:sp>
    </p:spTree>
    <p:extLst>
      <p:ext uri="{BB962C8B-B14F-4D97-AF65-F5344CB8AC3E}">
        <p14:creationId xmlns:p14="http://schemas.microsoft.com/office/powerpoint/2010/main" val="138241614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10E53E-344B-94F5-8FCE-8451189FF0AA}"/>
              </a:ext>
            </a:extLst>
          </p:cNvPr>
          <p:cNvPicPr>
            <a:picLocks noGrp="1" noChangeAspect="1"/>
          </p:cNvPicPr>
          <p:nvPr>
            <p:ph idx="1"/>
          </p:nvPr>
        </p:nvPicPr>
        <p:blipFill>
          <a:blip r:embed="rId2"/>
          <a:stretch>
            <a:fillRect/>
          </a:stretch>
        </p:blipFill>
        <p:spPr>
          <a:xfrm>
            <a:off x="1051560" y="441960"/>
            <a:ext cx="6873240" cy="3742849"/>
          </a:xfrm>
        </p:spPr>
      </p:pic>
      <p:sp>
        <p:nvSpPr>
          <p:cNvPr id="7" name="TextBox 6">
            <a:extLst>
              <a:ext uri="{FF2B5EF4-FFF2-40B4-BE49-F238E27FC236}">
                <a16:creationId xmlns:a16="http://schemas.microsoft.com/office/drawing/2014/main" id="{273B7D70-3016-9470-A7C1-A27E0C48FB1C}"/>
              </a:ext>
            </a:extLst>
          </p:cNvPr>
          <p:cNvSpPr txBox="1"/>
          <p:nvPr/>
        </p:nvSpPr>
        <p:spPr>
          <a:xfrm>
            <a:off x="518160" y="4393198"/>
            <a:ext cx="11353800" cy="923330"/>
          </a:xfrm>
          <a:prstGeom prst="rect">
            <a:avLst/>
          </a:prstGeom>
          <a:noFill/>
        </p:spPr>
        <p:txBody>
          <a:bodyPr wrap="square">
            <a:spAutoFit/>
          </a:bodyPr>
          <a:lstStyle/>
          <a:p>
            <a:r>
              <a:rPr lang="en-US" dirty="0"/>
              <a:t>LBBB. In the lateral leads, there may be an “M‐shaped” R wave (as seen here in I and V5 ) or a broad slurred R wave (as seen in V6 ), with delayed R-wave peak time &gt; 60 </a:t>
            </a:r>
            <a:r>
              <a:rPr lang="en-US" dirty="0" err="1"/>
              <a:t>ms</a:t>
            </a:r>
            <a:r>
              <a:rPr lang="en-US" dirty="0"/>
              <a:t>, measured from QRS onset to the second R notch or the end of the R plateau. </a:t>
            </a:r>
            <a:endParaRPr lang="en-GB" dirty="0"/>
          </a:p>
        </p:txBody>
      </p:sp>
    </p:spTree>
    <p:extLst>
      <p:ext uri="{BB962C8B-B14F-4D97-AF65-F5344CB8AC3E}">
        <p14:creationId xmlns:p14="http://schemas.microsoft.com/office/powerpoint/2010/main" val="320750388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E09BB5-8604-C17B-41F4-C308B7D478EA}"/>
              </a:ext>
            </a:extLst>
          </p:cNvPr>
          <p:cNvPicPr>
            <a:picLocks noGrp="1" noChangeAspect="1"/>
          </p:cNvPicPr>
          <p:nvPr>
            <p:ph idx="1"/>
          </p:nvPr>
        </p:nvPicPr>
        <p:blipFill>
          <a:blip r:embed="rId2"/>
          <a:stretch>
            <a:fillRect/>
          </a:stretch>
        </p:blipFill>
        <p:spPr>
          <a:xfrm>
            <a:off x="1432561" y="777240"/>
            <a:ext cx="7619999" cy="3385027"/>
          </a:xfrm>
        </p:spPr>
      </p:pic>
      <p:sp>
        <p:nvSpPr>
          <p:cNvPr id="7" name="TextBox 6">
            <a:extLst>
              <a:ext uri="{FF2B5EF4-FFF2-40B4-BE49-F238E27FC236}">
                <a16:creationId xmlns:a16="http://schemas.microsoft.com/office/drawing/2014/main" id="{4786C6E0-E00F-B174-7745-61A82A1C2980}"/>
              </a:ext>
            </a:extLst>
          </p:cNvPr>
          <p:cNvSpPr txBox="1"/>
          <p:nvPr/>
        </p:nvSpPr>
        <p:spPr>
          <a:xfrm>
            <a:off x="472440" y="4520476"/>
            <a:ext cx="11521440" cy="646331"/>
          </a:xfrm>
          <a:prstGeom prst="rect">
            <a:avLst/>
          </a:prstGeom>
          <a:noFill/>
        </p:spPr>
        <p:txBody>
          <a:bodyPr wrap="square">
            <a:spAutoFit/>
          </a:bodyPr>
          <a:lstStyle/>
          <a:p>
            <a:r>
              <a:rPr lang="en-US" dirty="0"/>
              <a:t>LBBB (slurred R wave in the left leads: V5 –V6 and I–</a:t>
            </a:r>
            <a:r>
              <a:rPr lang="en-US" dirty="0" err="1"/>
              <a:t>aVL</a:t>
            </a:r>
            <a:r>
              <a:rPr lang="en-US" dirty="0"/>
              <a:t>) (arrows). ST depression in V5 –V6 , I, and </a:t>
            </a:r>
            <a:r>
              <a:rPr lang="en-US" dirty="0" err="1"/>
              <a:t>aVL</a:t>
            </a:r>
            <a:r>
              <a:rPr lang="en-US" dirty="0"/>
              <a:t>, and ST elevation in V1 –V3 , directed opposite to QRS, are secondary to LBBB (circles).</a:t>
            </a:r>
            <a:endParaRPr lang="en-GB" dirty="0"/>
          </a:p>
        </p:txBody>
      </p:sp>
    </p:spTree>
    <p:extLst>
      <p:ext uri="{BB962C8B-B14F-4D97-AF65-F5344CB8AC3E}">
        <p14:creationId xmlns:p14="http://schemas.microsoft.com/office/powerpoint/2010/main" val="396428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513E83-D85C-F7D5-4285-79525E76DE7E}"/>
              </a:ext>
            </a:extLst>
          </p:cNvPr>
          <p:cNvSpPr>
            <a:spLocks noGrp="1"/>
          </p:cNvSpPr>
          <p:nvPr>
            <p:ph idx="1"/>
          </p:nvPr>
        </p:nvSpPr>
        <p:spPr>
          <a:xfrm>
            <a:off x="838200" y="259080"/>
            <a:ext cx="10515600" cy="5917883"/>
          </a:xfrm>
        </p:spPr>
        <p:txBody>
          <a:bodyPr/>
          <a:lstStyle/>
          <a:p>
            <a:pPr marL="0" indent="0">
              <a:buNone/>
            </a:pPr>
            <a:r>
              <a:rPr lang="en-US"/>
              <a:t>Wide Q wave (QS or QR) may be normally seen in lead III of a horizontal heart looking away from lead III. QS or QR pattern may normally be seen in lead aVL in a patient with a vertical heart that looks away from lead aVL.</a:t>
            </a:r>
            <a:endParaRPr lang="en-GB" b="1" dirty="0"/>
          </a:p>
        </p:txBody>
      </p:sp>
      <p:pic>
        <p:nvPicPr>
          <p:cNvPr id="5" name="Picture 4">
            <a:extLst>
              <a:ext uri="{FF2B5EF4-FFF2-40B4-BE49-F238E27FC236}">
                <a16:creationId xmlns:a16="http://schemas.microsoft.com/office/drawing/2014/main" id="{F708207E-2014-D41C-0811-5C3210379823}"/>
              </a:ext>
            </a:extLst>
          </p:cNvPr>
          <p:cNvPicPr>
            <a:picLocks noChangeAspect="1"/>
          </p:cNvPicPr>
          <p:nvPr/>
        </p:nvPicPr>
        <p:blipFill>
          <a:blip r:embed="rId2"/>
          <a:stretch>
            <a:fillRect/>
          </a:stretch>
        </p:blipFill>
        <p:spPr>
          <a:xfrm>
            <a:off x="1298257" y="2057400"/>
            <a:ext cx="9019223" cy="3977640"/>
          </a:xfrm>
          <a:prstGeom prst="rect">
            <a:avLst/>
          </a:prstGeom>
        </p:spPr>
      </p:pic>
    </p:spTree>
    <p:extLst>
      <p:ext uri="{BB962C8B-B14F-4D97-AF65-F5344CB8AC3E}">
        <p14:creationId xmlns:p14="http://schemas.microsoft.com/office/powerpoint/2010/main" val="255532211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EE8A59-8CAC-E3B3-AF0C-FF736BBFF5C2}"/>
              </a:ext>
            </a:extLst>
          </p:cNvPr>
          <p:cNvPicPr>
            <a:picLocks noGrp="1" noChangeAspect="1"/>
          </p:cNvPicPr>
          <p:nvPr>
            <p:ph idx="1"/>
          </p:nvPr>
        </p:nvPicPr>
        <p:blipFill>
          <a:blip r:embed="rId2"/>
          <a:stretch>
            <a:fillRect/>
          </a:stretch>
        </p:blipFill>
        <p:spPr>
          <a:xfrm>
            <a:off x="1965960" y="254766"/>
            <a:ext cx="7178040" cy="5323645"/>
          </a:xfrm>
        </p:spPr>
      </p:pic>
      <p:sp>
        <p:nvSpPr>
          <p:cNvPr id="7" name="TextBox 6">
            <a:extLst>
              <a:ext uri="{FF2B5EF4-FFF2-40B4-BE49-F238E27FC236}">
                <a16:creationId xmlns:a16="http://schemas.microsoft.com/office/drawing/2014/main" id="{A155B72E-054E-3113-1E93-2B8155742CFB}"/>
              </a:ext>
            </a:extLst>
          </p:cNvPr>
          <p:cNvSpPr txBox="1"/>
          <p:nvPr/>
        </p:nvSpPr>
        <p:spPr>
          <a:xfrm>
            <a:off x="457200" y="5845908"/>
            <a:ext cx="10637520" cy="646331"/>
          </a:xfrm>
          <a:prstGeom prst="rect">
            <a:avLst/>
          </a:prstGeom>
          <a:noFill/>
        </p:spPr>
        <p:txBody>
          <a:bodyPr wrap="square">
            <a:spAutoFit/>
          </a:bodyPr>
          <a:lstStyle/>
          <a:p>
            <a:r>
              <a:rPr lang="en-US" dirty="0"/>
              <a:t>ST‐segment and T‐wave morphologies in cases of (a) secondary abnormalities and (b–e) ischemic</a:t>
            </a:r>
          </a:p>
          <a:p>
            <a:r>
              <a:rPr lang="en-US" dirty="0"/>
              <a:t> abnormalities</a:t>
            </a:r>
            <a:endParaRPr lang="en-GB" dirty="0"/>
          </a:p>
        </p:txBody>
      </p:sp>
    </p:spTree>
    <p:extLst>
      <p:ext uri="{BB962C8B-B14F-4D97-AF65-F5344CB8AC3E}">
        <p14:creationId xmlns:p14="http://schemas.microsoft.com/office/powerpoint/2010/main" val="3748959306"/>
      </p:ext>
    </p:extLst>
  </p:cSld>
  <p:clrMapOvr>
    <a:masterClrMapping/>
  </p:clrMapOvr>
  <p:transition spd="slow">
    <p:comb/>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DC8701-3A54-C20A-952D-0D5C7EFCD5F7}"/>
              </a:ext>
            </a:extLst>
          </p:cNvPr>
          <p:cNvPicPr>
            <a:picLocks noGrp="1" noChangeAspect="1"/>
          </p:cNvPicPr>
          <p:nvPr>
            <p:ph idx="1"/>
          </p:nvPr>
        </p:nvPicPr>
        <p:blipFill>
          <a:blip r:embed="rId2"/>
          <a:stretch>
            <a:fillRect/>
          </a:stretch>
        </p:blipFill>
        <p:spPr>
          <a:xfrm>
            <a:off x="502920" y="807720"/>
            <a:ext cx="10304370" cy="3855720"/>
          </a:xfrm>
        </p:spPr>
      </p:pic>
    </p:spTree>
    <p:extLst>
      <p:ext uri="{BB962C8B-B14F-4D97-AF65-F5344CB8AC3E}">
        <p14:creationId xmlns:p14="http://schemas.microsoft.com/office/powerpoint/2010/main" val="332331987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36C3ADE-4D5C-493D-9FEE-4D17FB6DE1D4}"/>
              </a:ext>
            </a:extLst>
          </p:cNvPr>
          <p:cNvPicPr>
            <a:picLocks noGrp="1" noChangeAspect="1"/>
          </p:cNvPicPr>
          <p:nvPr>
            <p:ph idx="1"/>
          </p:nvPr>
        </p:nvPicPr>
        <p:blipFill>
          <a:blip r:embed="rId2"/>
          <a:stretch>
            <a:fillRect/>
          </a:stretch>
        </p:blipFill>
        <p:spPr>
          <a:xfrm>
            <a:off x="701040" y="899160"/>
            <a:ext cx="8595360" cy="5119420"/>
          </a:xfrm>
        </p:spPr>
      </p:pic>
      <p:sp>
        <p:nvSpPr>
          <p:cNvPr id="7" name="TextBox 6">
            <a:extLst>
              <a:ext uri="{FF2B5EF4-FFF2-40B4-BE49-F238E27FC236}">
                <a16:creationId xmlns:a16="http://schemas.microsoft.com/office/drawing/2014/main" id="{069B4347-C5B7-951B-D0F6-545AE7551AD4}"/>
              </a:ext>
            </a:extLst>
          </p:cNvPr>
          <p:cNvSpPr txBox="1"/>
          <p:nvPr/>
        </p:nvSpPr>
        <p:spPr>
          <a:xfrm>
            <a:off x="1005840" y="6216134"/>
            <a:ext cx="6096000" cy="369332"/>
          </a:xfrm>
          <a:prstGeom prst="rect">
            <a:avLst/>
          </a:prstGeom>
          <a:noFill/>
        </p:spPr>
        <p:txBody>
          <a:bodyPr wrap="square">
            <a:spAutoFit/>
          </a:bodyPr>
          <a:lstStyle/>
          <a:p>
            <a:r>
              <a:rPr lang="en-US" dirty="0"/>
              <a:t>Various patterns of ST‐segment elevation</a:t>
            </a:r>
            <a:endParaRPr lang="en-GB" dirty="0"/>
          </a:p>
        </p:txBody>
      </p:sp>
    </p:spTree>
    <p:extLst>
      <p:ext uri="{BB962C8B-B14F-4D97-AF65-F5344CB8AC3E}">
        <p14:creationId xmlns:p14="http://schemas.microsoft.com/office/powerpoint/2010/main" val="231610848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B36A88-BF4D-4D55-8FE2-F98D2042CD1D}"/>
              </a:ext>
            </a:extLst>
          </p:cNvPr>
          <p:cNvPicPr>
            <a:picLocks noGrp="1" noChangeAspect="1"/>
          </p:cNvPicPr>
          <p:nvPr>
            <p:ph idx="1"/>
          </p:nvPr>
        </p:nvPicPr>
        <p:blipFill>
          <a:blip r:embed="rId2"/>
          <a:stretch>
            <a:fillRect/>
          </a:stretch>
        </p:blipFill>
        <p:spPr>
          <a:xfrm>
            <a:off x="457200" y="805498"/>
            <a:ext cx="10689179" cy="4619942"/>
          </a:xfrm>
        </p:spPr>
      </p:pic>
      <p:sp>
        <p:nvSpPr>
          <p:cNvPr id="7" name="TextBox 6">
            <a:extLst>
              <a:ext uri="{FF2B5EF4-FFF2-40B4-BE49-F238E27FC236}">
                <a16:creationId xmlns:a16="http://schemas.microsoft.com/office/drawing/2014/main" id="{4868B7EE-0AD2-8AD8-B5D8-06E646EFB6D6}"/>
              </a:ext>
            </a:extLst>
          </p:cNvPr>
          <p:cNvSpPr txBox="1"/>
          <p:nvPr/>
        </p:nvSpPr>
        <p:spPr>
          <a:xfrm>
            <a:off x="457200" y="5820776"/>
            <a:ext cx="11567160" cy="646331"/>
          </a:xfrm>
          <a:prstGeom prst="rect">
            <a:avLst/>
          </a:prstGeom>
          <a:noFill/>
        </p:spPr>
        <p:txBody>
          <a:bodyPr wrap="square">
            <a:spAutoFit/>
          </a:bodyPr>
          <a:lstStyle/>
          <a:p>
            <a:r>
              <a:rPr lang="en-US" dirty="0"/>
              <a:t>Diffuse ST elevation </a:t>
            </a:r>
            <a:r>
              <a:rPr lang="en-US" dirty="0" err="1"/>
              <a:t>in~all</a:t>
            </a:r>
            <a:r>
              <a:rPr lang="en-US" dirty="0"/>
              <a:t> leads and ST depression in lead </a:t>
            </a:r>
            <a:r>
              <a:rPr lang="en-US" dirty="0" err="1"/>
              <a:t>aVR</a:t>
            </a:r>
            <a:r>
              <a:rPr lang="en-US" dirty="0"/>
              <a:t>. This initially suggests pericarditis. PR depression in leads II, </a:t>
            </a:r>
            <a:r>
              <a:rPr lang="en-US" dirty="0" err="1"/>
              <a:t>aVF</a:t>
            </a:r>
            <a:r>
              <a:rPr lang="en-US" dirty="0"/>
              <a:t>, V5 , and V6 further suggests pericarditis.</a:t>
            </a:r>
            <a:endParaRPr lang="en-GB" dirty="0"/>
          </a:p>
        </p:txBody>
      </p:sp>
    </p:spTree>
    <p:extLst>
      <p:ext uri="{BB962C8B-B14F-4D97-AF65-F5344CB8AC3E}">
        <p14:creationId xmlns:p14="http://schemas.microsoft.com/office/powerpoint/2010/main" val="2811485786"/>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E2C243D-5C35-7536-C3DD-33F1E2A7A928}"/>
              </a:ext>
            </a:extLst>
          </p:cNvPr>
          <p:cNvPicPr>
            <a:picLocks noGrp="1" noChangeAspect="1"/>
          </p:cNvPicPr>
          <p:nvPr>
            <p:ph idx="1"/>
          </p:nvPr>
        </p:nvPicPr>
        <p:blipFill>
          <a:blip r:embed="rId2"/>
          <a:stretch>
            <a:fillRect/>
          </a:stretch>
        </p:blipFill>
        <p:spPr>
          <a:xfrm>
            <a:off x="540301" y="2875438"/>
            <a:ext cx="10227477" cy="2031842"/>
          </a:xfrm>
        </p:spPr>
      </p:pic>
      <p:sp>
        <p:nvSpPr>
          <p:cNvPr id="7" name="TextBox 6">
            <a:extLst>
              <a:ext uri="{FF2B5EF4-FFF2-40B4-BE49-F238E27FC236}">
                <a16:creationId xmlns:a16="http://schemas.microsoft.com/office/drawing/2014/main" id="{49D7EC8D-3D0C-0985-8014-070D4A85DFF9}"/>
              </a:ext>
            </a:extLst>
          </p:cNvPr>
          <p:cNvSpPr txBox="1"/>
          <p:nvPr/>
        </p:nvSpPr>
        <p:spPr>
          <a:xfrm>
            <a:off x="350520" y="5408870"/>
            <a:ext cx="11521440" cy="646331"/>
          </a:xfrm>
          <a:prstGeom prst="rect">
            <a:avLst/>
          </a:prstGeom>
          <a:noFill/>
        </p:spPr>
        <p:txBody>
          <a:bodyPr wrap="square">
            <a:spAutoFit/>
          </a:bodyPr>
          <a:lstStyle/>
          <a:p>
            <a:r>
              <a:rPr lang="en-US" dirty="0"/>
              <a:t>Early repolarization with a normal variant T‐wave inversion in a 33‐year‐old black man. The ST segment is elevated with a prominent J‐point notch in leads V3 –V5 (arrows). T wave is inverted in leads V4 –V5</a:t>
            </a:r>
            <a:endParaRPr lang="en-GB" dirty="0"/>
          </a:p>
        </p:txBody>
      </p:sp>
    </p:spTree>
    <p:extLst>
      <p:ext uri="{BB962C8B-B14F-4D97-AF65-F5344CB8AC3E}">
        <p14:creationId xmlns:p14="http://schemas.microsoft.com/office/powerpoint/2010/main" val="17426510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C3826-14E8-10E8-E48A-4F990C7E246C}"/>
              </a:ext>
            </a:extLst>
          </p:cNvPr>
          <p:cNvSpPr>
            <a:spLocks noGrp="1"/>
          </p:cNvSpPr>
          <p:nvPr>
            <p:ph idx="1"/>
          </p:nvPr>
        </p:nvSpPr>
        <p:spPr>
          <a:xfrm>
            <a:off x="838200" y="591184"/>
            <a:ext cx="10515600" cy="5474335"/>
          </a:xfrm>
        </p:spPr>
        <p:txBody>
          <a:bodyPr>
            <a:normAutofit/>
          </a:bodyPr>
          <a:lstStyle/>
          <a:p>
            <a:pPr marL="0" indent="0">
              <a:buNone/>
            </a:pPr>
            <a:r>
              <a:rPr lang="en-GB" b="1" dirty="0"/>
              <a:t>Approach to tachyarrhythmias</a:t>
            </a:r>
          </a:p>
          <a:p>
            <a:pPr marL="0" indent="0">
              <a:buNone/>
            </a:pPr>
            <a:r>
              <a:rPr lang="en-US" dirty="0"/>
              <a:t>When analyzing a tachycardia, start by looking at three features: </a:t>
            </a:r>
          </a:p>
          <a:p>
            <a:pPr marL="514350" indent="-514350">
              <a:buAutoNum type="arabicPeriod"/>
            </a:pPr>
            <a:r>
              <a:rPr lang="en-US" dirty="0"/>
              <a:t>Narrow QRS vs. wide QRS (≥120 </a:t>
            </a:r>
            <a:r>
              <a:rPr lang="en-US" dirty="0" err="1"/>
              <a:t>ms</a:t>
            </a:r>
            <a:r>
              <a:rPr lang="en-US" dirty="0"/>
              <a:t>) (choose the lead where QRS is widest). </a:t>
            </a:r>
          </a:p>
          <a:p>
            <a:pPr marL="514350" indent="-514350">
              <a:buAutoNum type="arabicPeriod"/>
            </a:pPr>
            <a:r>
              <a:rPr lang="en-US" dirty="0"/>
              <a:t>Regular vs. irregular ventricular rate. </a:t>
            </a:r>
          </a:p>
          <a:p>
            <a:pPr marL="514350" indent="-514350">
              <a:buAutoNum type="arabicPeriod"/>
            </a:pPr>
            <a:r>
              <a:rPr lang="en-US" dirty="0"/>
              <a:t>Look for P waves and their relationship with QRS complexes. </a:t>
            </a:r>
          </a:p>
        </p:txBody>
      </p:sp>
    </p:spTree>
    <p:extLst>
      <p:ext uri="{BB962C8B-B14F-4D97-AF65-F5344CB8AC3E}">
        <p14:creationId xmlns:p14="http://schemas.microsoft.com/office/powerpoint/2010/main" val="34342222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7391A-AE23-CD31-B59F-C0B724DDB224}"/>
              </a:ext>
            </a:extLst>
          </p:cNvPr>
          <p:cNvSpPr>
            <a:spLocks noGrp="1"/>
          </p:cNvSpPr>
          <p:nvPr>
            <p:ph idx="1"/>
          </p:nvPr>
        </p:nvSpPr>
        <p:spPr>
          <a:xfrm>
            <a:off x="838200" y="320040"/>
            <a:ext cx="10515600" cy="5856923"/>
          </a:xfrm>
        </p:spPr>
        <p:txBody>
          <a:bodyPr/>
          <a:lstStyle/>
          <a:p>
            <a:pPr marL="514350" indent="-514350">
              <a:buAutoNum type="alphaUcPeriod"/>
            </a:pPr>
            <a:r>
              <a:rPr lang="en-US" b="1" dirty="0"/>
              <a:t>Approach to narrow QRS‐complex tachycardia</a:t>
            </a:r>
          </a:p>
          <a:p>
            <a:pPr marL="0" indent="0">
              <a:buNone/>
            </a:pPr>
            <a:endParaRPr lang="en-GB" b="1" dirty="0"/>
          </a:p>
        </p:txBody>
      </p:sp>
      <p:pic>
        <p:nvPicPr>
          <p:cNvPr id="5" name="Picture 4">
            <a:extLst>
              <a:ext uri="{FF2B5EF4-FFF2-40B4-BE49-F238E27FC236}">
                <a16:creationId xmlns:a16="http://schemas.microsoft.com/office/drawing/2014/main" id="{15E2BB00-3D58-F120-6D7B-EAE41FFD5CBB}"/>
              </a:ext>
            </a:extLst>
          </p:cNvPr>
          <p:cNvPicPr>
            <a:picLocks noChangeAspect="1"/>
          </p:cNvPicPr>
          <p:nvPr/>
        </p:nvPicPr>
        <p:blipFill>
          <a:blip r:embed="rId2"/>
          <a:stretch>
            <a:fillRect/>
          </a:stretch>
        </p:blipFill>
        <p:spPr>
          <a:xfrm>
            <a:off x="1920240" y="1081087"/>
            <a:ext cx="6814185" cy="5213033"/>
          </a:xfrm>
          <a:prstGeom prst="rect">
            <a:avLst/>
          </a:prstGeom>
        </p:spPr>
      </p:pic>
    </p:spTree>
    <p:extLst>
      <p:ext uri="{BB962C8B-B14F-4D97-AF65-F5344CB8AC3E}">
        <p14:creationId xmlns:p14="http://schemas.microsoft.com/office/powerpoint/2010/main" val="374828866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AE2DA5-F8FB-4DE6-6BA0-50832D6AA1C9}"/>
              </a:ext>
            </a:extLst>
          </p:cNvPr>
          <p:cNvSpPr>
            <a:spLocks noGrp="1"/>
          </p:cNvSpPr>
          <p:nvPr>
            <p:ph idx="1"/>
          </p:nvPr>
        </p:nvSpPr>
        <p:spPr>
          <a:xfrm>
            <a:off x="838200" y="518160"/>
            <a:ext cx="10515600" cy="5658803"/>
          </a:xfrm>
        </p:spPr>
        <p:txBody>
          <a:bodyPr>
            <a:normAutofit/>
          </a:bodyPr>
          <a:lstStyle/>
          <a:p>
            <a:pPr marL="0" indent="0">
              <a:buNone/>
            </a:pPr>
            <a:r>
              <a:rPr lang="en-US" b="1" dirty="0"/>
              <a:t>B. Approach to wide QRS‐complex tachycardias</a:t>
            </a:r>
          </a:p>
          <a:p>
            <a:pPr marL="0" indent="0">
              <a:buNone/>
            </a:pPr>
            <a:r>
              <a:rPr lang="en-US" dirty="0"/>
              <a:t>A wide QRS‐complex tachycardia could be: </a:t>
            </a:r>
          </a:p>
          <a:p>
            <a:pPr marL="514350" indent="-514350">
              <a:buAutoNum type="arabicPeriod"/>
            </a:pPr>
            <a:r>
              <a:rPr lang="en-US" dirty="0"/>
              <a:t>VT. </a:t>
            </a:r>
          </a:p>
          <a:p>
            <a:pPr marL="514350" indent="-514350">
              <a:buAutoNum type="arabicPeriod"/>
            </a:pPr>
            <a:r>
              <a:rPr lang="en-US" dirty="0"/>
              <a:t>SVT (including AF) with aberrancy</a:t>
            </a:r>
          </a:p>
          <a:p>
            <a:pPr marL="514350" indent="-514350">
              <a:buAutoNum type="arabicPeriod"/>
            </a:pPr>
            <a:r>
              <a:rPr lang="en-US" dirty="0"/>
              <a:t>SVT (especially AF) with pre‐excitation. </a:t>
            </a:r>
          </a:p>
          <a:p>
            <a:pPr marL="514350" indent="-514350">
              <a:buAutoNum type="arabicPeriod"/>
            </a:pPr>
            <a:r>
              <a:rPr lang="en-US" dirty="0"/>
              <a:t>Other diagnoses: hyperkalemia; drug toxicity; ventricular pacemaker tracking an atrial arrhythmia , or pacemaker‐ mediated tachycardia.</a:t>
            </a:r>
          </a:p>
          <a:p>
            <a:pPr marL="0" indent="0">
              <a:buNone/>
            </a:pPr>
            <a:r>
              <a:rPr lang="en-US" dirty="0"/>
              <a:t>* ~80% of wide complex tachycardias are VT (95% if CAD or HF). Thus, if one is unsure of the diagnosis, it is safer to consider the arrhythmia VT than SVT and treat it as such. </a:t>
            </a:r>
            <a:endParaRPr lang="en-US" b="1" dirty="0"/>
          </a:p>
          <a:p>
            <a:pPr marL="0" indent="0">
              <a:buNone/>
            </a:pPr>
            <a:endParaRPr lang="en-GB" b="1" dirty="0"/>
          </a:p>
        </p:txBody>
      </p:sp>
    </p:spTree>
    <p:extLst>
      <p:ext uri="{BB962C8B-B14F-4D97-AF65-F5344CB8AC3E}">
        <p14:creationId xmlns:p14="http://schemas.microsoft.com/office/powerpoint/2010/main" val="351579761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DDA50B-69B5-6195-7B2B-8DBD8DFACD9D}"/>
              </a:ext>
            </a:extLst>
          </p:cNvPr>
          <p:cNvSpPr>
            <a:spLocks noGrp="1"/>
          </p:cNvSpPr>
          <p:nvPr>
            <p:ph idx="1"/>
          </p:nvPr>
        </p:nvSpPr>
        <p:spPr>
          <a:xfrm>
            <a:off x="838200" y="457200"/>
            <a:ext cx="10515600" cy="5719763"/>
          </a:xfrm>
        </p:spPr>
        <p:txBody>
          <a:bodyPr>
            <a:normAutofit/>
          </a:bodyPr>
          <a:lstStyle/>
          <a:p>
            <a:pPr marL="0" indent="0">
              <a:buNone/>
            </a:pPr>
            <a:r>
              <a:rPr lang="en-US" b="1" u="sng" dirty="0"/>
              <a:t>Features that further support VT:</a:t>
            </a:r>
          </a:p>
          <a:p>
            <a:pPr marL="0" indent="0">
              <a:buNone/>
            </a:pPr>
            <a:r>
              <a:rPr lang="en-US" dirty="0"/>
              <a:t>• P waves are seen scattered between QRS complexes and unrelated to QRS complexes (AV dissociation), and/or number of P waves &lt; </a:t>
            </a:r>
            <a:r>
              <a:rPr lang="en-GB" dirty="0"/>
              <a:t>number of QRS complexes.</a:t>
            </a:r>
          </a:p>
          <a:p>
            <a:pPr marL="0" indent="0">
              <a:buNone/>
            </a:pPr>
            <a:r>
              <a:rPr lang="en-US" dirty="0"/>
              <a:t>• Morphology of QRS is not consistent with a typical LBBB or a typical RBBB. In patients with a wide baseline QRS, a wide QRS tachycardia that is narrower than baseline is VT.</a:t>
            </a:r>
          </a:p>
          <a:p>
            <a:pPr marL="0" indent="0">
              <a:buNone/>
            </a:pPr>
            <a:r>
              <a:rPr lang="en-US" dirty="0"/>
              <a:t>• Tachycardia starts with a PVC rather than a PAC, and has a morphology similar to the PVC. </a:t>
            </a:r>
          </a:p>
        </p:txBody>
      </p:sp>
    </p:spTree>
    <p:extLst>
      <p:ext uri="{BB962C8B-B14F-4D97-AF65-F5344CB8AC3E}">
        <p14:creationId xmlns:p14="http://schemas.microsoft.com/office/powerpoint/2010/main" val="1285938855"/>
      </p:ext>
    </p:extLst>
  </p:cSld>
  <p:clrMapOvr>
    <a:masterClrMapping/>
  </p:clrMapOvr>
  <p:transition spd="slow">
    <p:wheel spokes="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1EC8C2-47CB-2E13-9EBE-B27871EF431D}"/>
              </a:ext>
            </a:extLst>
          </p:cNvPr>
          <p:cNvSpPr>
            <a:spLocks noGrp="1"/>
          </p:cNvSpPr>
          <p:nvPr>
            <p:ph idx="1"/>
          </p:nvPr>
        </p:nvSpPr>
        <p:spPr>
          <a:xfrm>
            <a:off x="883920" y="365760"/>
            <a:ext cx="11003280" cy="5811203"/>
          </a:xfrm>
        </p:spPr>
        <p:txBody>
          <a:bodyPr>
            <a:normAutofit fontScale="85000" lnSpcReduction="20000"/>
          </a:bodyPr>
          <a:lstStyle/>
          <a:p>
            <a:pPr marL="0" indent="0">
              <a:buNone/>
            </a:pPr>
            <a:r>
              <a:rPr lang="en-US" b="1" u="sng" dirty="0"/>
              <a:t>Approach to brady-arrhythmias: AV block</a:t>
            </a:r>
          </a:p>
          <a:p>
            <a:pPr marL="0" indent="0">
              <a:buNone/>
            </a:pPr>
            <a:r>
              <a:rPr lang="en-US" dirty="0"/>
              <a:t>Identify the type but also the location of the block (nodal vs. infra-nodal block)</a:t>
            </a:r>
          </a:p>
          <a:p>
            <a:pPr marL="514350" indent="-514350">
              <a:buAutoNum type="arabicPeriod"/>
            </a:pPr>
            <a:r>
              <a:rPr lang="en-US" b="1" dirty="0"/>
              <a:t>First‐degree AV block</a:t>
            </a:r>
            <a:r>
              <a:rPr lang="en-US" dirty="0"/>
              <a:t>=PR interval&gt;200 </a:t>
            </a:r>
            <a:r>
              <a:rPr lang="en-US" dirty="0" err="1"/>
              <a:t>ms</a:t>
            </a:r>
            <a:r>
              <a:rPr lang="en-US" dirty="0"/>
              <a:t> (may be as long as 1000 </a:t>
            </a:r>
            <a:r>
              <a:rPr lang="en-US" dirty="0" err="1"/>
              <a:t>ms</a:t>
            </a:r>
            <a:r>
              <a:rPr lang="en-US" dirty="0"/>
              <a:t>).</a:t>
            </a:r>
          </a:p>
          <a:p>
            <a:pPr marL="514350" indent="-514350">
              <a:buAutoNum type="arabicPeriod"/>
            </a:pPr>
            <a:r>
              <a:rPr lang="en-GB" b="1" dirty="0"/>
              <a:t>Second‐degree AV block</a:t>
            </a:r>
          </a:p>
          <a:p>
            <a:pPr marL="571500" indent="-571500">
              <a:buAutoNum type="romanLcPeriod"/>
            </a:pPr>
            <a:r>
              <a:rPr lang="en-US" b="1" dirty="0"/>
              <a:t>Mobitz type I (Wenckebach type): </a:t>
            </a:r>
            <a:r>
              <a:rPr lang="en-US" dirty="0"/>
              <a:t>PR progressively prolongs until QRS drops.</a:t>
            </a:r>
          </a:p>
          <a:p>
            <a:pPr marL="571500" indent="-571500">
              <a:buAutoNum type="romanLcPeriod"/>
            </a:pPr>
            <a:r>
              <a:rPr lang="en-US" b="1" dirty="0"/>
              <a:t>Mobitz type II</a:t>
            </a:r>
            <a:r>
              <a:rPr lang="en-US" dirty="0"/>
              <a:t>: QRS suddenly drops without a preceding PR change. The baseline QRS is usually wide. It may present as intermittently non‐conducted P waves or as one non‐conducted P wave that is not preceded by progressive PR prolongation and not followed by PR shortening. It is more ominous than Mobitz I and is almost always a distal infra-nodal AV block. It progresses to a complete infra-nodal AV block commonly and suddenly.</a:t>
            </a:r>
          </a:p>
          <a:p>
            <a:pPr marL="571500" indent="-571500">
              <a:buAutoNum type="romanLcPeriod"/>
            </a:pPr>
            <a:r>
              <a:rPr lang="en-US" b="1" dirty="0"/>
              <a:t>2:1 AV block </a:t>
            </a:r>
            <a:r>
              <a:rPr lang="en-US" dirty="0"/>
              <a:t>(alternative drop of one QRS complex) could be equivalent to Mobitz I or Mobitz II AV block. If QRS is wide, the block is likely infra-nodal and is thus </a:t>
            </a:r>
            <a:r>
              <a:rPr lang="en-US" b="1" dirty="0"/>
              <a:t>a Mobitz II equivalent</a:t>
            </a:r>
            <a:r>
              <a:rPr lang="en-US" dirty="0"/>
              <a:t>. If QRS is narrow, the block is likely a </a:t>
            </a:r>
            <a:r>
              <a:rPr lang="en-US" b="1" dirty="0"/>
              <a:t>Mobitz I equivalent</a:t>
            </a:r>
            <a:r>
              <a:rPr lang="en-US" dirty="0"/>
              <a:t>. </a:t>
            </a:r>
          </a:p>
          <a:p>
            <a:pPr marL="0" indent="0">
              <a:buNone/>
            </a:pPr>
            <a:r>
              <a:rPr lang="en-US" b="1" dirty="0"/>
              <a:t>3. Third‐degree or complete AV block: </a:t>
            </a:r>
            <a:r>
              <a:rPr lang="en-US" dirty="0"/>
              <a:t>No P wave is conducted and a junctional or ventricular escape rhythm takes over. The ventricular rate is regular and unrelated to P waves (</a:t>
            </a:r>
            <a:r>
              <a:rPr lang="en-US" b="1" dirty="0"/>
              <a:t>AV dissociation</a:t>
            </a:r>
            <a:r>
              <a:rPr lang="en-US" dirty="0"/>
              <a:t>). The PR distance is variable yet the R–R interval is regular.</a:t>
            </a:r>
          </a:p>
          <a:p>
            <a:pPr marL="0" indent="0">
              <a:buNone/>
            </a:pPr>
            <a:r>
              <a:rPr lang="en-US" b="1" dirty="0"/>
              <a:t>High‐grade AV block </a:t>
            </a:r>
            <a:r>
              <a:rPr lang="en-US" dirty="0"/>
              <a:t>means that most P waves are not conducted and an escape rhythm is seen, but some P waves are conducted. The regular escape rhythm is interrupted by some irregularities</a:t>
            </a:r>
            <a:endParaRPr lang="en-GB" b="1" dirty="0"/>
          </a:p>
        </p:txBody>
      </p:sp>
    </p:spTree>
    <p:extLst>
      <p:ext uri="{BB962C8B-B14F-4D97-AF65-F5344CB8AC3E}">
        <p14:creationId xmlns:p14="http://schemas.microsoft.com/office/powerpoint/2010/main" val="17972532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4711B51-F2BE-D3B4-EFF3-228FCC7B5495}"/>
              </a:ext>
            </a:extLst>
          </p:cNvPr>
          <p:cNvPicPr>
            <a:picLocks noGrp="1" noChangeAspect="1"/>
          </p:cNvPicPr>
          <p:nvPr>
            <p:ph idx="1"/>
          </p:nvPr>
        </p:nvPicPr>
        <p:blipFill>
          <a:blip r:embed="rId2"/>
          <a:stretch>
            <a:fillRect/>
          </a:stretch>
        </p:blipFill>
        <p:spPr>
          <a:xfrm>
            <a:off x="883920" y="792479"/>
            <a:ext cx="8671560" cy="4922781"/>
          </a:xfrm>
        </p:spPr>
      </p:pic>
      <p:sp>
        <p:nvSpPr>
          <p:cNvPr id="7" name="TextBox 6">
            <a:extLst>
              <a:ext uri="{FF2B5EF4-FFF2-40B4-BE49-F238E27FC236}">
                <a16:creationId xmlns:a16="http://schemas.microsoft.com/office/drawing/2014/main" id="{C765982F-5025-6078-6509-19A4BA615481}"/>
              </a:ext>
            </a:extLst>
          </p:cNvPr>
          <p:cNvSpPr txBox="1"/>
          <p:nvPr/>
        </p:nvSpPr>
        <p:spPr>
          <a:xfrm>
            <a:off x="655320" y="6065520"/>
            <a:ext cx="6096000" cy="369332"/>
          </a:xfrm>
          <a:prstGeom prst="rect">
            <a:avLst/>
          </a:prstGeom>
          <a:noFill/>
        </p:spPr>
        <p:txBody>
          <a:bodyPr wrap="square">
            <a:spAutoFit/>
          </a:bodyPr>
          <a:lstStyle/>
          <a:p>
            <a:r>
              <a:rPr lang="en-US" dirty="0"/>
              <a:t>Location of the AV block.</a:t>
            </a:r>
            <a:endParaRPr lang="en-GB" dirty="0"/>
          </a:p>
        </p:txBody>
      </p:sp>
    </p:spTree>
    <p:extLst>
      <p:ext uri="{BB962C8B-B14F-4D97-AF65-F5344CB8AC3E}">
        <p14:creationId xmlns:p14="http://schemas.microsoft.com/office/powerpoint/2010/main" val="2189244948"/>
      </p:ext>
    </p:extLst>
  </p:cSld>
  <p:clrMapOvr>
    <a:masterClrMapping/>
  </p:clrMapOvr>
  <p:transition spd="slow">
    <p:randomBar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9EA28C-81FF-A0BB-6CEF-5ABCDD38B5DF}"/>
              </a:ext>
            </a:extLst>
          </p:cNvPr>
          <p:cNvPicPr>
            <a:picLocks noGrp="1" noChangeAspect="1"/>
          </p:cNvPicPr>
          <p:nvPr>
            <p:ph idx="1"/>
          </p:nvPr>
        </p:nvPicPr>
        <p:blipFill>
          <a:blip r:embed="rId2"/>
          <a:stretch>
            <a:fillRect/>
          </a:stretch>
        </p:blipFill>
        <p:spPr>
          <a:xfrm>
            <a:off x="762000" y="570864"/>
            <a:ext cx="8234846" cy="2705735"/>
          </a:xfrm>
        </p:spPr>
      </p:pic>
      <p:sp>
        <p:nvSpPr>
          <p:cNvPr id="7" name="TextBox 6">
            <a:extLst>
              <a:ext uri="{FF2B5EF4-FFF2-40B4-BE49-F238E27FC236}">
                <a16:creationId xmlns:a16="http://schemas.microsoft.com/office/drawing/2014/main" id="{1AA14CEB-6CCC-ECC2-2D39-4FFD98456272}"/>
              </a:ext>
            </a:extLst>
          </p:cNvPr>
          <p:cNvSpPr txBox="1"/>
          <p:nvPr/>
        </p:nvSpPr>
        <p:spPr>
          <a:xfrm>
            <a:off x="762000" y="3396736"/>
            <a:ext cx="10226040" cy="369332"/>
          </a:xfrm>
          <a:prstGeom prst="rect">
            <a:avLst/>
          </a:prstGeom>
          <a:noFill/>
        </p:spPr>
        <p:txBody>
          <a:bodyPr wrap="square">
            <a:spAutoFit/>
          </a:bodyPr>
          <a:lstStyle/>
          <a:p>
            <a:r>
              <a:rPr lang="en-US" dirty="0"/>
              <a:t> sinus tachycardia ~125 bpm with complete AV block and junctional escape rhythm</a:t>
            </a:r>
            <a:endParaRPr lang="en-GB" dirty="0"/>
          </a:p>
        </p:txBody>
      </p:sp>
      <p:pic>
        <p:nvPicPr>
          <p:cNvPr id="9" name="Picture 8">
            <a:extLst>
              <a:ext uri="{FF2B5EF4-FFF2-40B4-BE49-F238E27FC236}">
                <a16:creationId xmlns:a16="http://schemas.microsoft.com/office/drawing/2014/main" id="{5DCDA1F0-43C7-57F5-D23B-A19EAE29CAA7}"/>
              </a:ext>
            </a:extLst>
          </p:cNvPr>
          <p:cNvPicPr>
            <a:picLocks noChangeAspect="1"/>
          </p:cNvPicPr>
          <p:nvPr/>
        </p:nvPicPr>
        <p:blipFill>
          <a:blip r:embed="rId3"/>
          <a:stretch>
            <a:fillRect/>
          </a:stretch>
        </p:blipFill>
        <p:spPr>
          <a:xfrm>
            <a:off x="944880" y="4136706"/>
            <a:ext cx="8234846" cy="1212419"/>
          </a:xfrm>
          <a:prstGeom prst="rect">
            <a:avLst/>
          </a:prstGeom>
        </p:spPr>
      </p:pic>
      <p:sp>
        <p:nvSpPr>
          <p:cNvPr id="11" name="TextBox 10">
            <a:extLst>
              <a:ext uri="{FF2B5EF4-FFF2-40B4-BE49-F238E27FC236}">
                <a16:creationId xmlns:a16="http://schemas.microsoft.com/office/drawing/2014/main" id="{75282538-5C5A-5378-8642-EBC0F92B84BD}"/>
              </a:ext>
            </a:extLst>
          </p:cNvPr>
          <p:cNvSpPr txBox="1"/>
          <p:nvPr/>
        </p:nvSpPr>
        <p:spPr>
          <a:xfrm>
            <a:off x="563880" y="5396597"/>
            <a:ext cx="11277600" cy="646331"/>
          </a:xfrm>
          <a:prstGeom prst="rect">
            <a:avLst/>
          </a:prstGeom>
          <a:noFill/>
        </p:spPr>
        <p:txBody>
          <a:bodyPr wrap="square">
            <a:spAutoFit/>
          </a:bodyPr>
          <a:lstStyle/>
          <a:p>
            <a:r>
              <a:rPr lang="en-US" dirty="0"/>
              <a:t>high‐grade infra-nodal AV block with ventricular escape rhythm and incomplete AV dissociation (two P waves are conducted)</a:t>
            </a:r>
            <a:endParaRPr lang="en-GB" dirty="0"/>
          </a:p>
        </p:txBody>
      </p:sp>
    </p:spTree>
    <p:extLst>
      <p:ext uri="{BB962C8B-B14F-4D97-AF65-F5344CB8AC3E}">
        <p14:creationId xmlns:p14="http://schemas.microsoft.com/office/powerpoint/2010/main" val="30703905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00A8EF9-5CD4-ECBD-8B29-808691D7A1B7}"/>
              </a:ext>
            </a:extLst>
          </p:cNvPr>
          <p:cNvPicPr>
            <a:picLocks noGrp="1" noChangeAspect="1"/>
          </p:cNvPicPr>
          <p:nvPr>
            <p:ph idx="1"/>
          </p:nvPr>
        </p:nvPicPr>
        <p:blipFill>
          <a:blip r:embed="rId2"/>
          <a:stretch>
            <a:fillRect/>
          </a:stretch>
        </p:blipFill>
        <p:spPr>
          <a:xfrm>
            <a:off x="1035367" y="897414"/>
            <a:ext cx="8155765" cy="2104866"/>
          </a:xfrm>
        </p:spPr>
      </p:pic>
      <p:sp>
        <p:nvSpPr>
          <p:cNvPr id="7" name="TextBox 6">
            <a:extLst>
              <a:ext uri="{FF2B5EF4-FFF2-40B4-BE49-F238E27FC236}">
                <a16:creationId xmlns:a16="http://schemas.microsoft.com/office/drawing/2014/main" id="{721BF741-7098-BDC5-DD6C-4F663D1394D3}"/>
              </a:ext>
            </a:extLst>
          </p:cNvPr>
          <p:cNvSpPr txBox="1"/>
          <p:nvPr/>
        </p:nvSpPr>
        <p:spPr>
          <a:xfrm>
            <a:off x="1249680" y="3244334"/>
            <a:ext cx="7894320" cy="369332"/>
          </a:xfrm>
          <a:prstGeom prst="rect">
            <a:avLst/>
          </a:prstGeom>
          <a:noFill/>
        </p:spPr>
        <p:txBody>
          <a:bodyPr wrap="square">
            <a:spAutoFit/>
          </a:bodyPr>
          <a:lstStyle/>
          <a:p>
            <a:r>
              <a:rPr lang="en-GB" dirty="0"/>
              <a:t>2:1 AV block</a:t>
            </a:r>
          </a:p>
        </p:txBody>
      </p:sp>
    </p:spTree>
    <p:extLst>
      <p:ext uri="{BB962C8B-B14F-4D97-AF65-F5344CB8AC3E}">
        <p14:creationId xmlns:p14="http://schemas.microsoft.com/office/powerpoint/2010/main" val="2644235298"/>
      </p:ext>
    </p:extLst>
  </p:cSld>
  <p:clrMapOvr>
    <a:masterClrMapping/>
  </p:clrMapOvr>
  <p:transition spd="slow">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D38CB1-FA6E-B52B-5DBB-212C4D3D0D14}"/>
              </a:ext>
            </a:extLst>
          </p:cNvPr>
          <p:cNvSpPr>
            <a:spLocks noGrp="1"/>
          </p:cNvSpPr>
          <p:nvPr>
            <p:ph idx="1"/>
          </p:nvPr>
        </p:nvSpPr>
        <p:spPr>
          <a:xfrm>
            <a:off x="838200" y="304800"/>
            <a:ext cx="10515600" cy="5872163"/>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600" dirty="0"/>
              <a:t>Thanks </a:t>
            </a:r>
            <a:endParaRPr lang="en-GB" sz="6600" dirty="0"/>
          </a:p>
        </p:txBody>
      </p:sp>
    </p:spTree>
    <p:extLst>
      <p:ext uri="{BB962C8B-B14F-4D97-AF65-F5344CB8AC3E}">
        <p14:creationId xmlns:p14="http://schemas.microsoft.com/office/powerpoint/2010/main" val="22800035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3037</TotalTime>
  <Words>4177</Words>
  <Application>Microsoft Office PowerPoint</Application>
  <PresentationFormat>Widescreen</PresentationFormat>
  <Paragraphs>197</Paragraphs>
  <Slides>42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Times New Roman</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adnan tawfiq</dc:creator>
  <cp:lastModifiedBy>adnan tawfiq</cp:lastModifiedBy>
  <cp:revision>79</cp:revision>
  <dcterms:created xsi:type="dcterms:W3CDTF">2024-01-05T21:26:45Z</dcterms:created>
  <dcterms:modified xsi:type="dcterms:W3CDTF">2024-01-08T19:24:32Z</dcterms:modified>
</cp:coreProperties>
</file>