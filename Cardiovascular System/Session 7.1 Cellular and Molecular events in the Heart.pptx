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209800"/>
            <a:ext cx="6324600" cy="3429000"/>
          </a:xfrm>
        </p:spPr>
        <p:txBody>
          <a:bodyPr/>
          <a:lstStyle/>
          <a:p>
            <a:r>
              <a:rPr lang="en-US" b="1" dirty="0">
                <a:solidFill>
                  <a:schemeClr val="tx1"/>
                </a:solidFill>
              </a:rPr>
              <a:t>Cardiovascular Module</a:t>
            </a:r>
          </a:p>
          <a:p>
            <a:endParaRPr lang="en-US" dirty="0">
              <a:solidFill>
                <a:schemeClr val="tx1"/>
              </a:solidFill>
            </a:endParaRPr>
          </a:p>
          <a:p>
            <a:r>
              <a:rPr lang="en-US" b="1" dirty="0">
                <a:solidFill>
                  <a:schemeClr val="tx1"/>
                </a:solidFill>
              </a:rPr>
              <a:t>Session 7/ Lect-1</a:t>
            </a:r>
          </a:p>
          <a:p>
            <a:r>
              <a:rPr lang="en-US" dirty="0">
                <a:solidFill>
                  <a:schemeClr val="tx1"/>
                </a:solidFill>
              </a:rPr>
              <a:t> </a:t>
            </a:r>
          </a:p>
          <a:p>
            <a:r>
              <a:rPr lang="en-US" b="1" dirty="0">
                <a:solidFill>
                  <a:schemeClr val="tx1"/>
                </a:solidFill>
              </a:rPr>
              <a:t>Cellular And Molecular Events In The Heart</a:t>
            </a:r>
            <a:endParaRPr lang="ar-IQ" b="1" dirty="0">
              <a:solidFill>
                <a:schemeClr val="tx1"/>
              </a:solidFill>
            </a:endParaRPr>
          </a:p>
        </p:txBody>
      </p:sp>
    </p:spTree>
    <p:extLst>
      <p:ext uri="{BB962C8B-B14F-4D97-AF65-F5344CB8AC3E}">
        <p14:creationId xmlns:p14="http://schemas.microsoft.com/office/powerpoint/2010/main" val="1750807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The aim of this session is:</a:t>
            </a:r>
          </a:p>
          <a:p>
            <a:pPr marL="0" indent="0">
              <a:buNone/>
            </a:pPr>
            <a:r>
              <a:rPr lang="en-US" dirty="0"/>
              <a:t> That you should understand the cellular basis of the heart beat, the cellular mechanisms which determine heart rate and the cellular mechanisms determining the force of contraction of the myocardium. This will provide the basis for understanding an action of drugs on the heart.</a:t>
            </a:r>
            <a:endParaRPr lang="ar-IQ" dirty="0"/>
          </a:p>
        </p:txBody>
      </p:sp>
    </p:spTree>
    <p:extLst>
      <p:ext uri="{BB962C8B-B14F-4D97-AF65-F5344CB8AC3E}">
        <p14:creationId xmlns:p14="http://schemas.microsoft.com/office/powerpoint/2010/main" val="1023944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buNone/>
            </a:pPr>
            <a:r>
              <a:rPr lang="en-US" b="1" dirty="0"/>
              <a:t>Learning outcomes:  </a:t>
            </a:r>
          </a:p>
          <a:p>
            <a:pPr marL="0" indent="0">
              <a:buNone/>
            </a:pPr>
            <a:r>
              <a:rPr lang="en-US" dirty="0"/>
              <a:t>By the end of this session and with appropriate self study you should be able to:</a:t>
            </a:r>
          </a:p>
          <a:p>
            <a:r>
              <a:rPr lang="en-US" dirty="0"/>
              <a:t> Describe the processes which generate the resting membrane potential of cardiac cells.</a:t>
            </a:r>
          </a:p>
          <a:p>
            <a:r>
              <a:rPr lang="en-US" dirty="0"/>
              <a:t>Draw the changes in membrane  potential of :</a:t>
            </a:r>
          </a:p>
          <a:p>
            <a:pPr marL="0" indent="0">
              <a:buNone/>
            </a:pPr>
            <a:r>
              <a:rPr lang="en-US" dirty="0"/>
              <a:t>                            (i) ventricular cells </a:t>
            </a:r>
          </a:p>
          <a:p>
            <a:pPr marL="0" indent="0">
              <a:buNone/>
            </a:pPr>
            <a:r>
              <a:rPr lang="en-US" dirty="0"/>
              <a:t>                           (ii) pacemaker cells over the cardiac cycle.</a:t>
            </a:r>
          </a:p>
          <a:p>
            <a:r>
              <a:rPr lang="en-US" dirty="0"/>
              <a:t>Describe the membrane permeability changes and ionic currents underlying the ventricular and pacemaker cell action potential.</a:t>
            </a:r>
          </a:p>
          <a:p>
            <a:r>
              <a:rPr lang="en-US" dirty="0"/>
              <a:t>Describe in general  terms, the processes of excitation - contraction coupling in ventricular myocardial cells.</a:t>
            </a:r>
            <a:endParaRPr lang="ar-IQ" dirty="0"/>
          </a:p>
        </p:txBody>
      </p:sp>
    </p:spTree>
    <p:extLst>
      <p:ext uri="{BB962C8B-B14F-4D97-AF65-F5344CB8AC3E}">
        <p14:creationId xmlns:p14="http://schemas.microsoft.com/office/powerpoint/2010/main" val="493210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Describe the factors influencing the changes in intra cellular free calcium concentration of ventricular cells during the action potential.</a:t>
            </a:r>
          </a:p>
          <a:p>
            <a:r>
              <a:rPr lang="en-US" dirty="0"/>
              <a:t>Describe the membrane potential changes in pacemaker cells associated with increases and decreases in heart rate.</a:t>
            </a:r>
          </a:p>
          <a:p>
            <a:r>
              <a:rPr lang="en-US" dirty="0"/>
              <a:t>Describe the cellular mechanisms controlling heart rate in the normal heart and the role of the autonomic nervous system in this process.</a:t>
            </a:r>
            <a:endParaRPr lang="ar-IQ" dirty="0"/>
          </a:p>
        </p:txBody>
      </p:sp>
    </p:spTree>
    <p:extLst>
      <p:ext uri="{BB962C8B-B14F-4D97-AF65-F5344CB8AC3E}">
        <p14:creationId xmlns:p14="http://schemas.microsoft.com/office/powerpoint/2010/main" val="1000038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The behaviour of heart muscle depends critically upon the electrical properties of individual cardiac muscle cells. Many drugs used to treat cardiovascular problems affect either the electrical activity itself or the relationship between it and myocardial contraction.</a:t>
            </a:r>
          </a:p>
          <a:p>
            <a:r>
              <a:rPr lang="en-US" b="1" dirty="0"/>
              <a:t>Pacemaker cells </a:t>
            </a:r>
            <a:r>
              <a:rPr lang="en-US" dirty="0"/>
              <a:t>generate an electrical event at regular intervals - the cardiac </a:t>
            </a:r>
            <a:r>
              <a:rPr lang="en-US" b="1" dirty="0"/>
              <a:t>action potential </a:t>
            </a:r>
            <a:r>
              <a:rPr lang="en-US" dirty="0"/>
              <a:t>which spreads over the myocardium, sometimes via cells specialised for rapid conduction to produce a co-ordinated contraction in systole. </a:t>
            </a:r>
          </a:p>
          <a:p>
            <a:r>
              <a:rPr lang="en-US" b="1" dirty="0"/>
              <a:t>The action potential </a:t>
            </a:r>
            <a:r>
              <a:rPr lang="en-US" dirty="0"/>
              <a:t>is a characteristic disturbance of the potential difference between the inside and outside of the cell, whose form varies between ventricular cells, pacemaker cells and conducting cells.</a:t>
            </a:r>
          </a:p>
          <a:p>
            <a:r>
              <a:rPr lang="en-US" dirty="0"/>
              <a:t>The basis of electrical excitability in cardiac muscle cells is similar, but not identical to that in nerve and striated muscle, which you are dealing with in the "Membranes and Receptors" module.</a:t>
            </a:r>
            <a:endParaRPr lang="ar-IQ" dirty="0"/>
          </a:p>
        </p:txBody>
      </p:sp>
    </p:spTree>
    <p:extLst>
      <p:ext uri="{BB962C8B-B14F-4D97-AF65-F5344CB8AC3E}">
        <p14:creationId xmlns:p14="http://schemas.microsoft.com/office/powerpoint/2010/main" val="2498793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lgn="ctr">
              <a:buNone/>
            </a:pPr>
            <a:r>
              <a:rPr lang="en-US" b="1" dirty="0"/>
              <a:t>The cardiac muscle cell in diastole</a:t>
            </a:r>
          </a:p>
          <a:p>
            <a:r>
              <a:rPr lang="en-US" dirty="0"/>
              <a:t>When the heart muscle is relaxed the potential difference between the inside and outside of the cells is negative inside. Except for pacemaker cells (see below) this potential difference is constant during diastole. The basis for this resting membrane potential is essentially the same as in other cells. It arises by an interaction between differing concentrations of ions inside and outside of the cell, and selective permeability of the cell membrane to those ions.</a:t>
            </a:r>
            <a:endParaRPr lang="ar-IQ" dirty="0"/>
          </a:p>
        </p:txBody>
      </p:sp>
    </p:spTree>
    <p:extLst>
      <p:ext uri="{BB962C8B-B14F-4D97-AF65-F5344CB8AC3E}">
        <p14:creationId xmlns:p14="http://schemas.microsoft.com/office/powerpoint/2010/main" val="312684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buNone/>
            </a:pPr>
            <a:r>
              <a:rPr lang="en-US" dirty="0"/>
              <a:t>Ions cross membranes via ion channels. </a:t>
            </a:r>
          </a:p>
          <a:p>
            <a:pPr marL="0" indent="0">
              <a:buNone/>
            </a:pPr>
            <a:r>
              <a:rPr lang="en-US" b="1" dirty="0"/>
              <a:t>                        Ion channels</a:t>
            </a:r>
            <a:r>
              <a:rPr lang="en-US" dirty="0"/>
              <a:t> are generally selective for one ion,and rate at which ions can pass through is controlled by '</a:t>
            </a:r>
            <a:r>
              <a:rPr lang="en-US" b="1" dirty="0"/>
              <a:t>gating</a:t>
            </a:r>
            <a:r>
              <a:rPr lang="en-US" dirty="0"/>
              <a:t>'. You will hear in the 'Membranes and Receptors' module that ion channels oscillate between open and closed states and that the proportion of time they spend open, which determines how many ions cross the membrane, is affected by a variety of factors. </a:t>
            </a:r>
          </a:p>
          <a:p>
            <a:pPr marL="0" indent="0" algn="ctr">
              <a:buNone/>
            </a:pPr>
            <a:r>
              <a:rPr lang="en-US" b="1" dirty="0"/>
              <a:t>                 'Voltage gated</a:t>
            </a:r>
            <a:r>
              <a:rPr lang="en-US" dirty="0"/>
              <a:t>' channels are affected by the membrane potential, so that changes in membrane potential vary the number of ions which pass the membrane in a given time. </a:t>
            </a:r>
          </a:p>
          <a:p>
            <a:pPr marL="0" indent="0" algn="ctr">
              <a:buNone/>
            </a:pPr>
            <a:r>
              <a:rPr lang="en-US" b="1" dirty="0"/>
              <a:t>                 'Ligand gated' </a:t>
            </a:r>
            <a:r>
              <a:rPr lang="en-US" dirty="0"/>
              <a:t>channels are affected by the binding of substances  either directly to them or to their associated molecules.</a:t>
            </a:r>
            <a:endParaRPr lang="ar-IQ" dirty="0"/>
          </a:p>
        </p:txBody>
      </p:sp>
    </p:spTree>
    <p:extLst>
      <p:ext uri="{BB962C8B-B14F-4D97-AF65-F5344CB8AC3E}">
        <p14:creationId xmlns:p14="http://schemas.microsoft.com/office/powerpoint/2010/main" val="4200336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b="1" dirty="0"/>
              <a:t>Action potentials  </a:t>
            </a:r>
            <a:r>
              <a:rPr lang="en-US" dirty="0"/>
              <a:t>arise by the action of </a:t>
            </a:r>
            <a:r>
              <a:rPr lang="en-US" b="1" dirty="0"/>
              <a:t>voltage-gated</a:t>
            </a:r>
            <a:r>
              <a:rPr lang="en-US" dirty="0"/>
              <a:t> channels, though they may be triggered by a variety of events.</a:t>
            </a:r>
          </a:p>
          <a:p>
            <a:r>
              <a:rPr lang="en-US" dirty="0"/>
              <a:t>This whole event is triggered in any one cell by a small starting depolarisation, taking the membrane potential beyond the 'threshold' for opening the  </a:t>
            </a:r>
            <a:r>
              <a:rPr lang="en-US" b="1" dirty="0"/>
              <a:t>fast Na+ channels</a:t>
            </a:r>
            <a:r>
              <a:rPr lang="en-US" dirty="0"/>
              <a:t>. For all cells except the pacemaker, this small depolarisation comes about by spread of activity from adjacent cells. That is to say a single action potential will propagate throughout the heart muscle, aided by conducting fibres.</a:t>
            </a:r>
            <a:endParaRPr lang="ar-IQ" dirty="0"/>
          </a:p>
        </p:txBody>
      </p:sp>
    </p:spTree>
    <p:extLst>
      <p:ext uri="{BB962C8B-B14F-4D97-AF65-F5344CB8AC3E}">
        <p14:creationId xmlns:p14="http://schemas.microsoft.com/office/powerpoint/2010/main" val="966211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0" indent="0" algn="ctr">
              <a:buNone/>
            </a:pPr>
            <a:r>
              <a:rPr lang="en-US" b="1" dirty="0"/>
              <a:t>The Cardiac Action Potential</a:t>
            </a:r>
          </a:p>
          <a:p>
            <a:r>
              <a:rPr lang="en-US" dirty="0"/>
              <a:t>This action potential is very different to that you heard about in nerve and striated muscle. It is </a:t>
            </a:r>
            <a:r>
              <a:rPr lang="en-US" i="1" dirty="0"/>
              <a:t>much longer </a:t>
            </a:r>
            <a:r>
              <a:rPr lang="en-US" b="1" dirty="0"/>
              <a:t>because of the plateau </a:t>
            </a:r>
            <a:r>
              <a:rPr lang="en-US" dirty="0"/>
              <a:t>sustained mainly by calcium channels. The length of the action potential is crucial. It ensures that once the action potential has begun in any part of the heart it is long enough for the cell still to be depolarised when the last cell in the myocardium starts its action potential. One action potential in the pacemaker  therefore  generates just one action potential in every cell of the heart.</a:t>
            </a:r>
            <a:endParaRPr lang="ar-IQ" dirty="0"/>
          </a:p>
        </p:txBody>
      </p:sp>
    </p:spTree>
    <p:extLst>
      <p:ext uri="{BB962C8B-B14F-4D97-AF65-F5344CB8AC3E}">
        <p14:creationId xmlns:p14="http://schemas.microsoft.com/office/powerpoint/2010/main" val="650532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r>
              <a:rPr lang="en-US" dirty="0"/>
              <a:t>This action potential produces a single heart beat. You will hear from the 'Membranes and Receptor' module that muscle cells contain a </a:t>
            </a:r>
            <a:r>
              <a:rPr lang="en-US" b="1" dirty="0"/>
              <a:t>contractile apparatus made up of Actin and Myosin </a:t>
            </a:r>
            <a:r>
              <a:rPr lang="en-US" dirty="0"/>
              <a:t>which is triggered to generate force by a rise in the concentration of Ca2+ ions in the cell. </a:t>
            </a:r>
            <a:r>
              <a:rPr lang="en-US" b="1" dirty="0"/>
              <a:t>In the heart the force generated in a cell, at a given degree of stretch</a:t>
            </a:r>
            <a:r>
              <a:rPr lang="en-US" dirty="0"/>
              <a:t>, is proportional to Ca2+ concentration. Intracellular Ca2+ concentration rises during the plateau phase, in small part because of Ca2+ crossing into the cell via Ca2+ channels, and in large part because of release of Ca2+ from intracellular stores. As Ca2+ concentration rises this triggers various mechanisms tending to remove Ca2+ from the cytoplasm. These include re-uptake into intracellular stores and the expulsion of Ca2+ from the cell in exchange for inward movement of Na+ - </a:t>
            </a:r>
            <a:r>
              <a:rPr lang="en-US" b="1" dirty="0"/>
              <a:t>'sodium calcium exchange</a:t>
            </a:r>
            <a:r>
              <a:rPr lang="en-US" dirty="0"/>
              <a:t>'.</a:t>
            </a:r>
          </a:p>
          <a:p>
            <a:r>
              <a:rPr lang="en-US" dirty="0"/>
              <a:t>The force of contraction therefore depends upon the </a:t>
            </a:r>
            <a:r>
              <a:rPr lang="en-US" b="1" dirty="0"/>
              <a:t>balance between the rate of entry of Ca2+ to the cytoplasm and its rate of removal.</a:t>
            </a:r>
            <a:r>
              <a:rPr lang="en-US" dirty="0"/>
              <a:t> Drugs which alter the force of contraction of the heart affect one or both of these processes.</a:t>
            </a:r>
          </a:p>
          <a:p>
            <a:r>
              <a:rPr lang="en-US" dirty="0"/>
              <a:t>As the plateau phase is long, so the muscular contraction in systole is sustained for </a:t>
            </a:r>
            <a:r>
              <a:rPr lang="en-US" b="1" dirty="0"/>
              <a:t>200-300 ms </a:t>
            </a:r>
            <a:r>
              <a:rPr lang="en-US" dirty="0"/>
              <a:t>- a duration which is essential for the normal pumping activity of the heart.</a:t>
            </a:r>
            <a:endParaRPr lang="ar-IQ" dirty="0"/>
          </a:p>
        </p:txBody>
      </p:sp>
    </p:spTree>
    <p:extLst>
      <p:ext uri="{BB962C8B-B14F-4D97-AF65-F5344CB8AC3E}">
        <p14:creationId xmlns:p14="http://schemas.microsoft.com/office/powerpoint/2010/main" val="1048890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marL="0" indent="0" algn="ctr">
              <a:buNone/>
            </a:pPr>
            <a:r>
              <a:rPr lang="en-US" b="1" dirty="0"/>
              <a:t>Pacemaker cells</a:t>
            </a:r>
          </a:p>
          <a:p>
            <a:pPr marL="0" indent="0" algn="ctr">
              <a:buNone/>
            </a:pPr>
            <a:endParaRPr lang="en-US" b="1" dirty="0"/>
          </a:p>
          <a:p>
            <a:r>
              <a:rPr lang="en-US" dirty="0"/>
              <a:t>The action potential of pacemaker cells is very different in form to that of ventricular myocardial cells. It is also initiated by the cells themselves, rather than by conduction of excitation from surrounding cells. In diastole the membrane potential of pacemaker cells is not stable. It depolarises steadily. This change is known as </a:t>
            </a:r>
            <a:r>
              <a:rPr lang="en-US" b="1" dirty="0"/>
              <a:t>the Pacemaker Potential</a:t>
            </a:r>
            <a:r>
              <a:rPr lang="en-US" dirty="0"/>
              <a:t>. This is thought to be due to </a:t>
            </a:r>
            <a:r>
              <a:rPr lang="en-US" b="1" dirty="0"/>
              <a:t>a population of channels permeable to Na+ ions. </a:t>
            </a:r>
            <a:r>
              <a:rPr lang="en-US" dirty="0"/>
              <a:t>These channels are very different to the fast Na+ channels of the action potential. </a:t>
            </a:r>
          </a:p>
          <a:p>
            <a:r>
              <a:rPr lang="en-US" dirty="0"/>
              <a:t>Pacemaker cells </a:t>
            </a:r>
            <a:r>
              <a:rPr lang="en-US" b="1" dirty="0"/>
              <a:t>do not have fast Na+ channels</a:t>
            </a:r>
            <a:r>
              <a:rPr lang="en-US" dirty="0"/>
              <a:t>. As the membrane depolarises with the pacemaker potential, however, </a:t>
            </a:r>
            <a:r>
              <a:rPr lang="en-US" b="1" dirty="0"/>
              <a:t>voltage gated Ca2+ channels </a:t>
            </a:r>
            <a:r>
              <a:rPr lang="en-US" dirty="0"/>
              <a:t>eventually open, producing a faster rate of depolarisation to a positive membrane potential. </a:t>
            </a:r>
            <a:r>
              <a:rPr lang="en-US" b="1" dirty="0"/>
              <a:t>The opening of these Ca2+channels is not sustained. There is no 'plateau' and the action potential is triangular in shape.</a:t>
            </a:r>
          </a:p>
          <a:p>
            <a:r>
              <a:rPr lang="en-US" b="1" dirty="0"/>
              <a:t>As soon as the membrane is repolarised back to -80mV it begins to depolarise again slowly i.e. the next pacemaker potential begins, until threshold is reached again and the next actionpotential occurs</a:t>
            </a:r>
            <a:endParaRPr lang="ar-IQ" b="1" dirty="0"/>
          </a:p>
        </p:txBody>
      </p:sp>
    </p:spTree>
    <p:extLst>
      <p:ext uri="{BB962C8B-B14F-4D97-AF65-F5344CB8AC3E}">
        <p14:creationId xmlns:p14="http://schemas.microsoft.com/office/powerpoint/2010/main" val="4241777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lgn="ctr">
              <a:buNone/>
            </a:pPr>
            <a:r>
              <a:rPr lang="en-US" b="1" dirty="0"/>
              <a:t>Conducting fibres</a:t>
            </a:r>
          </a:p>
          <a:p>
            <a:pPr marL="0" indent="0" algn="ctr">
              <a:buNone/>
            </a:pPr>
            <a:endParaRPr lang="en-US" b="1" dirty="0"/>
          </a:p>
          <a:p>
            <a:r>
              <a:rPr lang="en-US" dirty="0"/>
              <a:t>Purkinje fibres conduct excitation through the ventricular myocardium. </a:t>
            </a:r>
            <a:r>
              <a:rPr lang="en-US" b="1" dirty="0"/>
              <a:t>They have long action potentials</a:t>
            </a:r>
            <a:r>
              <a:rPr lang="en-US" dirty="0"/>
              <a:t>, but within the AV node and bundle of His there are cells capable of pacemaker activity. Their natural rate however is much slower than the SA node, so they are normally overridden. If however there is a conduction block they may become important.</a:t>
            </a:r>
            <a:endParaRPr lang="ar-IQ" dirty="0"/>
          </a:p>
        </p:txBody>
      </p:sp>
    </p:spTree>
    <p:extLst>
      <p:ext uri="{BB962C8B-B14F-4D97-AF65-F5344CB8AC3E}">
        <p14:creationId xmlns:p14="http://schemas.microsoft.com/office/powerpoint/2010/main" val="3034434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b="1" dirty="0"/>
          </a:p>
          <a:p>
            <a:pPr marL="0" indent="0" algn="ctr">
              <a:buNone/>
            </a:pPr>
            <a:endParaRPr lang="en-US" b="1" dirty="0"/>
          </a:p>
          <a:p>
            <a:pPr marL="0" indent="0" algn="ctr">
              <a:buNone/>
            </a:pPr>
            <a:endParaRPr lang="en-US" b="1" dirty="0"/>
          </a:p>
          <a:p>
            <a:pPr marL="0" indent="0" algn="ctr">
              <a:buNone/>
            </a:pPr>
            <a:r>
              <a:rPr lang="en-US" sz="4400" b="1"/>
              <a:t>Thanks for your patience </a:t>
            </a:r>
            <a:r>
              <a:rPr lang="en-US" b="1"/>
              <a:t> </a:t>
            </a:r>
            <a:endParaRPr lang="ar-IQ" b="1" dirty="0"/>
          </a:p>
        </p:txBody>
      </p:sp>
    </p:spTree>
    <p:extLst>
      <p:ext uri="{BB962C8B-B14F-4D97-AF65-F5344CB8AC3E}">
        <p14:creationId xmlns:p14="http://schemas.microsoft.com/office/powerpoint/2010/main" val="1045853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1283</Words>
  <Application>Microsoft Office PowerPoint</Application>
  <PresentationFormat>On-screen Show (4:3)</PresentationFormat>
  <Paragraphs>47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karenpc</cp:lastModifiedBy>
  <cp:revision>20</cp:revision>
  <dcterms:created xsi:type="dcterms:W3CDTF">2006-08-16T00:00:00Z</dcterms:created>
  <dcterms:modified xsi:type="dcterms:W3CDTF">2020-12-19T00:33:55Z</dcterms:modified>
</cp:coreProperties>
</file>