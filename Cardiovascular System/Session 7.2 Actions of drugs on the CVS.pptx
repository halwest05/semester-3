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295400"/>
            <a:ext cx="6629400" cy="3657600"/>
          </a:xfrm>
        </p:spPr>
        <p:txBody>
          <a:bodyPr/>
          <a:lstStyle/>
          <a:p>
            <a:r>
              <a:rPr lang="en-US" b="1" dirty="0">
                <a:solidFill>
                  <a:schemeClr val="tx1"/>
                </a:solidFill>
              </a:rPr>
              <a:t>Cardiovascular module</a:t>
            </a:r>
          </a:p>
          <a:p>
            <a:endParaRPr lang="en-US" b="1" dirty="0">
              <a:solidFill>
                <a:schemeClr val="tx1"/>
              </a:solidFill>
            </a:endParaRPr>
          </a:p>
          <a:p>
            <a:r>
              <a:rPr lang="en-US" b="1" dirty="0">
                <a:solidFill>
                  <a:schemeClr val="tx1"/>
                </a:solidFill>
              </a:rPr>
              <a:t>Session7/Lecture-2</a:t>
            </a:r>
          </a:p>
          <a:p>
            <a:endParaRPr lang="en-US" b="1" dirty="0">
              <a:solidFill>
                <a:schemeClr val="tx1"/>
              </a:solidFill>
            </a:endParaRPr>
          </a:p>
          <a:p>
            <a:r>
              <a:rPr lang="en-US" b="1" dirty="0">
                <a:solidFill>
                  <a:schemeClr val="tx1"/>
                </a:solidFill>
              </a:rPr>
              <a:t>Action of drugs on the cardiovascular system</a:t>
            </a:r>
            <a:endParaRPr lang="ar-IQ" b="1" dirty="0">
              <a:solidFill>
                <a:schemeClr val="tx1"/>
              </a:solidFill>
            </a:endParaRPr>
          </a:p>
        </p:txBody>
      </p:sp>
    </p:spTree>
    <p:extLst>
      <p:ext uri="{BB962C8B-B14F-4D97-AF65-F5344CB8AC3E}">
        <p14:creationId xmlns:p14="http://schemas.microsoft.com/office/powerpoint/2010/main" val="18998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b="1" dirty="0"/>
              <a:t>The aim of this lecture is:</a:t>
            </a:r>
          </a:p>
          <a:p>
            <a:pPr marL="0" indent="0">
              <a:buNone/>
            </a:pPr>
            <a:endParaRPr lang="en-US" b="1" dirty="0"/>
          </a:p>
          <a:p>
            <a:pPr marL="0" indent="0">
              <a:buNone/>
            </a:pPr>
            <a:r>
              <a:rPr lang="en-US" b="1" dirty="0"/>
              <a:t>To introduce you to the classes of drugs which are used to treat common cardiovascular conditions</a:t>
            </a:r>
            <a:r>
              <a:rPr lang="en-US" dirty="0"/>
              <a:t>.</a:t>
            </a:r>
            <a:endParaRPr lang="ar-IQ" dirty="0"/>
          </a:p>
        </p:txBody>
      </p:sp>
    </p:spTree>
    <p:extLst>
      <p:ext uri="{BB962C8B-B14F-4D97-AF65-F5344CB8AC3E}">
        <p14:creationId xmlns:p14="http://schemas.microsoft.com/office/powerpoint/2010/main" val="2809384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lgn="ctr">
              <a:buNone/>
            </a:pPr>
            <a:r>
              <a:rPr lang="en-US" b="1" dirty="0"/>
              <a:t>Learning outcomes:</a:t>
            </a:r>
          </a:p>
          <a:p>
            <a:pPr marL="0" indent="0">
              <a:buNone/>
            </a:pPr>
            <a:r>
              <a:rPr lang="en-US" b="1" dirty="0"/>
              <a:t>By the end of this session and with appropriate self study you should be able to:</a:t>
            </a:r>
          </a:p>
          <a:p>
            <a:pPr marL="0" indent="0">
              <a:buNone/>
            </a:pPr>
            <a:r>
              <a:rPr lang="en-US" b="1" dirty="0"/>
              <a:t>-</a:t>
            </a:r>
            <a:r>
              <a:rPr lang="en-US" dirty="0"/>
              <a:t>Describe the types of drugs used to treat patients with common cardiovascular disorders.</a:t>
            </a:r>
          </a:p>
          <a:p>
            <a:pPr marL="0" indent="0">
              <a:buNone/>
            </a:pPr>
            <a:r>
              <a:rPr lang="en-US" b="1" dirty="0"/>
              <a:t>-</a:t>
            </a:r>
            <a:r>
              <a:rPr lang="en-US" dirty="0"/>
              <a:t>Understand how some arrhythmias can arise.</a:t>
            </a:r>
          </a:p>
          <a:p>
            <a:pPr marL="0" indent="0">
              <a:buNone/>
            </a:pPr>
            <a:r>
              <a:rPr lang="en-US" b="1" dirty="0"/>
              <a:t>-</a:t>
            </a:r>
            <a:r>
              <a:rPr lang="en-US" dirty="0"/>
              <a:t>Describe the classes of anti-arrhythmic drugs and the principles of their therapeutic use.</a:t>
            </a:r>
          </a:p>
          <a:p>
            <a:pPr marL="0" indent="0">
              <a:buNone/>
            </a:pPr>
            <a:r>
              <a:rPr lang="en-US" b="1" dirty="0"/>
              <a:t>-</a:t>
            </a:r>
            <a:r>
              <a:rPr lang="en-US" dirty="0"/>
              <a:t>Describe the therapeutic uses of </a:t>
            </a:r>
            <a:r>
              <a:rPr lang="el-GR" dirty="0"/>
              <a:t>β-</a:t>
            </a:r>
            <a:r>
              <a:rPr lang="en-US" dirty="0"/>
              <a:t>adrenoreceptor antagonists.</a:t>
            </a:r>
          </a:p>
          <a:p>
            <a:pPr marL="0" indent="0">
              <a:buNone/>
            </a:pPr>
            <a:r>
              <a:rPr lang="en-US" b="1" dirty="0"/>
              <a:t>-</a:t>
            </a:r>
            <a:r>
              <a:rPr lang="en-US" dirty="0"/>
              <a:t>Define the term „inotropic‟ drug and the circumstances under which these drugs can be used.</a:t>
            </a:r>
          </a:p>
          <a:p>
            <a:pPr marL="0" indent="0">
              <a:buNone/>
            </a:pPr>
            <a:r>
              <a:rPr lang="en-US" b="1" dirty="0"/>
              <a:t>-</a:t>
            </a:r>
            <a:r>
              <a:rPr lang="en-US" dirty="0"/>
              <a:t>Describe how drugs can be used in the treatment of heart failure.</a:t>
            </a:r>
          </a:p>
          <a:p>
            <a:pPr marL="0" indent="0">
              <a:buNone/>
            </a:pPr>
            <a:r>
              <a:rPr lang="en-US" b="1" dirty="0"/>
              <a:t>-</a:t>
            </a:r>
            <a:r>
              <a:rPr lang="en-US" dirty="0"/>
              <a:t>Understand the risk of thrombus formation with certain cardiovascular conditions and how to treat this.</a:t>
            </a:r>
            <a:endParaRPr lang="ar-IQ" dirty="0"/>
          </a:p>
        </p:txBody>
      </p:sp>
    </p:spTree>
    <p:extLst>
      <p:ext uri="{BB962C8B-B14F-4D97-AF65-F5344CB8AC3E}">
        <p14:creationId xmlns:p14="http://schemas.microsoft.com/office/powerpoint/2010/main" val="1885928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0" indent="0" algn="ctr">
              <a:buNone/>
            </a:pPr>
            <a:r>
              <a:rPr lang="en-US" b="1" dirty="0"/>
              <a:t>Drugs Acting on the Cardiovascular System</a:t>
            </a:r>
          </a:p>
          <a:p>
            <a:pPr marL="0" indent="0" algn="ctr">
              <a:buNone/>
            </a:pPr>
            <a:endParaRPr lang="en-US" b="1" dirty="0"/>
          </a:p>
          <a:p>
            <a:pPr marL="0" indent="0">
              <a:buNone/>
            </a:pPr>
            <a:r>
              <a:rPr lang="en-US" dirty="0"/>
              <a:t>--The aim of this lecture is to introduce you to the broad types of drugs used in the treatment of cardiovascular disorders. It is not a comprehensive guide to pharmacological treatment in this continually developing field, but rather an attempt to illustrate the ways in which drug action is targeted to the cellular and molecular events in the heart and vasculature. </a:t>
            </a:r>
          </a:p>
          <a:p>
            <a:pPr marL="0" indent="0">
              <a:buNone/>
            </a:pPr>
            <a:endParaRPr lang="en-US" dirty="0"/>
          </a:p>
          <a:p>
            <a:pPr marL="0" indent="0">
              <a:buNone/>
            </a:pPr>
            <a:r>
              <a:rPr lang="en-US" dirty="0"/>
              <a:t>--Drugs can be used to treat a variety of cardiovascular disorders, such as abnormal rhythm (arrhythmias) heart failure, hypertension, angina as well as disorders blood clotting. Drugs acting on the heart itself can alter heart rate or force of contraction. Such drugs can be useful if it is necessary to reduce the workload of the heart following myocardial infarction (MI) or to increase the hearts ability to pump in some cases of heart failure. Drugs acting on peripheral resistance vessels are important in regulating blood pressure. Some drugs may act at more than one site.</a:t>
            </a:r>
          </a:p>
          <a:p>
            <a:pPr marL="0" indent="0">
              <a:buNone/>
            </a:pPr>
            <a:endParaRPr lang="ar-IQ" dirty="0"/>
          </a:p>
        </p:txBody>
      </p:sp>
    </p:spTree>
    <p:extLst>
      <p:ext uri="{BB962C8B-B14F-4D97-AF65-F5344CB8AC3E}">
        <p14:creationId xmlns:p14="http://schemas.microsoft.com/office/powerpoint/2010/main" val="59038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--Disturbances of cardiac  rhythm such as atrial fibrillation or tachychardia can be treated with antiarrhythmic drugs of which several classes exist. Atrial fibrillation may occur as the result of re-entrant loops or as the result of an ectopic  focal point of excitation. These points of excitation are frequently in the large veins entering the atria.</a:t>
            </a:r>
          </a:p>
          <a:p>
            <a:pPr marL="0" indent="0">
              <a:buNone/>
            </a:pPr>
            <a:r>
              <a:rPr lang="en-US" dirty="0"/>
              <a:t>--Drugs used to treat arrhythmias include Na+ channel blockers such as local anaesthetics, </a:t>
            </a:r>
            <a:r>
              <a:rPr lang="el-GR" dirty="0"/>
              <a:t>β-</a:t>
            </a:r>
            <a:r>
              <a:rPr lang="en-US" dirty="0"/>
              <a:t>adrenoreceptor antagonists, K+ channel blockers and Ca2+  channel blockers. The way in which these drugs act will be discussed.</a:t>
            </a:r>
            <a:endParaRPr lang="ar-IQ" dirty="0"/>
          </a:p>
        </p:txBody>
      </p:sp>
    </p:spTree>
    <p:extLst>
      <p:ext uri="{BB962C8B-B14F-4D97-AF65-F5344CB8AC3E}">
        <p14:creationId xmlns:p14="http://schemas.microsoft.com/office/powerpoint/2010/main" val="63138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marL="0" indent="0">
              <a:buNone/>
            </a:pPr>
            <a:r>
              <a:rPr lang="en-US" dirty="0"/>
              <a:t>--Drugs that affect the force of contraction will be considered. Cardiac glycosides such as digoxin can, in some limited circumstances, be used to increase cardiac output in heart failure. Cardiac glycosides act by inhibiting the Na+/K+ ATPase (Na pump) leading to an increase in [Na+] in . The loss of the Na+ concentration gradient across the cell membrane means that the Na+/Ca2+ exchanger cannot pump Ca2+ out of the cell so readily. The resultant rise in [Ca2+] in causes an increased force of contraction. Adrenaline increases the force of contraction by activating </a:t>
            </a:r>
            <a:r>
              <a:rPr lang="el-GR" dirty="0"/>
              <a:t>β1-</a:t>
            </a:r>
            <a:r>
              <a:rPr lang="en-US" dirty="0"/>
              <a:t>adrenoreceptors but also increase heart rate. </a:t>
            </a:r>
            <a:r>
              <a:rPr lang="el-GR" dirty="0"/>
              <a:t>β-</a:t>
            </a:r>
            <a:r>
              <a:rPr lang="en-US" dirty="0"/>
              <a:t>adrenoreceptors blockers can be used to reduce the force and rate of contraction. </a:t>
            </a:r>
            <a:r>
              <a:rPr lang="el-GR" dirty="0"/>
              <a:t>β-</a:t>
            </a:r>
            <a:r>
              <a:rPr lang="en-US" dirty="0"/>
              <a:t>adrenoreceptors blockers are used in circumstances when you wish to decrease the workload of the heart (eg following myocardial infarction).</a:t>
            </a:r>
          </a:p>
          <a:p>
            <a:pPr marL="0" indent="0">
              <a:buNone/>
            </a:pPr>
            <a:endParaRPr lang="en-US" dirty="0"/>
          </a:p>
          <a:p>
            <a:pPr marL="0" indent="0">
              <a:buNone/>
            </a:pPr>
            <a:r>
              <a:rPr lang="en-US" dirty="0"/>
              <a:t>Certain heart conditions such as atrial fibrillation and valve disease carry an increased risk of thrombus formation. Anti-thrombotic drugs such as warfarin may be used in these cases. The antiplatlet drug aspirin is used following MI or in coronary artery disease where there is a risk of MI to reduce the risk of platelet rich arterial clots forming.</a:t>
            </a:r>
            <a:endParaRPr lang="ar-IQ" dirty="0"/>
          </a:p>
        </p:txBody>
      </p:sp>
    </p:spTree>
    <p:extLst>
      <p:ext uri="{BB962C8B-B14F-4D97-AF65-F5344CB8AC3E}">
        <p14:creationId xmlns:p14="http://schemas.microsoft.com/office/powerpoint/2010/main" val="147068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buNone/>
            </a:pPr>
            <a:r>
              <a:rPr lang="en-US" dirty="0"/>
              <a:t>--Coronary artery disease can lead to angina or eventually MI. Nitrovasodilators are particularly effective in the treatment of angina. These act primarily to dilate the veins, thereby reducing central venous pressure (preload) and reducing the work of the heart. A secondary effect may be due to dilatation of collateral coronary arteries improving blood supply to the heart. They do not act by dilating arterioles. </a:t>
            </a:r>
          </a:p>
          <a:p>
            <a:pPr marL="0" indent="0">
              <a:buNone/>
            </a:pPr>
            <a:endParaRPr lang="en-US" dirty="0"/>
          </a:p>
          <a:p>
            <a:pPr marL="0" indent="0">
              <a:buNone/>
            </a:pPr>
            <a:r>
              <a:rPr lang="en-US" dirty="0"/>
              <a:t>--Hypertension is an important cardiovascular condition since it carries a risk of developing cardiovascular disease or stroke. Drugs used in the treatment of hypertension act to reduce cardiac output and/or peripheral resistance. These include ACE-inhibitors (Angiotensin-Converting Enzyme inhibitors), diuretics, adrenoreceptor blockers and calcium channelblockers. Hypertension and its treatment will be covered further in the Urinary </a:t>
            </a:r>
            <a:r>
              <a:rPr lang="en-US"/>
              <a:t>and Clinical Pharmacology </a:t>
            </a:r>
            <a:r>
              <a:rPr lang="en-US" dirty="0"/>
              <a:t>modules.</a:t>
            </a:r>
          </a:p>
          <a:p>
            <a:pPr marL="0" indent="0">
              <a:buNone/>
            </a:pPr>
            <a:endParaRPr lang="ar-IQ" dirty="0"/>
          </a:p>
        </p:txBody>
      </p:sp>
    </p:spTree>
    <p:extLst>
      <p:ext uri="{BB962C8B-B14F-4D97-AF65-F5344CB8AC3E}">
        <p14:creationId xmlns:p14="http://schemas.microsoft.com/office/powerpoint/2010/main" val="396259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0" indent="0">
              <a:buNone/>
            </a:pPr>
            <a:r>
              <a:rPr lang="en-US" dirty="0"/>
              <a:t>--ACE-inhibitors and diuretics have an important role in the treatment of chronic  heart  failure. ACE-inhibitors prevent  the formation of the vasoconstrictor  angiotensin II, thus promoting  vasodilation of arterioles and venous dilation. This decreases both afterload and preload to the heart. ACE-inhibitors also have a diuretic action since angiotensin II promotes aldosterone release from the adrenal cortex. You will find out later in the Urinary module that aldosterone causes Na+ and water retention thereby increasing blood volume. Decreasing blood volume decreases the preload to the heart.</a:t>
            </a:r>
            <a:endParaRPr lang="ar-IQ" dirty="0"/>
          </a:p>
        </p:txBody>
      </p:sp>
    </p:spTree>
    <p:extLst>
      <p:ext uri="{BB962C8B-B14F-4D97-AF65-F5344CB8AC3E}">
        <p14:creationId xmlns:p14="http://schemas.microsoft.com/office/powerpoint/2010/main" val="31527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4000" dirty="0"/>
              <a:t>Thanks </a:t>
            </a:r>
            <a:endParaRPr lang="ar-IQ" sz="4000" dirty="0"/>
          </a:p>
        </p:txBody>
      </p:sp>
    </p:spTree>
    <p:extLst>
      <p:ext uri="{BB962C8B-B14F-4D97-AF65-F5344CB8AC3E}">
        <p14:creationId xmlns:p14="http://schemas.microsoft.com/office/powerpoint/2010/main" val="2594386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890</Words>
  <Application>Microsoft Office PowerPoint</Application>
  <PresentationFormat>On-screen Show (4:3)</PresentationFormat>
  <Paragraphs>35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22</cp:revision>
  <dcterms:created xsi:type="dcterms:W3CDTF">2006-08-16T00:00:00Z</dcterms:created>
  <dcterms:modified xsi:type="dcterms:W3CDTF">2020-12-19T09:01:04Z</dcterms:modified>
</cp:coreProperties>
</file>