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9" r:id="rId2"/>
    <p:sldId id="262" r:id="rId3"/>
    <p:sldId id="263" r:id="rId4"/>
    <p:sldId id="264" r:id="rId5"/>
    <p:sldId id="265" r:id="rId6"/>
    <p:sldId id="266" r:id="rId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8" d="100"/>
          <a:sy n="68" d="100"/>
        </p:scale>
        <p:origin x="1446"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4" name="Title 13"/>
          <p:cNvSpPr>
            <a:spLocks noGrp="1"/>
          </p:cNvSpPr>
          <p:nvPr>
            <p:ph type="ctrTitle"/>
          </p:nvPr>
        </p:nvSpPr>
        <p:spPr>
          <a:xfrm>
            <a:off x="1432560" y="359898"/>
            <a:ext cx="7406640" cy="1472184"/>
          </a:xfrm>
        </p:spPr>
        <p:txBody>
          <a:bodyPr anchor="b"/>
          <a:lstStyle>
            <a:lvl1pPr algn="l">
              <a:defRPr/>
            </a:lvl1pPr>
            <a:extLst/>
          </a:lstStyle>
          <a:p>
            <a:r>
              <a:rPr kumimoji="0" lang="en-US"/>
              <a:t>Click to edit Master title style</a:t>
            </a:r>
          </a:p>
        </p:txBody>
      </p:sp>
      <p:sp>
        <p:nvSpPr>
          <p:cNvPr id="22" name="Subtitle 21"/>
          <p:cNvSpPr>
            <a:spLocks noGrp="1"/>
          </p:cNvSpPr>
          <p:nvPr>
            <p:ph type="subTitle" idx="1"/>
          </p:nvPr>
        </p:nvSpPr>
        <p:spPr>
          <a:xfrm>
            <a:off x="1432560" y="1850064"/>
            <a:ext cx="740664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sp>
        <p:nvSpPr>
          <p:cNvPr id="7" name="Date Placeholder 6"/>
          <p:cNvSpPr>
            <a:spLocks noGrp="1"/>
          </p:cNvSpPr>
          <p:nvPr>
            <p:ph type="dt" sz="half" idx="10"/>
          </p:nvPr>
        </p:nvSpPr>
        <p:spPr/>
        <p:txBody>
          <a:bodyPr/>
          <a:lstStyle/>
          <a:p>
            <a:fld id="{1D8BD707-D9CF-40AE-B4C6-C98DA3205C09}" type="datetimeFigureOut">
              <a:rPr lang="en-US" smtClean="0"/>
              <a:pPr/>
              <a:t>9/19/2021</a:t>
            </a:fld>
            <a:endParaRPr lang="en-US"/>
          </a:p>
        </p:txBody>
      </p:sp>
      <p:sp>
        <p:nvSpPr>
          <p:cNvPr id="20" name="Footer Placeholder 19"/>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B6F15528-21DE-4FAA-801E-634DDDAF4B2B}" type="slidenum">
              <a:rPr lang="en-US" smtClean="0"/>
              <a:pPr/>
              <a:t>‹#›</a:t>
            </a:fld>
            <a:endParaRPr lang="en-US"/>
          </a:p>
        </p:txBody>
      </p:sp>
      <p:sp>
        <p:nvSpPr>
          <p:cNvPr id="8" name="Oval 7"/>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Oval 8"/>
          <p:cNvSpPr/>
          <p:nvPr/>
        </p:nvSpPr>
        <p:spPr>
          <a:xfrm>
            <a:off x="1157176" y="1345016"/>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9/19/2021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2282890" y="-54"/>
            <a:ext cx="6858000"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2578392" y="2600325"/>
            <a:ext cx="6400800" cy="2286000"/>
          </a:xfrm>
        </p:spPr>
        <p:txBody>
          <a:bodyPr anchor="t"/>
          <a:lstStyle>
            <a:lvl1pPr algn="l">
              <a:lnSpc>
                <a:spcPts val="4500"/>
              </a:lnSpc>
              <a:buNone/>
              <a:defRPr sz="4000" b="1" cap="all"/>
            </a:lvl1pPr>
            <a:extLst/>
          </a:lstStyle>
          <a:p>
            <a:r>
              <a:rPr kumimoji="0" lang="en-US"/>
              <a:t>Click to edit Master title style</a:t>
            </a:r>
          </a:p>
        </p:txBody>
      </p:sp>
      <p:sp>
        <p:nvSpPr>
          <p:cNvPr id="3" name="Text Placeholder 2"/>
          <p:cNvSpPr>
            <a:spLocks noGrp="1"/>
          </p:cNvSpPr>
          <p:nvPr>
            <p:ph type="body" idx="1"/>
          </p:nvPr>
        </p:nvSpPr>
        <p:spPr>
          <a:xfrm>
            <a:off x="2578392" y="1066800"/>
            <a:ext cx="64008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9/19/2021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10" name="Rectangle 9"/>
          <p:cNvSpPr/>
          <p:nvPr/>
        </p:nvSpPr>
        <p:spPr bwMode="invGray">
          <a:xfrm>
            <a:off x="2286000" y="0"/>
            <a:ext cx="76200"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Oval 7"/>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Oval 8"/>
          <p:cNvSpPr/>
          <p:nvPr/>
        </p:nvSpPr>
        <p:spPr>
          <a:xfrm>
            <a:off x="2408064" y="2745870"/>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p>
            <a:r>
              <a:rPr kumimoji="0" lang="en-US"/>
              <a:t>Click to edit Master title style</a:t>
            </a:r>
          </a:p>
        </p:txBody>
      </p:sp>
      <p:sp>
        <p:nvSpPr>
          <p:cNvPr id="3" name="Content Placeholder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9/19/2021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5160336"/>
            <a:ext cx="8229600" cy="1143000"/>
          </a:xfrm>
        </p:spPr>
        <p:txBody>
          <a:bodyPr anchor="ctr"/>
          <a:lstStyle>
            <a:lvl1pPr algn="ctr">
              <a:defRPr sz="4500" b="1" cap="none" baseline="0"/>
            </a:lvl1pPr>
            <a:extLst/>
          </a:lstStyle>
          <a:p>
            <a:r>
              <a:rPr kumimoji="0" lang="en-US"/>
              <a:t>Click to edit Master title style</a:t>
            </a:r>
          </a:p>
        </p:txBody>
      </p:sp>
      <p:sp>
        <p:nvSpPr>
          <p:cNvPr id="3" name="Text Placeholder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6344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1D8BD707-D9CF-40AE-B4C6-C98DA3205C09}" type="datetimeFigureOut">
              <a:rPr lang="en-US" smtClean="0"/>
              <a:pPr/>
              <a:t>9/19/2021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nchor="ctr"/>
          <a:lstStyle/>
          <a:p>
            <a:r>
              <a:rPr kumimoji="0"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9/19/2021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1014984" y="0"/>
            <a:ext cx="8129016"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Date Placeholder 1"/>
          <p:cNvSpPr>
            <a:spLocks noGrp="1"/>
          </p:cNvSpPr>
          <p:nvPr>
            <p:ph type="dt" sz="half" idx="10"/>
          </p:nvPr>
        </p:nvSpPr>
        <p:spPr/>
        <p:txBody>
          <a:bodyPr/>
          <a:lstStyle/>
          <a:p>
            <a:fld id="{1D8BD707-D9CF-40AE-B4C6-C98DA3205C09}" type="datetimeFigureOut">
              <a:rPr lang="en-US" smtClean="0"/>
              <a:pPr/>
              <a:t>9/19/2021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
        <p:nvSpPr>
          <p:cNvPr id="6" name="Rectangle 5"/>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extLst/>
          </a:lstStyle>
          <a:p>
            <a:r>
              <a:rPr kumimoji="0" lang="en-US"/>
              <a:t>Click to edit Master title style</a:t>
            </a:r>
          </a:p>
        </p:txBody>
      </p:sp>
      <p:sp>
        <p:nvSpPr>
          <p:cNvPr id="3" name="Text Placeholder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a:t>Click to edit Master text styles</a:t>
            </a:r>
          </a:p>
        </p:txBody>
      </p:sp>
      <p:sp>
        <p:nvSpPr>
          <p:cNvPr id="4" name="Content Placeholder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9/19/2021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86896" y="1066800"/>
            <a:ext cx="2743200" cy="1981200"/>
          </a:xfrm>
        </p:spPr>
        <p:txBody>
          <a:bodyPr anchor="b">
            <a:noAutofit/>
          </a:bodyPr>
          <a:lstStyle>
            <a:lvl1pPr algn="l">
              <a:buNone/>
              <a:defRPr sz="2100" b="1">
                <a:effectLst/>
              </a:defRPr>
            </a:lvl1pPr>
            <a:extLst/>
          </a:lstStyle>
          <a:p>
            <a:r>
              <a:rPr kumimoji="0" lang="en-US"/>
              <a:t>Click to edit Master title style</a:t>
            </a:r>
          </a:p>
        </p:txBody>
      </p:sp>
      <p:sp>
        <p:nvSpPr>
          <p:cNvPr id="5" name="Date Placeholder 4"/>
          <p:cNvSpPr>
            <a:spLocks noGrp="1"/>
          </p:cNvSpPr>
          <p:nvPr>
            <p:ph type="dt" sz="half" idx="10"/>
          </p:nvPr>
        </p:nvSpPr>
        <p:spPr/>
        <p:txBody>
          <a:bodyPr/>
          <a:lstStyle/>
          <a:p>
            <a:fld id="{1D8BD707-D9CF-40AE-B4C6-C98DA3205C09}" type="datetimeFigureOut">
              <a:rPr lang="en-US" smtClean="0"/>
              <a:pPr/>
              <a:t>9/19/2021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8" name="Rectangle 7"/>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p>
            <a:pPr marL="0" indent="-283464" algn="l" rtl="0" eaLnBrk="1" latinLnBrk="0" hangingPunct="1">
              <a:lnSpc>
                <a:spcPts val="3000"/>
              </a:lnSpc>
              <a:spcBef>
                <a:spcPts val="600"/>
              </a:spcBef>
              <a:buClr>
                <a:schemeClr val="accent1"/>
              </a:buClr>
              <a:buSzPct val="80000"/>
              <a:buFont typeface="Wingdings 2"/>
              <a:buNone/>
            </a:pPr>
            <a:endParaRPr kumimoji="0" lang="en-US" sz="3200" kern="1200">
              <a:solidFill>
                <a:schemeClr val="tx1"/>
              </a:solidFill>
              <a:latin typeface="+mn-lt"/>
              <a:ea typeface="+mn-ea"/>
              <a:cs typeface="+mn-cs"/>
            </a:endParaRPr>
          </a:p>
        </p:txBody>
      </p:sp>
      <p:sp>
        <p:nvSpPr>
          <p:cNvPr id="3" name="Picture Placeholder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extLst/>
          </a:lstStyle>
          <a:p>
            <a:pPr marL="0" algn="l" eaLnBrk="1" latinLnBrk="0" hangingPunct="1"/>
            <a:r>
              <a:rPr kumimoji="0" lang="en-US"/>
              <a:t>Click icon to add picture</a:t>
            </a:r>
            <a:endParaRPr kumimoji="0" lang="en-US" dirty="0"/>
          </a:p>
        </p:txBody>
      </p:sp>
      <p:sp>
        <p:nvSpPr>
          <p:cNvPr id="9" name="Flowchart: Process 8"/>
          <p:cNvSpPr/>
          <p:nvPr/>
        </p:nvSpPr>
        <p:spPr>
          <a:xfrm rot="19468671">
            <a:off x="396725" y="954341"/>
            <a:ext cx="6858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Flowchart: Process 9"/>
          <p:cNvSpPr/>
          <p:nvPr/>
        </p:nvSpPr>
        <p:spPr>
          <a:xfrm rot="2103354" flipH="1">
            <a:off x="5003667" y="936786"/>
            <a:ext cx="649224"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4" name="Text Placeholder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eaLnBrk="1" latinLnBrk="0" hangingPunct="1"/>
            <a:r>
              <a:rPr kumimoji="0" lang="en-US"/>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9/19/2021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274639"/>
            <a:ext cx="18288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1143000" y="274640"/>
            <a:ext cx="55626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9/19/2021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Pie 6"/>
          <p:cNvSpPr/>
          <p:nvPr/>
        </p:nvSpPr>
        <p:spPr>
          <a:xfrm>
            <a:off x="-815927" y="-815922"/>
            <a:ext cx="1638887"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Oval 7"/>
          <p:cNvSpPr/>
          <p:nvPr/>
        </p:nvSpPr>
        <p:spPr>
          <a:xfrm>
            <a:off x="168816" y="21102"/>
            <a:ext cx="1702191"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Donut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1012873" y="-54"/>
            <a:ext cx="8131127"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5" name="Title Placeholder 4"/>
          <p:cNvSpPr>
            <a:spLocks noGrp="1"/>
          </p:cNvSpPr>
          <p:nvPr>
            <p:ph type="title"/>
          </p:nvPr>
        </p:nvSpPr>
        <p:spPr>
          <a:xfrm>
            <a:off x="1435608" y="274638"/>
            <a:ext cx="7498080" cy="1143000"/>
          </a:xfrm>
          <a:prstGeom prst="rect">
            <a:avLst/>
          </a:prstGeom>
        </p:spPr>
        <p:txBody>
          <a:bodyPr anchor="ctr">
            <a:normAutofit/>
          </a:bodyPr>
          <a:lstStyle/>
          <a:p>
            <a:r>
              <a:rPr kumimoji="0" lang="en-US"/>
              <a:t>Click to edit Master title style</a:t>
            </a:r>
          </a:p>
        </p:txBody>
      </p:sp>
      <p:sp>
        <p:nvSpPr>
          <p:cNvPr id="9" name="Text Placeholder 8"/>
          <p:cNvSpPr>
            <a:spLocks noGrp="1"/>
          </p:cNvSpPr>
          <p:nvPr>
            <p:ph type="body" idx="1"/>
          </p:nvPr>
        </p:nvSpPr>
        <p:spPr>
          <a:xfrm>
            <a:off x="1435608" y="1447800"/>
            <a:ext cx="7498080" cy="4800600"/>
          </a:xfrm>
          <a:prstGeom prst="rect">
            <a:avLst/>
          </a:prstGeom>
        </p:spPr>
        <p:txBody>
          <a:bodyPr>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24" name="Date Placeholder 23"/>
          <p:cNvSpPr>
            <a:spLocks noGrp="1"/>
          </p:cNvSpPr>
          <p:nvPr>
            <p:ph type="dt" sz="half" idx="2"/>
          </p:nvPr>
        </p:nvSpPr>
        <p:spPr>
          <a:xfrm>
            <a:off x="3581400" y="6305550"/>
            <a:ext cx="2133600" cy="476250"/>
          </a:xfrm>
          <a:prstGeom prst="rect">
            <a:avLst/>
          </a:prstGeom>
        </p:spPr>
        <p:txBody>
          <a:bodyPr anchor="b"/>
          <a:lstStyle>
            <a:lvl1pPr algn="r" eaLnBrk="1" latinLnBrk="0" hangingPunct="1">
              <a:defRPr kumimoji="0" sz="1200">
                <a:solidFill>
                  <a:schemeClr val="bg2">
                    <a:shade val="50000"/>
                    <a:satMod val="200000"/>
                  </a:schemeClr>
                </a:solidFill>
              </a:defRPr>
            </a:lvl1pPr>
            <a:extLst/>
          </a:lstStyle>
          <a:p>
            <a:fld id="{1D8BD707-D9CF-40AE-B4C6-C98DA3205C09}" type="datetimeFigureOut">
              <a:rPr lang="en-US" smtClean="0"/>
              <a:pPr/>
              <a:t>9/19/2021</a:t>
            </a:fld>
            <a:endParaRPr lang="en-US"/>
          </a:p>
        </p:txBody>
      </p:sp>
      <p:sp>
        <p:nvSpPr>
          <p:cNvPr id="10" name="Footer Placeholder 9"/>
          <p:cNvSpPr>
            <a:spLocks noGrp="1"/>
          </p:cNvSpPr>
          <p:nvPr>
            <p:ph type="ftr" sz="quarter" idx="3"/>
          </p:nvPr>
        </p:nvSpPr>
        <p:spPr>
          <a:xfrm>
            <a:off x="5715000" y="6305550"/>
            <a:ext cx="2895600" cy="476250"/>
          </a:xfrm>
          <a:prstGeom prst="rect">
            <a:avLst/>
          </a:prstGeom>
        </p:spPr>
        <p:txBody>
          <a:bodyPr anchor="b"/>
          <a:lstStyle>
            <a:lvl1pPr eaLnBrk="1" latinLnBrk="0" hangingPunct="1">
              <a:defRPr kumimoji="0" sz="1200">
                <a:solidFill>
                  <a:schemeClr val="bg2">
                    <a:shade val="50000"/>
                    <a:satMod val="200000"/>
                  </a:schemeClr>
                </a:solidFill>
                <a:effectLst/>
              </a:defRPr>
            </a:lvl1pPr>
            <a:extLst/>
          </a:lstStyle>
          <a:p>
            <a:endParaRPr lang="en-US"/>
          </a:p>
        </p:txBody>
      </p:sp>
      <p:sp>
        <p:nvSpPr>
          <p:cNvPr id="22" name="Slide Number Placeholder 21"/>
          <p:cNvSpPr>
            <a:spLocks noGrp="1"/>
          </p:cNvSpPr>
          <p:nvPr>
            <p:ph type="sldNum" sz="quarter" idx="4"/>
          </p:nvPr>
        </p:nvSpPr>
        <p:spPr>
          <a:xfrm>
            <a:off x="8613648" y="6305550"/>
            <a:ext cx="4572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extLst/>
          </a:lstStyle>
          <a:p>
            <a:fld id="{B6F15528-21DE-4FAA-801E-634DDDAF4B2B}" type="slidenum">
              <a:rPr lang="en-US" smtClean="0"/>
              <a:pPr/>
              <a:t>‹#›</a:t>
            </a:fld>
            <a:endParaRPr lang="en-US"/>
          </a:p>
        </p:txBody>
      </p:sp>
      <p:sp>
        <p:nvSpPr>
          <p:cNvPr id="15" name="Rectangle 14"/>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rtl="1"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p:titleStyle>
    <p:bodyStyle>
      <a:lvl1pPr marL="365760" indent="-283464" algn="r" rtl="1"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744" algn="r" rtl="1" eaLnBrk="1" latinLnBrk="0" hangingPunct="1">
        <a:lnSpc>
          <a:spcPct val="100000"/>
        </a:lnSpc>
        <a:spcBef>
          <a:spcPts val="550"/>
        </a:spcBef>
        <a:buClr>
          <a:schemeClr val="accent1"/>
        </a:buClr>
        <a:buFont typeface="Verdana"/>
        <a:buChar char="◦"/>
        <a:defRPr kumimoji="0" sz="2800" kern="1200">
          <a:solidFill>
            <a:schemeClr val="tx1"/>
          </a:solidFill>
          <a:latin typeface="+mn-lt"/>
          <a:ea typeface="+mn-ea"/>
          <a:cs typeface="+mn-cs"/>
        </a:defRPr>
      </a:lvl2pPr>
      <a:lvl3pPr marL="886968" indent="-228600" algn="r" rtl="1"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r" rtl="1"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r" rtl="1"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r" rtl="1"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r" rtl="1"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r" rtl="1"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r" rtl="1"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r" rtl="1" eaLnBrk="1" latinLnBrk="0" hangingPunct="1">
        <a:defRPr kumimoji="0" kern="1200">
          <a:solidFill>
            <a:schemeClr val="tx1"/>
          </a:solidFill>
          <a:latin typeface="+mn-lt"/>
          <a:ea typeface="+mn-ea"/>
          <a:cs typeface="+mn-cs"/>
        </a:defRPr>
      </a:lvl1pPr>
      <a:lvl2pPr marL="457200" algn="r" rtl="1" eaLnBrk="1" latinLnBrk="0" hangingPunct="1">
        <a:defRPr kumimoji="0" kern="1200">
          <a:solidFill>
            <a:schemeClr val="tx1"/>
          </a:solidFill>
          <a:latin typeface="+mn-lt"/>
          <a:ea typeface="+mn-ea"/>
          <a:cs typeface="+mn-cs"/>
        </a:defRPr>
      </a:lvl2pPr>
      <a:lvl3pPr marL="914400" algn="r" rtl="1" eaLnBrk="1" latinLnBrk="0" hangingPunct="1">
        <a:defRPr kumimoji="0" kern="1200">
          <a:solidFill>
            <a:schemeClr val="tx1"/>
          </a:solidFill>
          <a:latin typeface="+mn-lt"/>
          <a:ea typeface="+mn-ea"/>
          <a:cs typeface="+mn-cs"/>
        </a:defRPr>
      </a:lvl3pPr>
      <a:lvl4pPr marL="1371600" algn="r" rtl="1" eaLnBrk="1" latinLnBrk="0" hangingPunct="1">
        <a:defRPr kumimoji="0" kern="1200">
          <a:solidFill>
            <a:schemeClr val="tx1"/>
          </a:solidFill>
          <a:latin typeface="+mn-lt"/>
          <a:ea typeface="+mn-ea"/>
          <a:cs typeface="+mn-cs"/>
        </a:defRPr>
      </a:lvl4pPr>
      <a:lvl5pPr marL="1828800" algn="r" rtl="1" eaLnBrk="1" latinLnBrk="0" hangingPunct="1">
        <a:defRPr kumimoji="0" kern="1200">
          <a:solidFill>
            <a:schemeClr val="tx1"/>
          </a:solidFill>
          <a:latin typeface="+mn-lt"/>
          <a:ea typeface="+mn-ea"/>
          <a:cs typeface="+mn-cs"/>
        </a:defRPr>
      </a:lvl5pPr>
      <a:lvl6pPr marL="2286000" algn="r" rtl="1" eaLnBrk="1" latinLnBrk="0" hangingPunct="1">
        <a:defRPr kumimoji="0" kern="1200">
          <a:solidFill>
            <a:schemeClr val="tx1"/>
          </a:solidFill>
          <a:latin typeface="+mn-lt"/>
          <a:ea typeface="+mn-ea"/>
          <a:cs typeface="+mn-cs"/>
        </a:defRPr>
      </a:lvl6pPr>
      <a:lvl7pPr marL="2743200" algn="r" rtl="1" eaLnBrk="1" latinLnBrk="0" hangingPunct="1">
        <a:defRPr kumimoji="0" kern="1200">
          <a:solidFill>
            <a:schemeClr val="tx1"/>
          </a:solidFill>
          <a:latin typeface="+mn-lt"/>
          <a:ea typeface="+mn-ea"/>
          <a:cs typeface="+mn-cs"/>
        </a:defRPr>
      </a:lvl7pPr>
      <a:lvl8pPr marL="3200400" algn="r" rtl="1" eaLnBrk="1" latinLnBrk="0" hangingPunct="1">
        <a:defRPr kumimoji="0" kern="1200">
          <a:solidFill>
            <a:schemeClr val="tx1"/>
          </a:solidFill>
          <a:latin typeface="+mn-lt"/>
          <a:ea typeface="+mn-ea"/>
          <a:cs typeface="+mn-cs"/>
        </a:defRPr>
      </a:lvl8pPr>
      <a:lvl9pPr marL="3657600" algn="r" rtl="1"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72067" y="2675467"/>
            <a:ext cx="7408333" cy="1820333"/>
          </a:xfrm>
        </p:spPr>
        <p:txBody>
          <a:bodyPr>
            <a:normAutofit/>
          </a:bodyPr>
          <a:lstStyle/>
          <a:p>
            <a:pPr marL="0" indent="0" algn="ctr" rtl="0">
              <a:buNone/>
            </a:pPr>
            <a:r>
              <a:rPr lang="en-US" sz="2800" b="1" dirty="0">
                <a:solidFill>
                  <a:schemeClr val="tx1"/>
                </a:solidFill>
              </a:rPr>
              <a:t> Early Development of the Cardiovascular System I</a:t>
            </a:r>
            <a:endParaRPr lang="ar-IQ" sz="2800" b="1" dirty="0">
              <a:solidFill>
                <a:schemeClr val="tx1"/>
              </a:solidFill>
            </a:endParaRPr>
          </a:p>
        </p:txBody>
      </p:sp>
    </p:spTree>
    <p:extLst>
      <p:ext uri="{BB962C8B-B14F-4D97-AF65-F5344CB8AC3E}">
        <p14:creationId xmlns:p14="http://schemas.microsoft.com/office/powerpoint/2010/main" val="37192374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normAutofit fontScale="55000" lnSpcReduction="20000"/>
          </a:bodyPr>
          <a:lstStyle/>
          <a:p>
            <a:pPr algn="l" rtl="0"/>
            <a:r>
              <a:rPr lang="en-US" dirty="0"/>
              <a:t>The cardiogenic field from which the heart, blood vessels and blood cells will develop is created during gastrulation and at first lies at the cranial end of the embryo before folding occurs.</a:t>
            </a:r>
          </a:p>
          <a:p>
            <a:pPr marL="82296" indent="0" algn="l" rtl="0">
              <a:buNone/>
            </a:pPr>
            <a:endParaRPr lang="en-US" dirty="0"/>
          </a:p>
          <a:p>
            <a:pPr algn="l" rtl="0"/>
            <a:r>
              <a:rPr lang="en-US" dirty="0"/>
              <a:t>As development of the cardiovascular system gets underway, a pair of tubes endocardial tubes) develops within the cardiogenic field in the 3rd week of development.</a:t>
            </a:r>
          </a:p>
          <a:p>
            <a:pPr marL="82296" indent="0" algn="l" rtl="0">
              <a:buNone/>
            </a:pPr>
            <a:r>
              <a:rPr lang="en-US" dirty="0"/>
              <a:t> </a:t>
            </a:r>
          </a:p>
          <a:p>
            <a:pPr algn="l" rtl="0"/>
            <a:r>
              <a:rPr lang="en-US" dirty="0"/>
              <a:t>The endocardial tubes are brought together during embryonic folding and fuse in the mid-line to create the primitive heart tube.</a:t>
            </a:r>
          </a:p>
          <a:p>
            <a:pPr marL="82296" indent="0" algn="l" rtl="0">
              <a:buNone/>
            </a:pPr>
            <a:r>
              <a:rPr lang="en-US" dirty="0"/>
              <a:t> </a:t>
            </a:r>
          </a:p>
          <a:p>
            <a:pPr algn="l" rtl="0"/>
            <a:r>
              <a:rPr lang="en-US" dirty="0"/>
              <a:t>The primitive heart tube is linear at first, receiving blood (inflow) at its caudal pole and pumping blood (outflow) from its cranial pole. The primitive heart tube is described as having four segments the (primitive) atrium, the (primitive) ventricle, bulbus cordis and truncus arteriosus. Early in its development the cardiovascular system (heart and vasculature) is highly symmetrical in marked contrast to the adult disposition.</a:t>
            </a:r>
            <a:endParaRPr lang="ar-IQ" dirty="0"/>
          </a:p>
        </p:txBody>
      </p:sp>
    </p:spTree>
    <p:extLst>
      <p:ext uri="{BB962C8B-B14F-4D97-AF65-F5344CB8AC3E}">
        <p14:creationId xmlns:p14="http://schemas.microsoft.com/office/powerpoint/2010/main" val="25308790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70000" lnSpcReduction="20000"/>
          </a:bodyPr>
          <a:lstStyle/>
          <a:p>
            <a:pPr algn="l" rtl="0"/>
            <a:r>
              <a:rPr lang="en-US" dirty="0"/>
              <a:t>The symmetrical arrangement of embryonic/fetal blood vessels is systematically remodelledover the course of development. The process by which the adult disposition of the heart isachieved begins with the process of looping of the primitive heart tube. Put simply, looping places both the inflow and outflow cranially with the inflow dorsal to (behind) the outflow.</a:t>
            </a:r>
          </a:p>
          <a:p>
            <a:pPr algn="l" rtl="0"/>
            <a:r>
              <a:rPr lang="en-US" dirty="0"/>
              <a:t>Evidence for the embryonic structures of the primitive heart tube persists in the adult (see also 2nd lecture). With further growth and development the primitive atrium contributes a (small) component to each atrium, the bulbuscordis give rise to (part of) the right ventriclewhile the left ventricle is derived from the primitive ventricle. The truncusarteriosus ultimately gives rise to the roots and proximal portions of the pulmonary trunk and aorta.</a:t>
            </a:r>
            <a:endParaRPr lang="ar-IQ" dirty="0"/>
          </a:p>
        </p:txBody>
      </p:sp>
    </p:spTree>
    <p:extLst>
      <p:ext uri="{BB962C8B-B14F-4D97-AF65-F5344CB8AC3E}">
        <p14:creationId xmlns:p14="http://schemas.microsoft.com/office/powerpoint/2010/main" val="22420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1"/>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52222" y="1524000"/>
            <a:ext cx="5990053" cy="3733800"/>
          </a:xfrm>
        </p:spPr>
      </p:pic>
    </p:spTree>
    <p:extLst>
      <p:ext uri="{BB962C8B-B14F-4D97-AF65-F5344CB8AC3E}">
        <p14:creationId xmlns:p14="http://schemas.microsoft.com/office/powerpoint/2010/main" val="16043049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1"/>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81200" y="1447801"/>
            <a:ext cx="6476999" cy="3967162"/>
          </a:xfrm>
        </p:spPr>
      </p:pic>
    </p:spTree>
    <p:extLst>
      <p:ext uri="{BB962C8B-B14F-4D97-AF65-F5344CB8AC3E}">
        <p14:creationId xmlns:p14="http://schemas.microsoft.com/office/powerpoint/2010/main" val="9174501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35100" y="2466178"/>
            <a:ext cx="7499350" cy="2763844"/>
          </a:xfrm>
        </p:spPr>
      </p:pic>
    </p:spTree>
    <p:extLst>
      <p:ext uri="{BB962C8B-B14F-4D97-AF65-F5344CB8AC3E}">
        <p14:creationId xmlns:p14="http://schemas.microsoft.com/office/powerpoint/2010/main" val="163236256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Solstice</Template>
  <TotalTime>13</TotalTime>
  <Words>313</Words>
  <Application>Microsoft Office PowerPoint</Application>
  <PresentationFormat>On-screen Show (4:3)</PresentationFormat>
  <Paragraphs>10</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Gill Sans MT</vt:lpstr>
      <vt:lpstr>Verdana</vt:lpstr>
      <vt:lpstr>Wingdings 2</vt:lpstr>
      <vt:lpstr>Solstice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karenpc</dc:creator>
  <cp:lastModifiedBy>adnan tawfiq</cp:lastModifiedBy>
  <cp:revision>18</cp:revision>
  <dcterms:created xsi:type="dcterms:W3CDTF">2006-08-16T00:00:00Z</dcterms:created>
  <dcterms:modified xsi:type="dcterms:W3CDTF">2021-09-18T21:46:21Z</dcterms:modified>
</cp:coreProperties>
</file>