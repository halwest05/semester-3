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8" r:id="rId5"/>
    <p:sldId id="259" r:id="rId6"/>
    <p:sldId id="29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92" r:id="rId15"/>
    <p:sldId id="268" r:id="rId16"/>
    <p:sldId id="269" r:id="rId17"/>
    <p:sldId id="289" r:id="rId18"/>
    <p:sldId id="270" r:id="rId19"/>
    <p:sldId id="271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90" r:id="rId32"/>
    <p:sldId id="285" r:id="rId33"/>
    <p:sldId id="286" r:id="rId34"/>
    <p:sldId id="287" r:id="rId35"/>
    <p:sldId id="293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79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1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7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5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7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4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0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3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3CB8D-8318-4920-AF9E-02354654EF72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01149-726C-44A6-B6CA-3ECEB9FD8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3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Biomechanics Of Shoulder Joint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Dr. Zaid Jafar Al-</a:t>
            </a:r>
            <a:r>
              <a:rPr lang="en-US" sz="2200" dirty="0" err="1"/>
              <a:t>Bachachy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Orthopedic &amp; Trauma 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Surgeon 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1</a:t>
            </a:r>
            <a:r>
              <a:rPr lang="en-US" sz="2200" baseline="30000" dirty="0"/>
              <a:t>st</a:t>
            </a:r>
            <a:r>
              <a:rPr lang="en-US" sz="2200" dirty="0"/>
              <a:t> October 2023</a:t>
            </a:r>
          </a:p>
          <a:p>
            <a:pPr algn="l">
              <a:lnSpc>
                <a:spcPct val="90000"/>
              </a:lnSpc>
            </a:pPr>
            <a:endParaRPr lang="en-US" sz="2200" dirty="0"/>
          </a:p>
        </p:txBody>
      </p:sp>
      <p:pic>
        <p:nvPicPr>
          <p:cNvPr id="5" name="Picture 4" descr="A colorful lines in a white background&#10;&#10;Description automatically generated">
            <a:extLst>
              <a:ext uri="{FF2B5EF4-FFF2-40B4-BE49-F238E27FC236}">
                <a16:creationId xmlns:a16="http://schemas.microsoft.com/office/drawing/2014/main" id="{CFE1696D-ECAB-3196-59E8-BB9F87C91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20" r="35482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145769 w 3182692"/>
              <a:gd name="connsiteY2" fmla="*/ 0 h 18288"/>
              <a:gd name="connsiteX3" fmla="*/ 1845961 w 3182692"/>
              <a:gd name="connsiteY3" fmla="*/ 0 h 18288"/>
              <a:gd name="connsiteX4" fmla="*/ 2450673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68365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45195" y="-37571"/>
                  <a:pt x="472618" y="-13696"/>
                  <a:pt x="604711" y="0"/>
                </a:cubicBezTo>
                <a:cubicBezTo>
                  <a:pt x="706652" y="-3280"/>
                  <a:pt x="1039328" y="-8567"/>
                  <a:pt x="1241250" y="0"/>
                </a:cubicBezTo>
                <a:cubicBezTo>
                  <a:pt x="1405712" y="-7891"/>
                  <a:pt x="1711158" y="8053"/>
                  <a:pt x="1909615" y="0"/>
                </a:cubicBezTo>
                <a:cubicBezTo>
                  <a:pt x="2107436" y="-40150"/>
                  <a:pt x="2247192" y="19443"/>
                  <a:pt x="2577981" y="0"/>
                </a:cubicBezTo>
                <a:cubicBezTo>
                  <a:pt x="2894393" y="-5855"/>
                  <a:pt x="3041563" y="17846"/>
                  <a:pt x="3182692" y="0"/>
                </a:cubicBezTo>
                <a:cubicBezTo>
                  <a:pt x="3181973" y="8390"/>
                  <a:pt x="3182735" y="11854"/>
                  <a:pt x="3182692" y="18288"/>
                </a:cubicBezTo>
                <a:cubicBezTo>
                  <a:pt x="2975928" y="57450"/>
                  <a:pt x="2667693" y="19406"/>
                  <a:pt x="2482500" y="18288"/>
                </a:cubicBezTo>
                <a:cubicBezTo>
                  <a:pt x="2299734" y="36912"/>
                  <a:pt x="1925962" y="9303"/>
                  <a:pt x="1782308" y="18288"/>
                </a:cubicBezTo>
                <a:cubicBezTo>
                  <a:pt x="1635580" y="20546"/>
                  <a:pt x="1257854" y="-3663"/>
                  <a:pt x="1145769" y="18288"/>
                </a:cubicBezTo>
                <a:cubicBezTo>
                  <a:pt x="1025065" y="56574"/>
                  <a:pt x="247799" y="-11536"/>
                  <a:pt x="0" y="18288"/>
                </a:cubicBezTo>
                <a:cubicBezTo>
                  <a:pt x="-405" y="13204"/>
                  <a:pt x="-1092" y="531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8308" y="19724"/>
                  <a:pt x="431183" y="-26509"/>
                  <a:pt x="604711" y="0"/>
                </a:cubicBezTo>
                <a:cubicBezTo>
                  <a:pt x="795174" y="4405"/>
                  <a:pt x="950067" y="22541"/>
                  <a:pt x="1145769" y="0"/>
                </a:cubicBezTo>
                <a:cubicBezTo>
                  <a:pt x="1301850" y="7702"/>
                  <a:pt x="1499974" y="-70469"/>
                  <a:pt x="1845961" y="0"/>
                </a:cubicBezTo>
                <a:cubicBezTo>
                  <a:pt x="2191264" y="15313"/>
                  <a:pt x="2307232" y="-97"/>
                  <a:pt x="2450673" y="0"/>
                </a:cubicBezTo>
                <a:cubicBezTo>
                  <a:pt x="2596405" y="-19465"/>
                  <a:pt x="3033067" y="-31048"/>
                  <a:pt x="3182692" y="0"/>
                </a:cubicBezTo>
                <a:cubicBezTo>
                  <a:pt x="3182066" y="4696"/>
                  <a:pt x="3183370" y="10269"/>
                  <a:pt x="3182692" y="18288"/>
                </a:cubicBezTo>
                <a:cubicBezTo>
                  <a:pt x="3091120" y="-23022"/>
                  <a:pt x="2811074" y="61693"/>
                  <a:pt x="2546154" y="18288"/>
                </a:cubicBezTo>
                <a:cubicBezTo>
                  <a:pt x="2285186" y="27529"/>
                  <a:pt x="2090205" y="-22321"/>
                  <a:pt x="1845961" y="18288"/>
                </a:cubicBezTo>
                <a:cubicBezTo>
                  <a:pt x="1599794" y="31493"/>
                  <a:pt x="1466284" y="37447"/>
                  <a:pt x="1304904" y="18288"/>
                </a:cubicBezTo>
                <a:cubicBezTo>
                  <a:pt x="1189365" y="43775"/>
                  <a:pt x="952251" y="23461"/>
                  <a:pt x="668365" y="18288"/>
                </a:cubicBezTo>
                <a:cubicBezTo>
                  <a:pt x="407868" y="43595"/>
                  <a:pt x="284672" y="-9405"/>
                  <a:pt x="0" y="18288"/>
                </a:cubicBezTo>
                <a:cubicBezTo>
                  <a:pt x="527" y="9891"/>
                  <a:pt x="870" y="7012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108839" y="-32375"/>
                  <a:pt x="447732" y="16552"/>
                  <a:pt x="604711" y="0"/>
                </a:cubicBezTo>
                <a:cubicBezTo>
                  <a:pt x="781899" y="-548"/>
                  <a:pt x="1052060" y="7118"/>
                  <a:pt x="1241250" y="0"/>
                </a:cubicBezTo>
                <a:cubicBezTo>
                  <a:pt x="1399482" y="14083"/>
                  <a:pt x="1706293" y="54730"/>
                  <a:pt x="1909615" y="0"/>
                </a:cubicBezTo>
                <a:cubicBezTo>
                  <a:pt x="2085313" y="-24404"/>
                  <a:pt x="2264415" y="16988"/>
                  <a:pt x="2577981" y="0"/>
                </a:cubicBezTo>
                <a:cubicBezTo>
                  <a:pt x="2926098" y="-10318"/>
                  <a:pt x="3036314" y="-14769"/>
                  <a:pt x="3182692" y="0"/>
                </a:cubicBezTo>
                <a:cubicBezTo>
                  <a:pt x="3181841" y="8135"/>
                  <a:pt x="3181636" y="12730"/>
                  <a:pt x="3182692" y="18288"/>
                </a:cubicBezTo>
                <a:cubicBezTo>
                  <a:pt x="2996012" y="-1231"/>
                  <a:pt x="2669008" y="27395"/>
                  <a:pt x="2482500" y="18288"/>
                </a:cubicBezTo>
                <a:cubicBezTo>
                  <a:pt x="2296543" y="21246"/>
                  <a:pt x="1935236" y="7938"/>
                  <a:pt x="1782308" y="18288"/>
                </a:cubicBezTo>
                <a:cubicBezTo>
                  <a:pt x="1607683" y="25490"/>
                  <a:pt x="1291498" y="1369"/>
                  <a:pt x="1145769" y="18288"/>
                </a:cubicBezTo>
                <a:cubicBezTo>
                  <a:pt x="1015407" y="55325"/>
                  <a:pt x="262557" y="26571"/>
                  <a:pt x="0" y="18288"/>
                </a:cubicBezTo>
                <a:cubicBezTo>
                  <a:pt x="508" y="13336"/>
                  <a:pt x="437" y="727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04711 w 3182692"/>
                      <a:gd name="connsiteY1" fmla="*/ 0 h 18288"/>
                      <a:gd name="connsiteX2" fmla="*/ 1241250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577981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482500 w 3182692"/>
                      <a:gd name="connsiteY7" fmla="*/ 18288 h 18288"/>
                      <a:gd name="connsiteX8" fmla="*/ 1782308 w 3182692"/>
                      <a:gd name="connsiteY8" fmla="*/ 18288 h 18288"/>
                      <a:gd name="connsiteX9" fmla="*/ 1145769 w 3182692"/>
                      <a:gd name="connsiteY9" fmla="*/ 18288 h 18288"/>
                      <a:gd name="connsiteX10" fmla="*/ 0 w 3182692"/>
                      <a:gd name="connsiteY10" fmla="*/ 18288 h 18288"/>
                      <a:gd name="connsiteX11" fmla="*/ 0 w 3182692"/>
                      <a:gd name="connsiteY11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983" y="8157"/>
                          <a:pt x="3182279" y="12125"/>
                          <a:pt x="3182692" y="18288"/>
                        </a:cubicBezTo>
                        <a:cubicBezTo>
                          <a:pt x="2998421" y="21742"/>
                          <a:pt x="2675038" y="19014"/>
                          <a:pt x="2482500" y="18288"/>
                        </a:cubicBezTo>
                        <a:cubicBezTo>
                          <a:pt x="2289962" y="17562"/>
                          <a:pt x="1930644" y="6834"/>
                          <a:pt x="1782308" y="18288"/>
                        </a:cubicBezTo>
                        <a:cubicBezTo>
                          <a:pt x="1633972" y="29742"/>
                          <a:pt x="1287388" y="-1992"/>
                          <a:pt x="1145769" y="18288"/>
                        </a:cubicBezTo>
                        <a:cubicBezTo>
                          <a:pt x="1004150" y="38568"/>
                          <a:pt x="256377" y="-37438"/>
                          <a:pt x="0" y="18288"/>
                        </a:cubicBezTo>
                        <a:cubicBezTo>
                          <a:pt x="-46" y="12483"/>
                          <a:pt x="-203" y="6491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428" y="4493"/>
                          <a:pt x="3183076" y="9472"/>
                          <a:pt x="3182692" y="18288"/>
                        </a:cubicBezTo>
                        <a:cubicBezTo>
                          <a:pt x="3039109" y="-12701"/>
                          <a:pt x="2823860" y="13848"/>
                          <a:pt x="2546154" y="18288"/>
                        </a:cubicBezTo>
                        <a:cubicBezTo>
                          <a:pt x="2268448" y="22728"/>
                          <a:pt x="2098674" y="5291"/>
                          <a:pt x="1845961" y="18288"/>
                        </a:cubicBezTo>
                        <a:cubicBezTo>
                          <a:pt x="1593248" y="31285"/>
                          <a:pt x="1456743" y="27560"/>
                          <a:pt x="1304904" y="18288"/>
                        </a:cubicBezTo>
                        <a:cubicBezTo>
                          <a:pt x="1153065" y="9016"/>
                          <a:pt x="947204" y="11126"/>
                          <a:pt x="668365" y="18288"/>
                        </a:cubicBezTo>
                        <a:cubicBezTo>
                          <a:pt x="389526" y="25450"/>
                          <a:pt x="288244" y="-4628"/>
                          <a:pt x="0" y="18288"/>
                        </a:cubicBezTo>
                        <a:cubicBezTo>
                          <a:pt x="843" y="9577"/>
                          <a:pt x="371" y="69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4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SHOULDER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cs typeface="+mj-cs"/>
              </a:rPr>
              <a:t>The shoulder demonstrates the greatest range of motion of any joint in the body.</a:t>
            </a:r>
          </a:p>
          <a:p>
            <a:pPr algn="just"/>
            <a:r>
              <a:rPr lang="en-US" sz="1900" dirty="0">
                <a:cs typeface="+mj-cs"/>
              </a:rPr>
              <a:t>Complex biomechanical principles control its multiplanar range of movement.</a:t>
            </a:r>
          </a:p>
          <a:p>
            <a:pPr algn="just"/>
            <a:r>
              <a:rPr lang="en-US" sz="1900" dirty="0">
                <a:cs typeface="+mj-cs"/>
              </a:rPr>
              <a:t>The resultant high degree of freedom and lower level of constraint may lead to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an increase in the development of pathological conditions. </a:t>
            </a:r>
            <a:endParaRPr lang="ar-IQ" sz="1900" dirty="0">
              <a:cs typeface="+mj-cs"/>
            </a:endParaRPr>
          </a:p>
          <a:p>
            <a:pPr algn="just"/>
            <a:r>
              <a:rPr lang="en-US" sz="1900" dirty="0">
                <a:cs typeface="+mj-cs"/>
              </a:rPr>
              <a:t>A balance is required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between mobility and range of motion versus stability required to generate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power within the joint and stabilize the arm in space.</a:t>
            </a:r>
            <a:endParaRPr lang="ar-IQ" sz="1900" dirty="0">
              <a:cs typeface="+mj-cs"/>
            </a:endParaRPr>
          </a:p>
          <a:p>
            <a:pPr algn="just"/>
            <a:r>
              <a:rPr lang="en-US" sz="1900" dirty="0">
                <a:cs typeface="+mj-cs"/>
              </a:rPr>
              <a:t>Understanding the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biomechanics is essential in order to contend with the treatment of these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conditions and the challenge of design and development of joint replacement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prostheses</a:t>
            </a:r>
          </a:p>
        </p:txBody>
      </p:sp>
    </p:spTree>
    <p:extLst>
      <p:ext uri="{BB962C8B-B14F-4D97-AF65-F5344CB8AC3E}">
        <p14:creationId xmlns:p14="http://schemas.microsoft.com/office/powerpoint/2010/main" val="374561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Anatomy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>
                <a:cs typeface="+mj-cs"/>
              </a:rPr>
              <a:t>The shoulder is a complex of three articular joints and two physiological joints.</a:t>
            </a:r>
          </a:p>
          <a:p>
            <a:r>
              <a:rPr lang="en-US" sz="1900" dirty="0">
                <a:cs typeface="+mj-cs"/>
              </a:rPr>
              <a:t>The articular joints include the glenohumeral (GHJ), acromioclavicular and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sternoclavicular joints. </a:t>
            </a:r>
            <a:endParaRPr lang="ar-IQ" sz="1900" dirty="0">
              <a:cs typeface="+mj-cs"/>
            </a:endParaRPr>
          </a:p>
          <a:p>
            <a:r>
              <a:rPr lang="en-US" sz="1900" dirty="0">
                <a:cs typeface="+mj-cs"/>
              </a:rPr>
              <a:t>The physiological joints include the scapulothoracic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joint and subacromial joint (between the rotator cuff and inferior surface of the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acromion). </a:t>
            </a:r>
            <a:endParaRPr lang="ar-IQ" sz="1900" dirty="0">
              <a:cs typeface="+mj-cs"/>
            </a:endParaRPr>
          </a:p>
          <a:p>
            <a:r>
              <a:rPr lang="en-US" sz="1900" dirty="0">
                <a:cs typeface="+mj-cs"/>
              </a:rPr>
              <a:t>The individual osseous components have specific anatomical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configurations and soft-tissue attachments to optimize function.</a:t>
            </a:r>
          </a:p>
        </p:txBody>
      </p:sp>
    </p:spTree>
    <p:extLst>
      <p:ext uri="{BB962C8B-B14F-4D97-AF65-F5344CB8AC3E}">
        <p14:creationId xmlns:p14="http://schemas.microsoft.com/office/powerpoint/2010/main" val="124173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Glenoid and scapular orientation.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001000" cy="533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6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Humerus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  <a:gd name="connsiteX0" fmla="*/ 0 w 8140446"/>
              <a:gd name="connsiteY0" fmla="*/ 0 h 18288"/>
              <a:gd name="connsiteX1" fmla="*/ 596966 w 8140446"/>
              <a:gd name="connsiteY1" fmla="*/ 0 h 18288"/>
              <a:gd name="connsiteX2" fmla="*/ 1031123 w 8140446"/>
              <a:gd name="connsiteY2" fmla="*/ 0 h 18288"/>
              <a:gd name="connsiteX3" fmla="*/ 1872303 w 8140446"/>
              <a:gd name="connsiteY3" fmla="*/ 0 h 18288"/>
              <a:gd name="connsiteX4" fmla="*/ 2469269 w 8140446"/>
              <a:gd name="connsiteY4" fmla="*/ 0 h 18288"/>
              <a:gd name="connsiteX5" fmla="*/ 3066235 w 8140446"/>
              <a:gd name="connsiteY5" fmla="*/ 0 h 18288"/>
              <a:gd name="connsiteX6" fmla="*/ 3907414 w 8140446"/>
              <a:gd name="connsiteY6" fmla="*/ 0 h 18288"/>
              <a:gd name="connsiteX7" fmla="*/ 4422976 w 8140446"/>
              <a:gd name="connsiteY7" fmla="*/ 0 h 18288"/>
              <a:gd name="connsiteX8" fmla="*/ 5264155 w 8140446"/>
              <a:gd name="connsiteY8" fmla="*/ 0 h 18288"/>
              <a:gd name="connsiteX9" fmla="*/ 6105335 w 8140446"/>
              <a:gd name="connsiteY9" fmla="*/ 0 h 18288"/>
              <a:gd name="connsiteX10" fmla="*/ 6783705 w 8140446"/>
              <a:gd name="connsiteY10" fmla="*/ 0 h 18288"/>
              <a:gd name="connsiteX11" fmla="*/ 8140446 w 8140446"/>
              <a:gd name="connsiteY11" fmla="*/ 0 h 18288"/>
              <a:gd name="connsiteX12" fmla="*/ 8140446 w 8140446"/>
              <a:gd name="connsiteY12" fmla="*/ 18288 h 18288"/>
              <a:gd name="connsiteX13" fmla="*/ 7706289 w 8140446"/>
              <a:gd name="connsiteY13" fmla="*/ 18288 h 18288"/>
              <a:gd name="connsiteX14" fmla="*/ 6865109 w 8140446"/>
              <a:gd name="connsiteY14" fmla="*/ 18288 h 18288"/>
              <a:gd name="connsiteX15" fmla="*/ 6349548 w 8140446"/>
              <a:gd name="connsiteY15" fmla="*/ 18288 h 18288"/>
              <a:gd name="connsiteX16" fmla="*/ 5671177 w 8140446"/>
              <a:gd name="connsiteY16" fmla="*/ 18288 h 18288"/>
              <a:gd name="connsiteX17" fmla="*/ 4829998 w 8140446"/>
              <a:gd name="connsiteY17" fmla="*/ 18288 h 18288"/>
              <a:gd name="connsiteX18" fmla="*/ 4151627 w 8140446"/>
              <a:gd name="connsiteY18" fmla="*/ 18288 h 18288"/>
              <a:gd name="connsiteX19" fmla="*/ 3717470 w 8140446"/>
              <a:gd name="connsiteY19" fmla="*/ 18288 h 18288"/>
              <a:gd name="connsiteX20" fmla="*/ 3201909 w 8140446"/>
              <a:gd name="connsiteY20" fmla="*/ 18288 h 18288"/>
              <a:gd name="connsiteX21" fmla="*/ 2360729 w 8140446"/>
              <a:gd name="connsiteY21" fmla="*/ 18288 h 18288"/>
              <a:gd name="connsiteX22" fmla="*/ 1682359 w 8140446"/>
              <a:gd name="connsiteY22" fmla="*/ 18288 h 18288"/>
              <a:gd name="connsiteX23" fmla="*/ 1166797 w 8140446"/>
              <a:gd name="connsiteY23" fmla="*/ 18288 h 18288"/>
              <a:gd name="connsiteX24" fmla="*/ 0 w 8140446"/>
              <a:gd name="connsiteY24" fmla="*/ 18288 h 18288"/>
              <a:gd name="connsiteX25" fmla="*/ 0 w 8140446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87427" y="6231"/>
                  <a:pt x="309612" y="-26324"/>
                  <a:pt x="434157" y="0"/>
                </a:cubicBezTo>
                <a:cubicBezTo>
                  <a:pt x="536972" y="29330"/>
                  <a:pt x="959392" y="28619"/>
                  <a:pt x="1193932" y="0"/>
                </a:cubicBezTo>
                <a:cubicBezTo>
                  <a:pt x="1446097" y="13819"/>
                  <a:pt x="1471680" y="7203"/>
                  <a:pt x="1628089" y="0"/>
                </a:cubicBezTo>
                <a:cubicBezTo>
                  <a:pt x="1817415" y="4047"/>
                  <a:pt x="1949536" y="-59324"/>
                  <a:pt x="2225055" y="0"/>
                </a:cubicBezTo>
                <a:cubicBezTo>
                  <a:pt x="2520490" y="18365"/>
                  <a:pt x="2717469" y="18707"/>
                  <a:pt x="3066235" y="0"/>
                </a:cubicBezTo>
                <a:cubicBezTo>
                  <a:pt x="3437075" y="3751"/>
                  <a:pt x="3408347" y="31644"/>
                  <a:pt x="3744605" y="0"/>
                </a:cubicBezTo>
                <a:cubicBezTo>
                  <a:pt x="4097249" y="-11527"/>
                  <a:pt x="4249699" y="-32555"/>
                  <a:pt x="4504380" y="0"/>
                </a:cubicBezTo>
                <a:cubicBezTo>
                  <a:pt x="4737570" y="17980"/>
                  <a:pt x="4877497" y="1006"/>
                  <a:pt x="5101346" y="0"/>
                </a:cubicBezTo>
                <a:cubicBezTo>
                  <a:pt x="5359305" y="-15330"/>
                  <a:pt x="5447195" y="7257"/>
                  <a:pt x="5779717" y="0"/>
                </a:cubicBezTo>
                <a:cubicBezTo>
                  <a:pt x="6090019" y="-17621"/>
                  <a:pt x="6273151" y="4279"/>
                  <a:pt x="6620896" y="0"/>
                </a:cubicBezTo>
                <a:cubicBezTo>
                  <a:pt x="6968586" y="34056"/>
                  <a:pt x="6990073" y="23587"/>
                  <a:pt x="7136458" y="0"/>
                </a:cubicBezTo>
                <a:cubicBezTo>
                  <a:pt x="7320575" y="20480"/>
                  <a:pt x="7847401" y="-6173"/>
                  <a:pt x="8140446" y="0"/>
                </a:cubicBezTo>
                <a:cubicBezTo>
                  <a:pt x="8139878" y="7862"/>
                  <a:pt x="8140227" y="13269"/>
                  <a:pt x="8140446" y="18288"/>
                </a:cubicBezTo>
                <a:cubicBezTo>
                  <a:pt x="7908069" y="-20636"/>
                  <a:pt x="7683037" y="21977"/>
                  <a:pt x="7543480" y="18288"/>
                </a:cubicBezTo>
                <a:cubicBezTo>
                  <a:pt x="7393752" y="10050"/>
                  <a:pt x="7221032" y="-3229"/>
                  <a:pt x="7109323" y="18288"/>
                </a:cubicBezTo>
                <a:cubicBezTo>
                  <a:pt x="7015297" y="22483"/>
                  <a:pt x="6599332" y="40899"/>
                  <a:pt x="6430952" y="18288"/>
                </a:cubicBezTo>
                <a:cubicBezTo>
                  <a:pt x="6292915" y="-34150"/>
                  <a:pt x="6142305" y="21507"/>
                  <a:pt x="5915391" y="18288"/>
                </a:cubicBezTo>
                <a:cubicBezTo>
                  <a:pt x="5682725" y="47843"/>
                  <a:pt x="5440566" y="31420"/>
                  <a:pt x="5237020" y="18288"/>
                </a:cubicBezTo>
                <a:cubicBezTo>
                  <a:pt x="5046456" y="10577"/>
                  <a:pt x="4706449" y="51976"/>
                  <a:pt x="4558650" y="18288"/>
                </a:cubicBezTo>
                <a:cubicBezTo>
                  <a:pt x="4361396" y="-987"/>
                  <a:pt x="4145362" y="-22303"/>
                  <a:pt x="3880279" y="18288"/>
                </a:cubicBezTo>
                <a:cubicBezTo>
                  <a:pt x="3610716" y="25411"/>
                  <a:pt x="3472690" y="4008"/>
                  <a:pt x="3201909" y="18288"/>
                </a:cubicBezTo>
                <a:cubicBezTo>
                  <a:pt x="2913595" y="35097"/>
                  <a:pt x="2753317" y="-1149"/>
                  <a:pt x="2604943" y="18288"/>
                </a:cubicBezTo>
                <a:cubicBezTo>
                  <a:pt x="2450130" y="36989"/>
                  <a:pt x="1974183" y="40159"/>
                  <a:pt x="1845168" y="18288"/>
                </a:cubicBezTo>
                <a:cubicBezTo>
                  <a:pt x="1677929" y="220"/>
                  <a:pt x="1378098" y="-772"/>
                  <a:pt x="1166797" y="18288"/>
                </a:cubicBezTo>
                <a:cubicBezTo>
                  <a:pt x="921150" y="53277"/>
                  <a:pt x="327457" y="47297"/>
                  <a:pt x="0" y="18288"/>
                </a:cubicBezTo>
                <a:cubicBezTo>
                  <a:pt x="-589" y="13471"/>
                  <a:pt x="-474" y="7409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36968" y="-25482"/>
                  <a:pt x="379786" y="11224"/>
                  <a:pt x="596966" y="0"/>
                </a:cubicBezTo>
                <a:cubicBezTo>
                  <a:pt x="815878" y="-21223"/>
                  <a:pt x="832062" y="11868"/>
                  <a:pt x="1031123" y="0"/>
                </a:cubicBezTo>
                <a:cubicBezTo>
                  <a:pt x="1256800" y="-30738"/>
                  <a:pt x="1658090" y="-20345"/>
                  <a:pt x="1872303" y="0"/>
                </a:cubicBezTo>
                <a:cubicBezTo>
                  <a:pt x="2115604" y="28431"/>
                  <a:pt x="2277865" y="-40642"/>
                  <a:pt x="2469269" y="0"/>
                </a:cubicBezTo>
                <a:cubicBezTo>
                  <a:pt x="2679731" y="25919"/>
                  <a:pt x="2788602" y="-6498"/>
                  <a:pt x="3066235" y="0"/>
                </a:cubicBezTo>
                <a:cubicBezTo>
                  <a:pt x="3325663" y="-14487"/>
                  <a:pt x="3706561" y="67517"/>
                  <a:pt x="3907414" y="0"/>
                </a:cubicBezTo>
                <a:cubicBezTo>
                  <a:pt x="4127229" y="-37113"/>
                  <a:pt x="4179037" y="-8167"/>
                  <a:pt x="4422976" y="0"/>
                </a:cubicBezTo>
                <a:cubicBezTo>
                  <a:pt x="4683575" y="-28486"/>
                  <a:pt x="5055803" y="-13799"/>
                  <a:pt x="5264155" y="0"/>
                </a:cubicBezTo>
                <a:cubicBezTo>
                  <a:pt x="5513566" y="14315"/>
                  <a:pt x="5735215" y="2768"/>
                  <a:pt x="6105335" y="0"/>
                </a:cubicBezTo>
                <a:cubicBezTo>
                  <a:pt x="6510913" y="-12587"/>
                  <a:pt x="6456171" y="3247"/>
                  <a:pt x="6783705" y="0"/>
                </a:cubicBezTo>
                <a:cubicBezTo>
                  <a:pt x="7057099" y="-15461"/>
                  <a:pt x="7592067" y="5384"/>
                  <a:pt x="8140446" y="0"/>
                </a:cubicBezTo>
                <a:cubicBezTo>
                  <a:pt x="8140452" y="8597"/>
                  <a:pt x="8141122" y="9732"/>
                  <a:pt x="8140446" y="18288"/>
                </a:cubicBezTo>
                <a:cubicBezTo>
                  <a:pt x="7961834" y="8406"/>
                  <a:pt x="7874097" y="10350"/>
                  <a:pt x="7706289" y="18288"/>
                </a:cubicBezTo>
                <a:cubicBezTo>
                  <a:pt x="7582508" y="-14920"/>
                  <a:pt x="7179551" y="-33111"/>
                  <a:pt x="6865109" y="18288"/>
                </a:cubicBezTo>
                <a:cubicBezTo>
                  <a:pt x="6583382" y="24117"/>
                  <a:pt x="6525821" y="36696"/>
                  <a:pt x="6349548" y="18288"/>
                </a:cubicBezTo>
                <a:cubicBezTo>
                  <a:pt x="6209953" y="10881"/>
                  <a:pt x="5959707" y="-47828"/>
                  <a:pt x="5671177" y="18288"/>
                </a:cubicBezTo>
                <a:cubicBezTo>
                  <a:pt x="5387744" y="29809"/>
                  <a:pt x="5228514" y="101507"/>
                  <a:pt x="4829998" y="18288"/>
                </a:cubicBezTo>
                <a:cubicBezTo>
                  <a:pt x="4415646" y="-28596"/>
                  <a:pt x="4343809" y="28954"/>
                  <a:pt x="4151627" y="18288"/>
                </a:cubicBezTo>
                <a:cubicBezTo>
                  <a:pt x="3950673" y="-9796"/>
                  <a:pt x="3879947" y="41143"/>
                  <a:pt x="3717470" y="18288"/>
                </a:cubicBezTo>
                <a:cubicBezTo>
                  <a:pt x="3558660" y="10110"/>
                  <a:pt x="3468854" y="29375"/>
                  <a:pt x="3201909" y="18288"/>
                </a:cubicBezTo>
                <a:cubicBezTo>
                  <a:pt x="2965673" y="10505"/>
                  <a:pt x="2568327" y="22116"/>
                  <a:pt x="2360729" y="18288"/>
                </a:cubicBezTo>
                <a:cubicBezTo>
                  <a:pt x="2171885" y="49144"/>
                  <a:pt x="1923258" y="16020"/>
                  <a:pt x="1682359" y="18288"/>
                </a:cubicBezTo>
                <a:cubicBezTo>
                  <a:pt x="1430698" y="-2378"/>
                  <a:pt x="1324229" y="-1751"/>
                  <a:pt x="1166797" y="18288"/>
                </a:cubicBezTo>
                <a:cubicBezTo>
                  <a:pt x="1001390" y="41795"/>
                  <a:pt x="324313" y="57964"/>
                  <a:pt x="0" y="18288"/>
                </a:cubicBezTo>
                <a:cubicBezTo>
                  <a:pt x="285" y="13135"/>
                  <a:pt x="532" y="5956"/>
                  <a:pt x="0" y="0"/>
                </a:cubicBezTo>
                <a:close/>
              </a:path>
              <a:path w="8140446" h="18288" fill="none" stroke="0" extrusionOk="0">
                <a:moveTo>
                  <a:pt x="0" y="0"/>
                </a:moveTo>
                <a:cubicBezTo>
                  <a:pt x="69532" y="-6557"/>
                  <a:pt x="264219" y="3919"/>
                  <a:pt x="434157" y="0"/>
                </a:cubicBezTo>
                <a:cubicBezTo>
                  <a:pt x="600013" y="9090"/>
                  <a:pt x="921449" y="-13478"/>
                  <a:pt x="1193932" y="0"/>
                </a:cubicBezTo>
                <a:cubicBezTo>
                  <a:pt x="1443592" y="14844"/>
                  <a:pt x="1471188" y="10722"/>
                  <a:pt x="1628089" y="0"/>
                </a:cubicBezTo>
                <a:cubicBezTo>
                  <a:pt x="1750006" y="-24149"/>
                  <a:pt x="1967480" y="-14904"/>
                  <a:pt x="2225055" y="0"/>
                </a:cubicBezTo>
                <a:cubicBezTo>
                  <a:pt x="2503918" y="19247"/>
                  <a:pt x="2709263" y="-16351"/>
                  <a:pt x="3066235" y="0"/>
                </a:cubicBezTo>
                <a:cubicBezTo>
                  <a:pt x="3429723" y="-1627"/>
                  <a:pt x="3399401" y="30976"/>
                  <a:pt x="3744605" y="0"/>
                </a:cubicBezTo>
                <a:cubicBezTo>
                  <a:pt x="4081920" y="-40602"/>
                  <a:pt x="4258272" y="-2441"/>
                  <a:pt x="4504380" y="0"/>
                </a:cubicBezTo>
                <a:cubicBezTo>
                  <a:pt x="4760039" y="21121"/>
                  <a:pt x="4866555" y="-1351"/>
                  <a:pt x="5101346" y="0"/>
                </a:cubicBezTo>
                <a:cubicBezTo>
                  <a:pt x="5336279" y="1859"/>
                  <a:pt x="5465100" y="30801"/>
                  <a:pt x="5779717" y="0"/>
                </a:cubicBezTo>
                <a:cubicBezTo>
                  <a:pt x="6117018" y="-2879"/>
                  <a:pt x="6273497" y="-5002"/>
                  <a:pt x="6620896" y="0"/>
                </a:cubicBezTo>
                <a:cubicBezTo>
                  <a:pt x="6972306" y="38666"/>
                  <a:pt x="6992056" y="28334"/>
                  <a:pt x="7136458" y="0"/>
                </a:cubicBezTo>
                <a:cubicBezTo>
                  <a:pt x="7325567" y="-61201"/>
                  <a:pt x="7766555" y="-88399"/>
                  <a:pt x="8140446" y="0"/>
                </a:cubicBezTo>
                <a:cubicBezTo>
                  <a:pt x="8140031" y="7748"/>
                  <a:pt x="8139515" y="13015"/>
                  <a:pt x="8140446" y="18288"/>
                </a:cubicBezTo>
                <a:cubicBezTo>
                  <a:pt x="7892673" y="-4012"/>
                  <a:pt x="7668025" y="650"/>
                  <a:pt x="7543480" y="18288"/>
                </a:cubicBezTo>
                <a:cubicBezTo>
                  <a:pt x="7406710" y="-3467"/>
                  <a:pt x="7207646" y="8893"/>
                  <a:pt x="7109323" y="18288"/>
                </a:cubicBezTo>
                <a:cubicBezTo>
                  <a:pt x="6993037" y="49011"/>
                  <a:pt x="6598723" y="59405"/>
                  <a:pt x="6430952" y="18288"/>
                </a:cubicBezTo>
                <a:cubicBezTo>
                  <a:pt x="6284771" y="15315"/>
                  <a:pt x="6162730" y="20350"/>
                  <a:pt x="5915391" y="18288"/>
                </a:cubicBezTo>
                <a:cubicBezTo>
                  <a:pt x="5684668" y="13603"/>
                  <a:pt x="5422852" y="53618"/>
                  <a:pt x="5237020" y="18288"/>
                </a:cubicBezTo>
                <a:cubicBezTo>
                  <a:pt x="5035482" y="26296"/>
                  <a:pt x="4719808" y="55145"/>
                  <a:pt x="4558650" y="18288"/>
                </a:cubicBezTo>
                <a:cubicBezTo>
                  <a:pt x="4375169" y="-35587"/>
                  <a:pt x="4137553" y="12086"/>
                  <a:pt x="3880279" y="18288"/>
                </a:cubicBezTo>
                <a:cubicBezTo>
                  <a:pt x="3624533" y="32648"/>
                  <a:pt x="3467387" y="6480"/>
                  <a:pt x="3201909" y="18288"/>
                </a:cubicBezTo>
                <a:cubicBezTo>
                  <a:pt x="2918126" y="73342"/>
                  <a:pt x="2717830" y="-17156"/>
                  <a:pt x="2604943" y="18288"/>
                </a:cubicBezTo>
                <a:cubicBezTo>
                  <a:pt x="2496133" y="44525"/>
                  <a:pt x="2003915" y="18254"/>
                  <a:pt x="1845168" y="18288"/>
                </a:cubicBezTo>
                <a:cubicBezTo>
                  <a:pt x="1694518" y="14989"/>
                  <a:pt x="1344959" y="44188"/>
                  <a:pt x="1166797" y="18288"/>
                </a:cubicBezTo>
                <a:cubicBezTo>
                  <a:pt x="935925" y="69451"/>
                  <a:pt x="319712" y="-63972"/>
                  <a:pt x="0" y="18288"/>
                </a:cubicBezTo>
                <a:cubicBezTo>
                  <a:pt x="1307" y="12414"/>
                  <a:pt x="-32" y="574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140446"/>
                      <a:gd name="connsiteY0" fmla="*/ 0 h 18288"/>
                      <a:gd name="connsiteX1" fmla="*/ 434157 w 8140446"/>
                      <a:gd name="connsiteY1" fmla="*/ 0 h 18288"/>
                      <a:gd name="connsiteX2" fmla="*/ 1193932 w 8140446"/>
                      <a:gd name="connsiteY2" fmla="*/ 0 h 18288"/>
                      <a:gd name="connsiteX3" fmla="*/ 1628089 w 8140446"/>
                      <a:gd name="connsiteY3" fmla="*/ 0 h 18288"/>
                      <a:gd name="connsiteX4" fmla="*/ 2225055 w 8140446"/>
                      <a:gd name="connsiteY4" fmla="*/ 0 h 18288"/>
                      <a:gd name="connsiteX5" fmla="*/ 3066235 w 8140446"/>
                      <a:gd name="connsiteY5" fmla="*/ 0 h 18288"/>
                      <a:gd name="connsiteX6" fmla="*/ 3744605 w 8140446"/>
                      <a:gd name="connsiteY6" fmla="*/ 0 h 18288"/>
                      <a:gd name="connsiteX7" fmla="*/ 4504380 w 8140446"/>
                      <a:gd name="connsiteY7" fmla="*/ 0 h 18288"/>
                      <a:gd name="connsiteX8" fmla="*/ 5101346 w 8140446"/>
                      <a:gd name="connsiteY8" fmla="*/ 0 h 18288"/>
                      <a:gd name="connsiteX9" fmla="*/ 5779717 w 8140446"/>
                      <a:gd name="connsiteY9" fmla="*/ 0 h 18288"/>
                      <a:gd name="connsiteX10" fmla="*/ 6620896 w 8140446"/>
                      <a:gd name="connsiteY10" fmla="*/ 0 h 18288"/>
                      <a:gd name="connsiteX11" fmla="*/ 7136458 w 8140446"/>
                      <a:gd name="connsiteY11" fmla="*/ 0 h 18288"/>
                      <a:gd name="connsiteX12" fmla="*/ 8140446 w 8140446"/>
                      <a:gd name="connsiteY12" fmla="*/ 0 h 18288"/>
                      <a:gd name="connsiteX13" fmla="*/ 8140446 w 8140446"/>
                      <a:gd name="connsiteY13" fmla="*/ 18288 h 18288"/>
                      <a:gd name="connsiteX14" fmla="*/ 7543480 w 8140446"/>
                      <a:gd name="connsiteY14" fmla="*/ 18288 h 18288"/>
                      <a:gd name="connsiteX15" fmla="*/ 7109323 w 8140446"/>
                      <a:gd name="connsiteY15" fmla="*/ 18288 h 18288"/>
                      <a:gd name="connsiteX16" fmla="*/ 6430952 w 8140446"/>
                      <a:gd name="connsiteY16" fmla="*/ 18288 h 18288"/>
                      <a:gd name="connsiteX17" fmla="*/ 5915391 w 8140446"/>
                      <a:gd name="connsiteY17" fmla="*/ 18288 h 18288"/>
                      <a:gd name="connsiteX18" fmla="*/ 5237020 w 8140446"/>
                      <a:gd name="connsiteY18" fmla="*/ 18288 h 18288"/>
                      <a:gd name="connsiteX19" fmla="*/ 4558650 w 8140446"/>
                      <a:gd name="connsiteY19" fmla="*/ 18288 h 18288"/>
                      <a:gd name="connsiteX20" fmla="*/ 3880279 w 8140446"/>
                      <a:gd name="connsiteY20" fmla="*/ 18288 h 18288"/>
                      <a:gd name="connsiteX21" fmla="*/ 3201909 w 8140446"/>
                      <a:gd name="connsiteY21" fmla="*/ 18288 h 18288"/>
                      <a:gd name="connsiteX22" fmla="*/ 2604943 w 8140446"/>
                      <a:gd name="connsiteY22" fmla="*/ 18288 h 18288"/>
                      <a:gd name="connsiteX23" fmla="*/ 1845168 w 8140446"/>
                      <a:gd name="connsiteY23" fmla="*/ 18288 h 18288"/>
                      <a:gd name="connsiteX24" fmla="*/ 1166797 w 8140446"/>
                      <a:gd name="connsiteY24" fmla="*/ 18288 h 18288"/>
                      <a:gd name="connsiteX25" fmla="*/ 0 w 8140446"/>
                      <a:gd name="connsiteY25" fmla="*/ 18288 h 18288"/>
                      <a:gd name="connsiteX26" fmla="*/ 0 w 8140446"/>
                      <a:gd name="connsiteY2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8140446" h="18288" fill="none" extrusionOk="0">
                        <a:moveTo>
                          <a:pt x="0" y="0"/>
                        </a:moveTo>
                        <a:cubicBezTo>
                          <a:pt x="94920" y="9103"/>
                          <a:pt x="287892" y="-4966"/>
                          <a:pt x="434157" y="0"/>
                        </a:cubicBezTo>
                        <a:cubicBezTo>
                          <a:pt x="580422" y="4966"/>
                          <a:pt x="943595" y="-14182"/>
                          <a:pt x="1193932" y="0"/>
                        </a:cubicBezTo>
                        <a:cubicBezTo>
                          <a:pt x="1444270" y="14182"/>
                          <a:pt x="1472129" y="5523"/>
                          <a:pt x="1628089" y="0"/>
                        </a:cubicBezTo>
                        <a:cubicBezTo>
                          <a:pt x="1784049" y="-5523"/>
                          <a:pt x="1962419" y="-17322"/>
                          <a:pt x="2225055" y="0"/>
                        </a:cubicBezTo>
                        <a:cubicBezTo>
                          <a:pt x="2487691" y="17322"/>
                          <a:pt x="2700681" y="1311"/>
                          <a:pt x="3066235" y="0"/>
                        </a:cubicBezTo>
                        <a:cubicBezTo>
                          <a:pt x="3431789" y="-1311"/>
                          <a:pt x="3405662" y="25081"/>
                          <a:pt x="3744605" y="0"/>
                        </a:cubicBezTo>
                        <a:cubicBezTo>
                          <a:pt x="4083548" y="-25081"/>
                          <a:pt x="4265111" y="-11945"/>
                          <a:pt x="4504380" y="0"/>
                        </a:cubicBezTo>
                        <a:cubicBezTo>
                          <a:pt x="4743649" y="11945"/>
                          <a:pt x="4860394" y="-2832"/>
                          <a:pt x="5101346" y="0"/>
                        </a:cubicBezTo>
                        <a:cubicBezTo>
                          <a:pt x="5342298" y="2832"/>
                          <a:pt x="5456387" y="23676"/>
                          <a:pt x="5779717" y="0"/>
                        </a:cubicBezTo>
                        <a:cubicBezTo>
                          <a:pt x="6103047" y="-23676"/>
                          <a:pt x="6270379" y="-37291"/>
                          <a:pt x="6620896" y="0"/>
                        </a:cubicBezTo>
                        <a:cubicBezTo>
                          <a:pt x="6971413" y="37291"/>
                          <a:pt x="6989068" y="24674"/>
                          <a:pt x="7136458" y="0"/>
                        </a:cubicBezTo>
                        <a:cubicBezTo>
                          <a:pt x="7283848" y="-24674"/>
                          <a:pt x="7752532" y="-22436"/>
                          <a:pt x="8140446" y="0"/>
                        </a:cubicBezTo>
                        <a:cubicBezTo>
                          <a:pt x="8140314" y="7702"/>
                          <a:pt x="8140234" y="13511"/>
                          <a:pt x="8140446" y="18288"/>
                        </a:cubicBezTo>
                        <a:cubicBezTo>
                          <a:pt x="7906329" y="-3043"/>
                          <a:pt x="7681180" y="27465"/>
                          <a:pt x="7543480" y="18288"/>
                        </a:cubicBezTo>
                        <a:cubicBezTo>
                          <a:pt x="7405780" y="9111"/>
                          <a:pt x="7216607" y="3660"/>
                          <a:pt x="7109323" y="18288"/>
                        </a:cubicBezTo>
                        <a:cubicBezTo>
                          <a:pt x="7002039" y="32916"/>
                          <a:pt x="6576231" y="42692"/>
                          <a:pt x="6430952" y="18288"/>
                        </a:cubicBezTo>
                        <a:cubicBezTo>
                          <a:pt x="6285673" y="-6116"/>
                          <a:pt x="6138840" y="34521"/>
                          <a:pt x="5915391" y="18288"/>
                        </a:cubicBezTo>
                        <a:cubicBezTo>
                          <a:pt x="5691942" y="2055"/>
                          <a:pt x="5459460" y="51666"/>
                          <a:pt x="5237020" y="18288"/>
                        </a:cubicBezTo>
                        <a:cubicBezTo>
                          <a:pt x="5014580" y="-15090"/>
                          <a:pt x="4747677" y="40449"/>
                          <a:pt x="4558650" y="18288"/>
                        </a:cubicBezTo>
                        <a:cubicBezTo>
                          <a:pt x="4369623" y="-3873"/>
                          <a:pt x="4146061" y="12568"/>
                          <a:pt x="3880279" y="18288"/>
                        </a:cubicBezTo>
                        <a:cubicBezTo>
                          <a:pt x="3614497" y="24008"/>
                          <a:pt x="3473808" y="-12908"/>
                          <a:pt x="3201909" y="18288"/>
                        </a:cubicBezTo>
                        <a:cubicBezTo>
                          <a:pt x="2930010" y="49484"/>
                          <a:pt x="2728175" y="-3430"/>
                          <a:pt x="2604943" y="18288"/>
                        </a:cubicBezTo>
                        <a:cubicBezTo>
                          <a:pt x="2481711" y="40006"/>
                          <a:pt x="2004334" y="26952"/>
                          <a:pt x="1845168" y="18288"/>
                        </a:cubicBezTo>
                        <a:cubicBezTo>
                          <a:pt x="1686003" y="9624"/>
                          <a:pt x="1375070" y="37580"/>
                          <a:pt x="1166797" y="18288"/>
                        </a:cubicBezTo>
                        <a:cubicBezTo>
                          <a:pt x="958524" y="-1004"/>
                          <a:pt x="342846" y="8880"/>
                          <a:pt x="0" y="18288"/>
                        </a:cubicBezTo>
                        <a:cubicBezTo>
                          <a:pt x="129" y="13298"/>
                          <a:pt x="-675" y="6857"/>
                          <a:pt x="0" y="0"/>
                        </a:cubicBezTo>
                        <a:close/>
                      </a:path>
                      <a:path w="8140446" h="18288" stroke="0" extrusionOk="0">
                        <a:moveTo>
                          <a:pt x="0" y="0"/>
                        </a:moveTo>
                        <a:cubicBezTo>
                          <a:pt x="142435" y="-24533"/>
                          <a:pt x="380026" y="17447"/>
                          <a:pt x="596966" y="0"/>
                        </a:cubicBezTo>
                        <a:cubicBezTo>
                          <a:pt x="813906" y="-17447"/>
                          <a:pt x="830530" y="13462"/>
                          <a:pt x="1031123" y="0"/>
                        </a:cubicBezTo>
                        <a:cubicBezTo>
                          <a:pt x="1231716" y="-13462"/>
                          <a:pt x="1634038" y="0"/>
                          <a:pt x="1872303" y="0"/>
                        </a:cubicBezTo>
                        <a:cubicBezTo>
                          <a:pt x="2110568" y="0"/>
                          <a:pt x="2261934" y="-25727"/>
                          <a:pt x="2469269" y="0"/>
                        </a:cubicBezTo>
                        <a:cubicBezTo>
                          <a:pt x="2676604" y="25727"/>
                          <a:pt x="2790440" y="16284"/>
                          <a:pt x="3066235" y="0"/>
                        </a:cubicBezTo>
                        <a:cubicBezTo>
                          <a:pt x="3342030" y="-16284"/>
                          <a:pt x="3685603" y="41976"/>
                          <a:pt x="3907414" y="0"/>
                        </a:cubicBezTo>
                        <a:cubicBezTo>
                          <a:pt x="4129225" y="-41976"/>
                          <a:pt x="4177416" y="-7598"/>
                          <a:pt x="4422976" y="0"/>
                        </a:cubicBezTo>
                        <a:cubicBezTo>
                          <a:pt x="4668536" y="7598"/>
                          <a:pt x="5023499" y="-28058"/>
                          <a:pt x="5264155" y="0"/>
                        </a:cubicBezTo>
                        <a:cubicBezTo>
                          <a:pt x="5504811" y="28058"/>
                          <a:pt x="5703675" y="13288"/>
                          <a:pt x="6105335" y="0"/>
                        </a:cubicBezTo>
                        <a:cubicBezTo>
                          <a:pt x="6506995" y="-13288"/>
                          <a:pt x="6455516" y="-5124"/>
                          <a:pt x="6783705" y="0"/>
                        </a:cubicBezTo>
                        <a:cubicBezTo>
                          <a:pt x="7111894" y="5124"/>
                          <a:pt x="7512856" y="10604"/>
                          <a:pt x="8140446" y="0"/>
                        </a:cubicBezTo>
                        <a:cubicBezTo>
                          <a:pt x="8140458" y="8833"/>
                          <a:pt x="8140986" y="9830"/>
                          <a:pt x="8140446" y="18288"/>
                        </a:cubicBezTo>
                        <a:cubicBezTo>
                          <a:pt x="7959314" y="3345"/>
                          <a:pt x="7870113" y="10437"/>
                          <a:pt x="7706289" y="18288"/>
                        </a:cubicBezTo>
                        <a:cubicBezTo>
                          <a:pt x="7542465" y="26139"/>
                          <a:pt x="7157940" y="17482"/>
                          <a:pt x="6865109" y="18288"/>
                        </a:cubicBezTo>
                        <a:cubicBezTo>
                          <a:pt x="6572278" y="19094"/>
                          <a:pt x="6524256" y="38051"/>
                          <a:pt x="6349548" y="18288"/>
                        </a:cubicBezTo>
                        <a:cubicBezTo>
                          <a:pt x="6174840" y="-1475"/>
                          <a:pt x="5951624" y="174"/>
                          <a:pt x="5671177" y="18288"/>
                        </a:cubicBezTo>
                        <a:cubicBezTo>
                          <a:pt x="5390730" y="36402"/>
                          <a:pt x="5222992" y="60058"/>
                          <a:pt x="4829998" y="18288"/>
                        </a:cubicBezTo>
                        <a:cubicBezTo>
                          <a:pt x="4437004" y="-23482"/>
                          <a:pt x="4344181" y="39087"/>
                          <a:pt x="4151627" y="18288"/>
                        </a:cubicBezTo>
                        <a:cubicBezTo>
                          <a:pt x="3959073" y="-2511"/>
                          <a:pt x="3886970" y="32875"/>
                          <a:pt x="3717470" y="18288"/>
                        </a:cubicBezTo>
                        <a:cubicBezTo>
                          <a:pt x="3547970" y="3701"/>
                          <a:pt x="3451521" y="31872"/>
                          <a:pt x="3201909" y="18288"/>
                        </a:cubicBezTo>
                        <a:cubicBezTo>
                          <a:pt x="2952297" y="4704"/>
                          <a:pt x="2543413" y="6029"/>
                          <a:pt x="2360729" y="18288"/>
                        </a:cubicBezTo>
                        <a:cubicBezTo>
                          <a:pt x="2178045" y="30547"/>
                          <a:pt x="1906056" y="25847"/>
                          <a:pt x="1682359" y="18288"/>
                        </a:cubicBezTo>
                        <a:cubicBezTo>
                          <a:pt x="1458662" y="10730"/>
                          <a:pt x="1330405" y="8046"/>
                          <a:pt x="1166797" y="18288"/>
                        </a:cubicBezTo>
                        <a:cubicBezTo>
                          <a:pt x="1003189" y="28530"/>
                          <a:pt x="278098" y="19533"/>
                          <a:pt x="0" y="18288"/>
                        </a:cubicBezTo>
                        <a:cubicBezTo>
                          <a:pt x="74" y="14054"/>
                          <a:pt x="-46" y="69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>
                <a:cs typeface="+mj-cs"/>
              </a:rPr>
              <a:t>The humerus is composed of the head, neck (surgical and anatomical) and the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shaft. </a:t>
            </a:r>
            <a:endParaRPr lang="ar-IQ" sz="1900" dirty="0">
              <a:cs typeface="+mj-cs"/>
            </a:endParaRPr>
          </a:p>
          <a:p>
            <a:r>
              <a:rPr lang="en-US" sz="1900" dirty="0">
                <a:cs typeface="+mj-cs"/>
              </a:rPr>
              <a:t>The head is superiorly inclined and eccentrically placed in relation to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the shaft, with a neck–shaft angle of around 130–140° and positioned 9 mm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posterior to the central shaft axis, respectively. </a:t>
            </a:r>
            <a:endParaRPr lang="ar-IQ" sz="1900" dirty="0">
              <a:cs typeface="+mj-cs"/>
            </a:endParaRPr>
          </a:p>
          <a:p>
            <a:r>
              <a:rPr lang="en-US" sz="1900" dirty="0">
                <a:cs typeface="+mj-cs"/>
              </a:rPr>
              <a:t>It is retroverted by around 30° in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relation to the trans-epicondylar axis. </a:t>
            </a:r>
            <a:endParaRPr lang="ar-IQ" sz="1900" dirty="0">
              <a:cs typeface="+mj-cs"/>
            </a:endParaRPr>
          </a:p>
          <a:p>
            <a:r>
              <a:rPr lang="en-US" sz="1900" dirty="0">
                <a:cs typeface="+mj-cs"/>
              </a:rPr>
              <a:t>The angle of inclination, posterior offset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and version must be replicated during prosthetic replacement to achieve optimal</a:t>
            </a:r>
            <a:r>
              <a:rPr lang="ar-IQ" sz="1900" dirty="0">
                <a:cs typeface="+mj-cs"/>
              </a:rPr>
              <a:t> </a:t>
            </a:r>
            <a:r>
              <a:rPr lang="en-US" sz="1900" dirty="0">
                <a:cs typeface="+mj-cs"/>
              </a:rPr>
              <a:t>biomechanics and limit early failure.</a:t>
            </a:r>
          </a:p>
        </p:txBody>
      </p:sp>
    </p:spTree>
    <p:extLst>
      <p:ext uri="{BB962C8B-B14F-4D97-AF65-F5344CB8AC3E}">
        <p14:creationId xmlns:p14="http://schemas.microsoft.com/office/powerpoint/2010/main" val="185255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198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Scapula and </a:t>
            </a:r>
            <a:r>
              <a:rPr lang="en-US" dirty="0" err="1"/>
              <a:t>glenoid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>
                <a:cs typeface="+mj-cs"/>
              </a:rPr>
              <a:t>The scapula is anteverted </a:t>
            </a:r>
            <a:r>
              <a:rPr lang="en-US" sz="1800" b="1" dirty="0">
                <a:cs typeface="+mj-cs"/>
              </a:rPr>
              <a:t>30–40° </a:t>
            </a:r>
            <a:r>
              <a:rPr lang="en-US" sz="1800" dirty="0">
                <a:cs typeface="+mj-cs"/>
              </a:rPr>
              <a:t>in relation to the coronal plane. </a:t>
            </a:r>
            <a:endParaRPr lang="ar-IQ" sz="1800" dirty="0">
              <a:cs typeface="+mj-cs"/>
            </a:endParaRPr>
          </a:p>
          <a:p>
            <a:pPr algn="just"/>
            <a:r>
              <a:rPr lang="en-US" sz="1800" dirty="0">
                <a:cs typeface="+mj-cs"/>
              </a:rPr>
              <a:t>The glenoid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is around </a:t>
            </a:r>
            <a:r>
              <a:rPr lang="en-US" sz="1800" b="1" dirty="0">
                <a:cs typeface="+mj-cs"/>
              </a:rPr>
              <a:t>7° </a:t>
            </a:r>
            <a:r>
              <a:rPr lang="en-US" sz="1800" dirty="0">
                <a:cs typeface="+mj-cs"/>
              </a:rPr>
              <a:t>retroverted from the plane perpendicular to the scapular plane and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demonstrates around </a:t>
            </a:r>
            <a:r>
              <a:rPr lang="en-US" sz="1800" b="1" dirty="0">
                <a:cs typeface="+mj-cs"/>
              </a:rPr>
              <a:t>3–5° </a:t>
            </a:r>
            <a:r>
              <a:rPr lang="en-US" sz="1800" dirty="0">
                <a:cs typeface="+mj-cs"/>
              </a:rPr>
              <a:t>of superior tilt in relation to the vertical plane. </a:t>
            </a:r>
            <a:endParaRPr lang="ar-IQ" sz="1800" dirty="0">
              <a:cs typeface="+mj-cs"/>
            </a:endParaRPr>
          </a:p>
          <a:p>
            <a:pPr algn="just"/>
            <a:r>
              <a:rPr lang="en-US" sz="1800" dirty="0">
                <a:cs typeface="+mj-cs"/>
              </a:rPr>
              <a:t>The surface area of the glenoid is only approximately one-third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that of the humeral head. </a:t>
            </a:r>
            <a:endParaRPr lang="ar-IQ" sz="1800" dirty="0">
              <a:cs typeface="+mj-cs"/>
            </a:endParaRPr>
          </a:p>
          <a:p>
            <a:pPr algn="just"/>
            <a:r>
              <a:rPr lang="en-US" sz="1800" dirty="0">
                <a:cs typeface="+mj-cs"/>
              </a:rPr>
              <a:t>Joint congruency and thus stability is increased by the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distribution of cartilage of the glenoid fossa and the presence of the glenoid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labrum.</a:t>
            </a:r>
          </a:p>
        </p:txBody>
      </p:sp>
    </p:spTree>
    <p:extLst>
      <p:ext uri="{BB962C8B-B14F-4D97-AF65-F5344CB8AC3E}">
        <p14:creationId xmlns:p14="http://schemas.microsoft.com/office/powerpoint/2010/main" val="3684888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radiologic figure of a skeleton">
            <a:extLst>
              <a:ext uri="{FF2B5EF4-FFF2-40B4-BE49-F238E27FC236}">
                <a16:creationId xmlns:a16="http://schemas.microsoft.com/office/drawing/2014/main" id="{1962F3C1-A0C6-0D8A-29EA-FE24AA3E2E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885" r="-1" b="-1"/>
          <a:stretch/>
        </p:blipFill>
        <p:spPr>
          <a:xfrm>
            <a:off x="5562600" y="10"/>
            <a:ext cx="358139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Clavicle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362200"/>
            <a:ext cx="5486398" cy="4167287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The clavicle functions as a strut suspending the GHJ, maintaining the lateral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position of the shoulder, and providing important muscular attachments.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During shoulder movements, the clavicle </a:t>
            </a:r>
            <a:r>
              <a:rPr lang="en-US" sz="1800" dirty="0" err="1">
                <a:cs typeface="+mj-cs"/>
              </a:rPr>
              <a:t>circumducts</a:t>
            </a:r>
            <a:r>
              <a:rPr lang="en-US" sz="1800" dirty="0">
                <a:cs typeface="+mj-cs"/>
              </a:rPr>
              <a:t> around the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sternoclavicular joint medially and laterally, and the articulation with the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acromion is maintained by the coracoclavicular and acromioclavicular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ligaments. </a:t>
            </a:r>
            <a:endParaRPr lang="ar-IQ" sz="1800" dirty="0">
              <a:cs typeface="+mj-cs"/>
            </a:endParaRP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Disruption of these structures leads to destabilization of the scapula,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protraction of the shoulder, and scapulothoracic dyskinesia.</a:t>
            </a:r>
          </a:p>
        </p:txBody>
      </p:sp>
    </p:spTree>
    <p:extLst>
      <p:ext uri="{BB962C8B-B14F-4D97-AF65-F5344CB8AC3E}">
        <p14:creationId xmlns:p14="http://schemas.microsoft.com/office/powerpoint/2010/main" val="303103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r>
              <a:rPr lang="en-US" sz="3200" i="1" dirty="0">
                <a:solidFill>
                  <a:srgbClr val="FFFFFF"/>
                </a:solidFill>
                <a:latin typeface="Algerian" panose="04020705040A02060702" pitchFamily="82" charset="0"/>
              </a:rPr>
              <a:t>Joint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1700" dirty="0">
                <a:cs typeface="+mj-cs"/>
              </a:rPr>
              <a:t>Normal shoulder function is reliant on coordinated glenohumeral and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scapulothoracic movement. </a:t>
            </a:r>
            <a:endParaRPr lang="ar-IQ" sz="1700" dirty="0">
              <a:cs typeface="+mj-cs"/>
            </a:endParaRPr>
          </a:p>
          <a:p>
            <a:pPr algn="just"/>
            <a:r>
              <a:rPr lang="en-US" sz="1700" dirty="0">
                <a:cs typeface="+mj-cs"/>
              </a:rPr>
              <a:t>Failure of normal movement of either joint and/or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 err="1">
                <a:cs typeface="+mj-cs"/>
              </a:rPr>
              <a:t>malcoordination</a:t>
            </a:r>
            <a:r>
              <a:rPr lang="en-US" sz="1700" dirty="0">
                <a:cs typeface="+mj-cs"/>
              </a:rPr>
              <a:t> leads to abnormal kinetics and a potential increase in the risk of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pathology, such as impingement or instability.</a:t>
            </a:r>
          </a:p>
          <a:p>
            <a:pPr algn="just"/>
            <a:r>
              <a:rPr lang="en-US" sz="1700" dirty="0">
                <a:cs typeface="+mj-cs"/>
              </a:rPr>
              <a:t>A range of muscles are involved in movements on the shoulder and their action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is dependent upon the position of the arm in space at the point of movement.</a:t>
            </a:r>
          </a:p>
          <a:p>
            <a:pPr algn="just"/>
            <a:r>
              <a:rPr lang="en-US" sz="1700" dirty="0">
                <a:cs typeface="+mj-cs"/>
              </a:rPr>
              <a:t> Muscle-controlling movements can be classified into glenohumeral,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scapulothoracic, and </a:t>
            </a:r>
            <a:r>
              <a:rPr lang="en-US" sz="1700" dirty="0" err="1">
                <a:cs typeface="+mj-cs"/>
              </a:rPr>
              <a:t>thoracohumeral</a:t>
            </a:r>
            <a:r>
              <a:rPr lang="en-US" sz="1700" dirty="0"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470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1" y="586855"/>
            <a:ext cx="2913984" cy="3387497"/>
          </a:xfrm>
        </p:spPr>
        <p:txBody>
          <a:bodyPr anchor="b">
            <a:normAutofit/>
          </a:bodyPr>
          <a:lstStyle/>
          <a:p>
            <a:r>
              <a:rPr lang="en-US" sz="2800" i="1" dirty="0">
                <a:solidFill>
                  <a:srgbClr val="FFFFFF"/>
                </a:solidFill>
                <a:latin typeface="Algerian" panose="04020705040A02060702" pitchFamily="82" charset="0"/>
              </a:rPr>
              <a:t>Glenohumeral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>
                <a:cs typeface="+mj-cs"/>
              </a:rPr>
              <a:t>The rotator cuff muscles force the humeral head firmly into the glenoid fossa and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minimize humeral head translation. </a:t>
            </a:r>
            <a:endParaRPr lang="ar-IQ" sz="1700" dirty="0">
              <a:cs typeface="+mj-cs"/>
            </a:endParaRPr>
          </a:p>
          <a:p>
            <a:r>
              <a:rPr lang="en-US" sz="1700" dirty="0">
                <a:cs typeface="+mj-cs"/>
              </a:rPr>
              <a:t>A cuff deficient shoulder has a significant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impact on the glenohumeral articulation. </a:t>
            </a:r>
            <a:endParaRPr lang="ar-IQ" sz="1700" dirty="0">
              <a:cs typeface="+mj-cs"/>
            </a:endParaRPr>
          </a:p>
          <a:p>
            <a:r>
              <a:rPr lang="en-US" sz="1700" dirty="0">
                <a:cs typeface="+mj-cs"/>
              </a:rPr>
              <a:t>Forward elevation in the scapular plane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involves combined activity of deltoid and supraspinatus creating a vertical shear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force, which in the presence of cuff deficiency leads to superior migration of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the humeral head.</a:t>
            </a:r>
          </a:p>
        </p:txBody>
      </p:sp>
    </p:spTree>
    <p:extLst>
      <p:ext uri="{BB962C8B-B14F-4D97-AF65-F5344CB8AC3E}">
        <p14:creationId xmlns:p14="http://schemas.microsoft.com/office/powerpoint/2010/main" val="234616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>
                <a:cs typeface="+mj-cs"/>
              </a:rPr>
              <a:t>Deltoid and supraspinatus are also active during shoulder abduction.</a:t>
            </a:r>
          </a:p>
          <a:p>
            <a:r>
              <a:rPr lang="en-US" sz="1700" b="1" i="1" dirty="0">
                <a:cs typeface="+mj-cs"/>
              </a:rPr>
              <a:t>Supraspinatus</a:t>
            </a:r>
            <a:r>
              <a:rPr lang="en-US" sz="1700" dirty="0">
                <a:cs typeface="+mj-cs"/>
              </a:rPr>
              <a:t> plays a more dominant role in the initiation of abduction whilst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deltoid activity increases with elevation of the arm. </a:t>
            </a:r>
            <a:endParaRPr lang="ar-IQ" sz="1700" dirty="0">
              <a:cs typeface="+mj-cs"/>
            </a:endParaRPr>
          </a:p>
          <a:p>
            <a:r>
              <a:rPr lang="en-US" sz="1700" dirty="0">
                <a:cs typeface="+mj-cs"/>
              </a:rPr>
              <a:t>The vectors of both muscles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equalize at around 90° of abduction. </a:t>
            </a:r>
          </a:p>
          <a:p>
            <a:r>
              <a:rPr lang="en-US" sz="1700" dirty="0">
                <a:cs typeface="+mj-cs"/>
              </a:rPr>
              <a:t>Thus, patients with a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supraspinatus tear may experience pain and weakness around 30° of elevation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compared with 90°, where there is greater power, compensation, and recruitment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of the deltoid.</a:t>
            </a:r>
          </a:p>
        </p:txBody>
      </p:sp>
    </p:spTree>
    <p:extLst>
      <p:ext uri="{BB962C8B-B14F-4D97-AF65-F5344CB8AC3E}">
        <p14:creationId xmlns:p14="http://schemas.microsoft.com/office/powerpoint/2010/main" val="353436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Muscles controlling shoulder movement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246323"/>
            <a:ext cx="8495662" cy="38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29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Scapulothoracic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6295" y="649480"/>
            <a:ext cx="5479105" cy="5546047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Scapular rotation on the thorax confers important roles: </a:t>
            </a:r>
            <a:r>
              <a:rPr lang="ar-IQ" sz="1800" dirty="0">
                <a:cs typeface="+mj-cs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the glenoid functions as a stable base during arm elevation;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 </a:t>
            </a:r>
            <a:endParaRPr lang="ar-IQ" sz="1800" dirty="0">
              <a:cs typeface="+mj-cs"/>
            </a:endParaRP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it minimizes the risk of mechanical impingement of the rotator cuff; 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it preserves the deltoid muscle </a:t>
            </a:r>
            <a:r>
              <a:rPr lang="en-US" sz="1800" dirty="0" err="1">
                <a:cs typeface="+mj-cs"/>
              </a:rPr>
              <a:t>fibre</a:t>
            </a:r>
            <a:r>
              <a:rPr lang="en-US" sz="1800" dirty="0">
                <a:cs typeface="+mj-cs"/>
              </a:rPr>
              <a:t> length;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it limits the degree of humeral head translation;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it maximizes the range of shoulder movement and enables concavity compression of the humeral head into the glenoid throughout the range,  allowing optimal transfer of net joint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reaction forces through the glenoid fossa.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The humeral head rolls and translates</a:t>
            </a:r>
            <a:r>
              <a:rPr lang="ar-IQ" sz="1800" dirty="0">
                <a:cs typeface="+mj-cs"/>
              </a:rPr>
              <a:t> </a:t>
            </a:r>
            <a:r>
              <a:rPr lang="en-US" sz="1800" dirty="0">
                <a:cs typeface="+mj-cs"/>
              </a:rPr>
              <a:t>during shoulder movements, up to 11 mm inferiorly during high elevation. Thus, a fixed, rigid glenoid would fail to prevent increasing translation and minimize the range of motion.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+mj-cs"/>
              </a:rPr>
              <a:t>Moreover, a </a:t>
            </a:r>
            <a:r>
              <a:rPr lang="en-US" sz="1800" dirty="0" err="1">
                <a:cs typeface="+mj-cs"/>
              </a:rPr>
              <a:t>malpositioned</a:t>
            </a:r>
            <a:r>
              <a:rPr lang="en-US" sz="1800" dirty="0">
                <a:cs typeface="+mj-cs"/>
              </a:rPr>
              <a:t> glenoid may cause instability and impingement.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694F13B3-5720-6BF1-B28A-AEFA6BC74A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60" r="28238" b="-1"/>
          <a:stretch/>
        </p:blipFill>
        <p:spPr>
          <a:xfrm>
            <a:off x="9067800" y="10"/>
            <a:ext cx="762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28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1700" dirty="0">
                <a:cs typeface="+mj-cs"/>
              </a:rPr>
              <a:t>Scapulothoracic dynamics are important factors in assessing a painful shoulder and it is important to define the relationship between glenohumeral and scapulothoracic movements, and identify any scapulothoracic dyskinesia.</a:t>
            </a:r>
          </a:p>
          <a:p>
            <a:pPr algn="just"/>
            <a:r>
              <a:rPr lang="en-US" sz="1700" dirty="0">
                <a:cs typeface="+mj-cs"/>
              </a:rPr>
              <a:t> The coordination of glenohumeral and scapulothoracic movements are variable and dependent on the degree of arm elevation. </a:t>
            </a:r>
            <a:endParaRPr lang="ar-IQ" sz="1700" dirty="0">
              <a:cs typeface="+mj-cs"/>
            </a:endParaRPr>
          </a:p>
          <a:p>
            <a:pPr algn="just"/>
            <a:r>
              <a:rPr lang="en-US" sz="1700" dirty="0">
                <a:cs typeface="+mj-cs"/>
              </a:rPr>
              <a:t>Zero to 30° of abduction and 60° of forward flexion primarily involves glenohumeral movement. Beyond 30° the</a:t>
            </a:r>
            <a:r>
              <a:rPr lang="ar-IQ" sz="1700" dirty="0">
                <a:cs typeface="+mj-cs"/>
              </a:rPr>
              <a:t> </a:t>
            </a:r>
            <a:r>
              <a:rPr lang="en-US" sz="1700" dirty="0">
                <a:cs typeface="+mj-cs"/>
              </a:rPr>
              <a:t>ratio of scapulothoracic to glenohumeral movement is 2:1 and beyond 120° the ratio is around 1:1.</a:t>
            </a:r>
          </a:p>
          <a:p>
            <a:pPr algn="just"/>
            <a:endParaRPr lang="en-US" sz="17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768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816201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a) Muscle forces across the glenohumeral joint at initiation of abduction; </a:t>
            </a:r>
            <a:br>
              <a:rPr lang="en-US" sz="1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b) muscle forces in 90 degrees of abduction; c) muscle forces in presence of weak/deficient cuff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467339"/>
            <a:ext cx="8495662" cy="345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33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Glenohumeral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GHJ is reliant on the synchronous function of both static and dynamic</a:t>
            </a:r>
            <a:r>
              <a:rPr lang="ar-IQ" sz="1700"/>
              <a:t> </a:t>
            </a:r>
            <a:r>
              <a:rPr lang="en-US" sz="1700"/>
              <a:t>stabilizing factors.</a:t>
            </a:r>
            <a:endParaRPr lang="ar-IQ" sz="1700"/>
          </a:p>
          <a:p>
            <a:r>
              <a:rPr lang="en-US" sz="1700"/>
              <a:t>A combination of structural and functional features provides</a:t>
            </a:r>
            <a:r>
              <a:rPr lang="ar-IQ" sz="1700"/>
              <a:t> </a:t>
            </a:r>
            <a:r>
              <a:rPr lang="en-US" sz="1700"/>
              <a:t>joint stability at various stages throughout the range of motion (Table).</a:t>
            </a:r>
          </a:p>
        </p:txBody>
      </p:sp>
    </p:spTree>
    <p:extLst>
      <p:ext uri="{BB962C8B-B14F-4D97-AF65-F5344CB8AC3E}">
        <p14:creationId xmlns:p14="http://schemas.microsoft.com/office/powerpoint/2010/main" val="909487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Static and dynamic factors affecting glenohumeral joint stability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9958" y="1966293"/>
            <a:ext cx="7564082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5084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Static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318197"/>
            <a:ext cx="8305800" cy="36833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i="1" dirty="0"/>
              <a:t>The humeral head and glenoid version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Reduced retroversion and abnormal offset of the humeral head and</a:t>
            </a:r>
            <a:r>
              <a:rPr lang="ar-IQ" sz="1700" dirty="0"/>
              <a:t> </a:t>
            </a:r>
            <a:r>
              <a:rPr lang="en-US" sz="1700" dirty="0"/>
              <a:t>excessive retroversion of the glenoid may have a significant impact on the</a:t>
            </a:r>
            <a:r>
              <a:rPr lang="ar-IQ" sz="1700" dirty="0"/>
              <a:t> </a:t>
            </a:r>
            <a:r>
              <a:rPr lang="en-US" sz="1700" dirty="0"/>
              <a:t>stability of the shoulder and should be factored into surgical treatment for</a:t>
            </a:r>
            <a:r>
              <a:rPr lang="ar-IQ" sz="1700" dirty="0"/>
              <a:t> </a:t>
            </a:r>
            <a:r>
              <a:rPr lang="en-US" sz="1700" dirty="0"/>
              <a:t>instability. </a:t>
            </a:r>
            <a:endParaRPr lang="ar-IQ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Less than 30° of humeral head retroversion may lead to anterior</a:t>
            </a:r>
            <a:r>
              <a:rPr lang="ar-IQ" sz="1700" dirty="0"/>
              <a:t> </a:t>
            </a:r>
            <a:r>
              <a:rPr lang="en-US" sz="1700" dirty="0"/>
              <a:t>instability and be an indication for a humeral shaft rotation osteotomy.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Glenoid version plays an important role in the osseous stability of the shoulder.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Normal scapular anteversion in relation to the coronal plane counters</a:t>
            </a:r>
            <a:r>
              <a:rPr lang="ar-IQ" sz="1700" dirty="0"/>
              <a:t> </a:t>
            </a:r>
            <a:r>
              <a:rPr lang="en-US" sz="1700" dirty="0"/>
              <a:t>retroversion of the glenoid and prevents posterior instability. </a:t>
            </a:r>
            <a:endParaRPr lang="ar-IQ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Cases involving</a:t>
            </a:r>
            <a:r>
              <a:rPr lang="ar-IQ" sz="1700" dirty="0"/>
              <a:t> </a:t>
            </a:r>
            <a:r>
              <a:rPr lang="en-US" sz="1700" dirty="0"/>
              <a:t>glenoid dysplasia may be associated with posterior instability. </a:t>
            </a:r>
            <a:endParaRPr lang="ar-IQ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Excessive</a:t>
            </a:r>
            <a:r>
              <a:rPr lang="ar-IQ" sz="1700" dirty="0"/>
              <a:t> </a:t>
            </a:r>
            <a:r>
              <a:rPr lang="en-US" sz="1700" dirty="0"/>
              <a:t>retroversion of the glenoid may be an indication of a scapular neck osteotomy.</a:t>
            </a:r>
          </a:p>
        </p:txBody>
      </p:sp>
    </p:spTree>
    <p:extLst>
      <p:ext uri="{BB962C8B-B14F-4D97-AF65-F5344CB8AC3E}">
        <p14:creationId xmlns:p14="http://schemas.microsoft.com/office/powerpoint/2010/main" val="3508536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i="1"/>
              <a:t>Glenoid arc</a:t>
            </a:r>
          </a:p>
          <a:p>
            <a:r>
              <a:rPr lang="en-US" sz="1700"/>
              <a:t>The articulating area of the glenoid and humeral head is essential for maintaining</a:t>
            </a:r>
            <a:r>
              <a:rPr lang="ar-IQ" sz="1700"/>
              <a:t> </a:t>
            </a:r>
            <a:r>
              <a:rPr lang="en-US" sz="1700"/>
              <a:t>osseous stability. </a:t>
            </a:r>
            <a:endParaRPr lang="ar-IQ" sz="1700"/>
          </a:p>
          <a:p>
            <a:r>
              <a:rPr lang="en-US" sz="1700"/>
              <a:t>The effective glenoid arc is defined as the area of the glenoid</a:t>
            </a:r>
            <a:r>
              <a:rPr lang="ar-IQ" sz="1700"/>
              <a:t> </a:t>
            </a:r>
            <a:r>
              <a:rPr lang="en-US" sz="1700"/>
              <a:t>articular surface available for humeral head compression. </a:t>
            </a:r>
            <a:endParaRPr lang="ar-IQ" sz="1700"/>
          </a:p>
          <a:p>
            <a:r>
              <a:rPr lang="en-US" sz="1700"/>
              <a:t>The balance stability</a:t>
            </a:r>
            <a:r>
              <a:rPr lang="ar-IQ" sz="1700"/>
              <a:t> </a:t>
            </a:r>
            <a:r>
              <a:rPr lang="en-US" sz="1700"/>
              <a:t>angle is defined as the angle between the centre of the glenoid and the limit of</a:t>
            </a:r>
            <a:r>
              <a:rPr lang="ar-IQ" sz="1700"/>
              <a:t> </a:t>
            </a:r>
            <a:r>
              <a:rPr lang="en-US" sz="1700"/>
              <a:t>the effective glenoid arc in any direction. </a:t>
            </a:r>
            <a:endParaRPr lang="ar-IQ" sz="1700"/>
          </a:p>
          <a:p>
            <a:r>
              <a:rPr lang="en-US" sz="1700"/>
              <a:t>Bony loss of the glenoid may reduce</a:t>
            </a:r>
            <a:r>
              <a:rPr lang="ar-IQ" sz="1700"/>
              <a:t> </a:t>
            </a:r>
            <a:r>
              <a:rPr lang="en-US" sz="1700"/>
              <a:t>the glenoid arc and balance stability angle, leading to instability</a:t>
            </a:r>
          </a:p>
        </p:txBody>
      </p:sp>
    </p:spTree>
    <p:extLst>
      <p:ext uri="{BB962C8B-B14F-4D97-AF65-F5344CB8AC3E}">
        <p14:creationId xmlns:p14="http://schemas.microsoft.com/office/powerpoint/2010/main" val="3171804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This limits translation of the GHJ. The weakest parts of the capsule</a:t>
            </a:r>
            <a:r>
              <a:rPr lang="ar-IQ" sz="1700"/>
              <a:t> </a:t>
            </a:r>
            <a:r>
              <a:rPr lang="en-US" sz="1700"/>
              <a:t>and labral complex are anteroinferior and</a:t>
            </a:r>
            <a:r>
              <a:rPr lang="ar-IQ" sz="1700"/>
              <a:t> </a:t>
            </a:r>
            <a:r>
              <a:rPr lang="en-US" sz="1700"/>
              <a:t>posterosuperior, which are the</a:t>
            </a:r>
            <a:r>
              <a:rPr lang="ar-IQ" sz="1700"/>
              <a:t> </a:t>
            </a:r>
            <a:r>
              <a:rPr lang="en-US" sz="1700"/>
              <a:t>classic zones of injury in Bankart lesions and superior labrum anterior and</a:t>
            </a:r>
            <a:r>
              <a:rPr lang="ar-IQ" sz="1700"/>
              <a:t> </a:t>
            </a:r>
            <a:r>
              <a:rPr lang="en-US" sz="1700"/>
              <a:t>posterior (SLAP) tears,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777770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Glenohumeral ligament and capsule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13" y="1891970"/>
            <a:ext cx="8418488" cy="4671492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The glenohumeral capsuloligamentous complex is composed of the</a:t>
            </a:r>
            <a:r>
              <a:rPr lang="ar-IQ" sz="1800" dirty="0"/>
              <a:t> </a:t>
            </a:r>
            <a:r>
              <a:rPr lang="en-US" sz="1800" dirty="0"/>
              <a:t>glenohumeral ligaments (superior, middle, and inferior) blended into the joint</a:t>
            </a:r>
            <a:r>
              <a:rPr lang="ar-IQ" sz="1800" dirty="0"/>
              <a:t> </a:t>
            </a:r>
            <a:r>
              <a:rPr lang="en-US" sz="1800" dirty="0"/>
              <a:t>capsule. </a:t>
            </a:r>
            <a:endParaRPr lang="ar-IQ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These ligaments become taut at varying degrees of humeral head</a:t>
            </a:r>
            <a:r>
              <a:rPr lang="ar-IQ" sz="1800" dirty="0"/>
              <a:t> </a:t>
            </a:r>
            <a:r>
              <a:rPr lang="en-US" sz="1800" dirty="0"/>
              <a:t>rotation and elevation.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</a:t>
            </a:r>
            <a:r>
              <a:rPr lang="en-US" sz="1800" b="1" i="1" dirty="0">
                <a:solidFill>
                  <a:srgbClr val="C00000"/>
                </a:solidFill>
              </a:rPr>
              <a:t>inferior glenohumeral ligament (IGHL) </a:t>
            </a:r>
            <a:r>
              <a:rPr lang="en-US" sz="1800" dirty="0"/>
              <a:t>is the primary stabilizer of the</a:t>
            </a:r>
            <a:r>
              <a:rPr lang="ar-IQ" sz="1800" dirty="0"/>
              <a:t> </a:t>
            </a:r>
            <a:r>
              <a:rPr lang="en-US" sz="1800" dirty="0"/>
              <a:t>abducted GHJ and the most frequently injured portion of the capsule resulting in</a:t>
            </a:r>
            <a:r>
              <a:rPr lang="ar-IQ" sz="1800" dirty="0"/>
              <a:t> </a:t>
            </a:r>
            <a:r>
              <a:rPr lang="en-US" sz="1800" dirty="0"/>
              <a:t>instability.</a:t>
            </a:r>
            <a:endParaRPr lang="ar-IQ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The IGHL originates either directly from the labrum (85%) or the</a:t>
            </a:r>
            <a:r>
              <a:rPr lang="ar-IQ" sz="1800" dirty="0"/>
              <a:t> </a:t>
            </a:r>
            <a:r>
              <a:rPr lang="en-US" sz="1800" dirty="0"/>
              <a:t>glenoid rim (15%) and inserts just inferior to the greater and lesser tuberosities.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It is composed of anterior and posterior bands with a zone in</a:t>
            </a:r>
            <a:r>
              <a:rPr lang="ar-IQ" sz="1800" dirty="0"/>
              <a:t> </a:t>
            </a:r>
            <a:r>
              <a:rPr lang="en-US" sz="1800" dirty="0"/>
              <a:t>between, formed by</a:t>
            </a:r>
            <a:r>
              <a:rPr lang="ar-IQ" sz="1800" dirty="0"/>
              <a:t> </a:t>
            </a:r>
            <a:r>
              <a:rPr lang="en-US" sz="1800" dirty="0"/>
              <a:t>a portion of a ligament known as the axillary pouch, which extends from the</a:t>
            </a:r>
            <a:r>
              <a:rPr lang="ar-IQ" sz="1800" dirty="0"/>
              <a:t> </a:t>
            </a:r>
            <a:r>
              <a:rPr lang="en-US" sz="1800" dirty="0"/>
              <a:t>inferior two-thirds of the glenoid rim to the inferior one-third of the humeral</a:t>
            </a:r>
            <a:r>
              <a:rPr lang="ar-IQ" sz="1800" dirty="0"/>
              <a:t> </a:t>
            </a:r>
            <a:r>
              <a:rPr lang="en-US" sz="1800" dirty="0"/>
              <a:t>head, supporting the humeral head like a hammock. </a:t>
            </a:r>
            <a:endParaRPr lang="ar-IQ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The </a:t>
            </a:r>
            <a:r>
              <a:rPr lang="en-US" sz="1800" b="1" i="1" dirty="0">
                <a:solidFill>
                  <a:srgbClr val="002060"/>
                </a:solidFill>
              </a:rPr>
              <a:t>anterior band </a:t>
            </a:r>
            <a:r>
              <a:rPr lang="en-US" sz="1800" dirty="0"/>
              <a:t>tightens at</a:t>
            </a:r>
            <a:r>
              <a:rPr lang="ar-IQ" sz="1800" dirty="0"/>
              <a:t> </a:t>
            </a:r>
            <a:r>
              <a:rPr lang="en-US" sz="1800" dirty="0"/>
              <a:t>90° abduction and external rotation, spanning the mid-zone of the GHJ and</a:t>
            </a:r>
            <a:r>
              <a:rPr lang="ar-IQ" sz="1800" dirty="0"/>
              <a:t> </a:t>
            </a:r>
            <a:r>
              <a:rPr lang="en-US" sz="1800" dirty="0"/>
              <a:t>preventing anterior and inferior translation of the humeral head. </a:t>
            </a:r>
            <a:endParaRPr lang="ar-IQ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The </a:t>
            </a:r>
            <a:r>
              <a:rPr lang="en-US" sz="1800" b="1" i="1" dirty="0">
                <a:solidFill>
                  <a:srgbClr val="002060"/>
                </a:solidFill>
              </a:rPr>
              <a:t>posterior</a:t>
            </a:r>
            <a:r>
              <a:rPr lang="ar-IQ" sz="1800" b="1" i="1" dirty="0">
                <a:solidFill>
                  <a:srgbClr val="002060"/>
                </a:solidFill>
              </a:rPr>
              <a:t> </a:t>
            </a:r>
            <a:r>
              <a:rPr lang="en-US" sz="1800" b="1" i="1" dirty="0">
                <a:solidFill>
                  <a:srgbClr val="002060"/>
                </a:solidFill>
              </a:rPr>
              <a:t>band </a:t>
            </a:r>
            <a:r>
              <a:rPr lang="en-US" sz="1800" dirty="0"/>
              <a:t>tightens and increases flexibility in flexion and internal rotation. </a:t>
            </a:r>
            <a:endParaRPr lang="ar-IQ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Insertion</a:t>
            </a:r>
            <a:r>
              <a:rPr lang="ar-IQ" sz="1800" dirty="0"/>
              <a:t> </a:t>
            </a:r>
            <a:r>
              <a:rPr lang="en-US" sz="1800" dirty="0"/>
              <a:t>and orientation of the IGHL is more consistent when compared with the other</a:t>
            </a:r>
            <a:r>
              <a:rPr lang="ar-IQ" sz="1800" dirty="0"/>
              <a:t> </a:t>
            </a:r>
            <a:r>
              <a:rPr lang="en-US" sz="1800" dirty="0"/>
              <a:t>glenohumeral ligaments.</a:t>
            </a:r>
          </a:p>
        </p:txBody>
      </p:sp>
    </p:spTree>
    <p:extLst>
      <p:ext uri="{BB962C8B-B14F-4D97-AF65-F5344CB8AC3E}">
        <p14:creationId xmlns:p14="http://schemas.microsoft.com/office/powerpoint/2010/main" val="3931522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12" y="2133600"/>
            <a:ext cx="8570887" cy="42929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</a:rPr>
              <a:t>The middle glenohumeral ligament (MGHL)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originates from the supraglenoid</a:t>
            </a:r>
            <a:r>
              <a:rPr lang="ar-IQ" sz="1600" dirty="0"/>
              <a:t> </a:t>
            </a:r>
            <a:r>
              <a:rPr lang="en-US" sz="1600" dirty="0"/>
              <a:t>tubercle and the anterosuperior labrum between the 1 o’clock and 3 o’clock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positions, and blends in with subscapularis as it inserts into the lesser tuberosity.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The MGHL provides anterior stability between 0 and 90° of abduction. </a:t>
            </a:r>
            <a:endParaRPr lang="ar-IQ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Maximal</a:t>
            </a:r>
            <a:r>
              <a:rPr lang="ar-IQ" sz="1600" dirty="0"/>
              <a:t> </a:t>
            </a:r>
            <a:r>
              <a:rPr lang="en-US" sz="1600" dirty="0"/>
              <a:t>restraint to anterior displacement is provided by the MGHL between 45 and 60°</a:t>
            </a:r>
            <a:r>
              <a:rPr lang="ar-IQ" sz="1600" dirty="0"/>
              <a:t> </a:t>
            </a:r>
            <a:r>
              <a:rPr lang="en-US" sz="1600" dirty="0"/>
              <a:t>of abduction and the IGHL beyond 60°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.</a:t>
            </a:r>
            <a:endParaRPr lang="en-US" sz="1600" b="1" i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</a:rPr>
              <a:t>The superior glenohumeral ligament (SGHL)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originates from the supraglenoid</a:t>
            </a:r>
            <a:r>
              <a:rPr lang="ar-IQ" sz="1600" dirty="0"/>
              <a:t> </a:t>
            </a:r>
            <a:r>
              <a:rPr lang="en-US" sz="1600" dirty="0"/>
              <a:t>tubercle just anterior to the long head of the biceps that it covers, and inserts into the</a:t>
            </a:r>
            <a:r>
              <a:rPr lang="ar-IQ" sz="1600" dirty="0"/>
              <a:t> </a:t>
            </a:r>
            <a:r>
              <a:rPr lang="en-US" sz="1600" dirty="0"/>
              <a:t>humerus near the lesser tuberosity. </a:t>
            </a:r>
            <a:endParaRPr lang="ar-IQ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The rotator interval is formed by the SGHL</a:t>
            </a:r>
            <a:r>
              <a:rPr lang="ar-IQ" sz="1600" dirty="0"/>
              <a:t> </a:t>
            </a:r>
            <a:r>
              <a:rPr lang="en-US" sz="1600" dirty="0"/>
              <a:t>and the coracohumeral ligament. </a:t>
            </a:r>
            <a:endParaRPr lang="ar-IQ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It has an important role in shoulder stability</a:t>
            </a:r>
            <a:r>
              <a:rPr lang="ar-IQ" sz="1600" dirty="0"/>
              <a:t> </a:t>
            </a:r>
            <a:r>
              <a:rPr lang="en-US" sz="1600" dirty="0"/>
              <a:t>and functions as an inferior stabilizer and limiter of internal rotation of the</a:t>
            </a:r>
            <a:r>
              <a:rPr lang="ar-IQ" sz="1600" dirty="0"/>
              <a:t> </a:t>
            </a:r>
            <a:r>
              <a:rPr lang="en-US" sz="1600" dirty="0"/>
              <a:t>adducted arm.</a:t>
            </a:r>
          </a:p>
        </p:txBody>
      </p:sp>
    </p:spTree>
    <p:extLst>
      <p:ext uri="{BB962C8B-B14F-4D97-AF65-F5344CB8AC3E}">
        <p14:creationId xmlns:p14="http://schemas.microsoft.com/office/powerpoint/2010/main" val="456346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Coracohumeral ligament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13" y="1885278"/>
            <a:ext cx="8647088" cy="46781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The coracohumeral capsuloligamentous complex is a key component of the rotator interval.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It is composed of a thickening of the anterosuperior capsule with a lateral extension that blends in with the superficial fibers of supraspinatus and subscapularis.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 The ligament inserts into the dorsolateral coracoid and contains</a:t>
            </a:r>
          </a:p>
          <a:p>
            <a:pPr>
              <a:lnSpc>
                <a:spcPct val="90000"/>
              </a:lnSpc>
            </a:pPr>
            <a:r>
              <a:rPr lang="en-US" sz="1700" b="1" i="1" dirty="0">
                <a:solidFill>
                  <a:srgbClr val="C00000"/>
                </a:solidFill>
              </a:rPr>
              <a:t>anterior and posterior bands </a:t>
            </a:r>
            <a:r>
              <a:rPr lang="en-US" sz="1700" dirty="0"/>
              <a:t>that insert into the lesser and greater tuberosities, respectively.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The </a:t>
            </a:r>
            <a:r>
              <a:rPr lang="en-US" sz="1700" b="1" i="1" dirty="0">
                <a:solidFill>
                  <a:srgbClr val="C00000"/>
                </a:solidFill>
              </a:rPr>
              <a:t>anterior band </a:t>
            </a:r>
            <a:r>
              <a:rPr lang="en-US" sz="1700" dirty="0"/>
              <a:t>becomes taut with the arm in external rotation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and the </a:t>
            </a:r>
            <a:r>
              <a:rPr lang="en-US" sz="1700" b="1" dirty="0">
                <a:solidFill>
                  <a:srgbClr val="C00000"/>
                </a:solidFill>
              </a:rPr>
              <a:t>posterior band </a:t>
            </a:r>
            <a:r>
              <a:rPr lang="en-US" sz="1700" dirty="0"/>
              <a:t>becomes taut in internal rotation, resulting in resistance to anterior-inferior translation during these movements.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Rotator interval lesions may increase humeral head translation and should be factored into the surgical treatment strategy when managing a traumatic type of shoulder instability</a:t>
            </a:r>
          </a:p>
        </p:txBody>
      </p:sp>
    </p:spTree>
    <p:extLst>
      <p:ext uri="{BB962C8B-B14F-4D97-AF65-F5344CB8AC3E}">
        <p14:creationId xmlns:p14="http://schemas.microsoft.com/office/powerpoint/2010/main" val="347907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Conformity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622746"/>
            <a:ext cx="8915400" cy="5235254"/>
          </a:xfrm>
        </p:spPr>
        <p:txBody>
          <a:bodyPr anchor="ctr">
            <a:normAutofit/>
          </a:bodyPr>
          <a:lstStyle/>
          <a:p>
            <a:r>
              <a:rPr lang="en-US" sz="1700" dirty="0"/>
              <a:t>Greater congruency of the articulating joint confers greater stability. </a:t>
            </a:r>
            <a:endParaRPr lang="ar-IQ" sz="1700" dirty="0"/>
          </a:p>
          <a:p>
            <a:r>
              <a:rPr lang="en-US" sz="1700" dirty="0"/>
              <a:t>Conversely,</a:t>
            </a:r>
            <a:r>
              <a:rPr lang="ar-IQ" sz="1700" dirty="0"/>
              <a:t> </a:t>
            </a:r>
            <a:r>
              <a:rPr lang="en-US" sz="1700" dirty="0"/>
              <a:t>reduced congruency risks increased translation and instability.</a:t>
            </a:r>
          </a:p>
          <a:p>
            <a:r>
              <a:rPr lang="en-US" sz="1700" dirty="0"/>
              <a:t> Conformity is optimized by three features: the glenoid radius is around 2 mm greater than that of the humeral head; </a:t>
            </a:r>
            <a:r>
              <a:rPr lang="ar-IQ" sz="1700" dirty="0"/>
              <a:t> </a:t>
            </a:r>
            <a:r>
              <a:rPr lang="en-US" sz="1700" dirty="0"/>
              <a:t>the glenoid concavity is increased by gradual increase in thickness of the cartilage layer away from the central zone of the glenoid fossa toward the periphery; joint loading and impact causes cartilage deformation and greater conformity.</a:t>
            </a:r>
          </a:p>
        </p:txBody>
      </p:sp>
    </p:spTree>
    <p:extLst>
      <p:ext uri="{BB962C8B-B14F-4D97-AF65-F5344CB8AC3E}">
        <p14:creationId xmlns:p14="http://schemas.microsoft.com/office/powerpoint/2010/main" val="1408582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Vacuum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A vacuum effect is caused by three different mechanisms:</a:t>
            </a:r>
          </a:p>
          <a:p>
            <a:r>
              <a:rPr lang="en-US" sz="1700"/>
              <a:t>• </a:t>
            </a:r>
            <a:r>
              <a:rPr lang="en-US" sz="1700" b="1"/>
              <a:t>Intra-articular pressure</a:t>
            </a:r>
            <a:r>
              <a:rPr lang="en-US" sz="1700"/>
              <a:t>: negative intra-articular pressure within the GHJ</a:t>
            </a:r>
          </a:p>
          <a:p>
            <a:r>
              <a:rPr lang="en-US" sz="1700"/>
              <a:t>provides a suction-type effect, centring and drawing the humeral head into the glenoid. </a:t>
            </a:r>
          </a:p>
          <a:p>
            <a:r>
              <a:rPr lang="en-US" sz="1700"/>
              <a:t>Joint penetration disrupts the pressure differential and allows easier translation of the humeral head.</a:t>
            </a:r>
          </a:p>
          <a:p>
            <a:r>
              <a:rPr lang="en-US" sz="1700"/>
              <a:t>• </a:t>
            </a:r>
            <a:r>
              <a:rPr lang="en-US" sz="1700" b="1"/>
              <a:t>Suction effect</a:t>
            </a:r>
            <a:r>
              <a:rPr lang="en-US" sz="1700"/>
              <a:t>: the glenoid labrum provides a suction effect on the humeral head, acting like a plunger.</a:t>
            </a:r>
          </a:p>
          <a:p>
            <a:r>
              <a:rPr lang="en-US" sz="1700"/>
              <a:t>• </a:t>
            </a:r>
            <a:r>
              <a:rPr lang="en-US" sz="1700" b="1"/>
              <a:t>Adhesion–cohesion</a:t>
            </a:r>
            <a:r>
              <a:rPr lang="en-US" sz="1700"/>
              <a:t>: two wet surfaces, such as the humeral head and glenoid, create an adhesion–cohesion bond when coming into contact with each other and provide increased GHJ stability.</a:t>
            </a:r>
          </a:p>
        </p:txBody>
      </p:sp>
    </p:spTree>
    <p:extLst>
      <p:ext uri="{BB962C8B-B14F-4D97-AF65-F5344CB8AC3E}">
        <p14:creationId xmlns:p14="http://schemas.microsoft.com/office/powerpoint/2010/main" val="2904293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Surface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force transmitted through the humeral head onto the glenoid fossa is</a:t>
            </a:r>
          </a:p>
          <a:p>
            <a:r>
              <a:rPr lang="en-US" sz="1700"/>
              <a:t>dependent on the surface area of the interface. </a:t>
            </a:r>
          </a:p>
          <a:p>
            <a:r>
              <a:rPr lang="en-US" sz="1700"/>
              <a:t>The glenoid fossa is one-third the size of the humeral head. </a:t>
            </a:r>
          </a:p>
          <a:p>
            <a:r>
              <a:rPr lang="en-US" sz="1700"/>
              <a:t>This is a relatively small surface area and the size differential generates high forces across the joint interface augmenting glenohumeral stability</a:t>
            </a:r>
          </a:p>
        </p:txBody>
      </p:sp>
    </p:spTree>
    <p:extLst>
      <p:ext uri="{BB962C8B-B14F-4D97-AF65-F5344CB8AC3E}">
        <p14:creationId xmlns:p14="http://schemas.microsoft.com/office/powerpoint/2010/main" val="1725732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Dynamic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Dynamic stabilizers of the shoulder during active movement enable</a:t>
            </a:r>
            <a:r>
              <a:rPr lang="ar-IQ" sz="1700"/>
              <a:t> </a:t>
            </a:r>
            <a:r>
              <a:rPr lang="en-US" sz="1700"/>
              <a:t>glenohumeral rotation with minimal translation, where the centre of rotation of</a:t>
            </a:r>
            <a:r>
              <a:rPr lang="ar-IQ" sz="1700"/>
              <a:t> </a:t>
            </a:r>
            <a:r>
              <a:rPr lang="en-US" sz="1700"/>
              <a:t>the humeral head is closely related to the centre of rotation of the glenoid. </a:t>
            </a:r>
            <a:endParaRPr lang="ar-IQ" sz="1700"/>
          </a:p>
          <a:p>
            <a:r>
              <a:rPr lang="en-US" sz="1700"/>
              <a:t>In the</a:t>
            </a:r>
            <a:r>
              <a:rPr lang="ar-IQ" sz="1700"/>
              <a:t> </a:t>
            </a:r>
            <a:r>
              <a:rPr lang="en-US" sz="1700"/>
              <a:t>anaesthetized patient, the effects of dynamic stabilizers are minimized and the</a:t>
            </a:r>
            <a:r>
              <a:rPr lang="ar-IQ" sz="1700"/>
              <a:t> </a:t>
            </a:r>
            <a:r>
              <a:rPr lang="en-US" sz="1700"/>
              <a:t>cuff is defunctioned allowing increased translation of the humeral head.</a:t>
            </a:r>
          </a:p>
          <a:p>
            <a:r>
              <a:rPr lang="en-US" sz="1700"/>
              <a:t>Ultimately, forces act across the GHJ and cause a concavity compression force</a:t>
            </a:r>
            <a:r>
              <a:rPr lang="ar-IQ" sz="1700"/>
              <a:t> </a:t>
            </a:r>
            <a:r>
              <a:rPr lang="en-US" sz="1700"/>
              <a:t>that maintains stability. Concavity compression relies on three factors: </a:t>
            </a:r>
            <a:endParaRPr lang="ar-IQ" sz="1700"/>
          </a:p>
          <a:p>
            <a:r>
              <a:rPr lang="en-US" sz="1700"/>
              <a:t>Integrity</a:t>
            </a:r>
            <a:r>
              <a:rPr lang="ar-IQ" sz="1700"/>
              <a:t> </a:t>
            </a:r>
            <a:r>
              <a:rPr lang="en-US" sz="1700"/>
              <a:t>of the muscles compressing the humeral head into the glenoid fossa; </a:t>
            </a:r>
            <a:endParaRPr lang="ar-IQ" sz="1700"/>
          </a:p>
          <a:p>
            <a:r>
              <a:rPr lang="en-US" sz="1700"/>
              <a:t>The</a:t>
            </a:r>
            <a:r>
              <a:rPr lang="ar-IQ" sz="1700"/>
              <a:t> </a:t>
            </a:r>
            <a:r>
              <a:rPr lang="en-US" sz="1700"/>
              <a:t>structural relationship between the glenoid fossa and the humeral head; and</a:t>
            </a:r>
            <a:r>
              <a:rPr lang="ar-IQ" sz="1700"/>
              <a:t> </a:t>
            </a:r>
            <a:r>
              <a:rPr lang="en-US" sz="1700"/>
              <a:t>the glenohumeral ligaments at the limits of motion.</a:t>
            </a:r>
          </a:p>
        </p:txBody>
      </p:sp>
    </p:spTree>
    <p:extLst>
      <p:ext uri="{BB962C8B-B14F-4D97-AF65-F5344CB8AC3E}">
        <p14:creationId xmlns:p14="http://schemas.microsoft.com/office/powerpoint/2010/main" val="3245383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Scapular rotators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Scapular muscles are a key link in the kinetic chain where they transfer energy from the lower limbs and trunk to the kinetic energy of the shoulder and upper limb, whilst providing a stable base for shoulder movements. </a:t>
            </a:r>
          </a:p>
          <a:p>
            <a:pPr>
              <a:lnSpc>
                <a:spcPct val="90000"/>
              </a:lnSpc>
            </a:pPr>
            <a:r>
              <a:rPr lang="en-US" sz="1600"/>
              <a:t>The position of the scapula influences glenoid version and the degree of superior angulation.</a:t>
            </a:r>
          </a:p>
          <a:p>
            <a:pPr>
              <a:lnSpc>
                <a:spcPct val="90000"/>
              </a:lnSpc>
            </a:pPr>
            <a:r>
              <a:rPr lang="en-US" sz="1600"/>
              <a:t>Chronic or repetitive scapular protraction may lead to excessive strain and insufficiency in the anterior band of the IGHL.</a:t>
            </a:r>
          </a:p>
          <a:p>
            <a:pPr>
              <a:lnSpc>
                <a:spcPct val="90000"/>
              </a:lnSpc>
            </a:pPr>
            <a:r>
              <a:rPr lang="en-US" sz="1600"/>
              <a:t> Normal scapulothoracic dynamics and coordinated scapulohumeral rhythm are dependent upon normal function of the rotatory force couple and pectoral girdle musculature. </a:t>
            </a:r>
          </a:p>
          <a:p>
            <a:pPr>
              <a:lnSpc>
                <a:spcPct val="90000"/>
              </a:lnSpc>
            </a:pPr>
            <a:r>
              <a:rPr lang="en-US" sz="1600"/>
              <a:t>The rotatory force couple consists of an upper component (levator scapulae, upper trapezius and upper fibres of serratus anterior) and </a:t>
            </a:r>
            <a:r>
              <a:rPr lang="ar-IQ" sz="1600"/>
              <a:t> </a:t>
            </a:r>
            <a:r>
              <a:rPr lang="en-US" sz="1600"/>
              <a:t>a lower component (lower trapezius and lower fibres of serratus anterior). </a:t>
            </a:r>
          </a:p>
          <a:p>
            <a:pPr>
              <a:lnSpc>
                <a:spcPct val="90000"/>
              </a:lnSpc>
            </a:pPr>
            <a:r>
              <a:rPr lang="en-US" sz="1600"/>
              <a:t>Disruption of one or more of these components may lead to increased risk of shoulder instability</a:t>
            </a:r>
          </a:p>
        </p:txBody>
      </p:sp>
    </p:spTree>
    <p:extLst>
      <p:ext uri="{BB962C8B-B14F-4D97-AF65-F5344CB8AC3E}">
        <p14:creationId xmlns:p14="http://schemas.microsoft.com/office/powerpoint/2010/main" val="2149816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Rotator cuff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rotator cuff maintains the centre of rotation of the humeral head and provides significant stability to the shoulder.</a:t>
            </a:r>
          </a:p>
          <a:p>
            <a:r>
              <a:rPr lang="en-US" sz="1700"/>
              <a:t> Rotator cuff contraction causes a</a:t>
            </a:r>
          </a:p>
          <a:p>
            <a:r>
              <a:rPr lang="en-US" sz="1700"/>
              <a:t>compressive force driving and stabilizing the humeral head within the glenoid</a:t>
            </a:r>
          </a:p>
          <a:p>
            <a:r>
              <a:rPr lang="en-US" sz="1700"/>
              <a:t>fossa (Figure 22.3). This action maximally contributes to joint stability at the</a:t>
            </a:r>
          </a:p>
          <a:p>
            <a:r>
              <a:rPr lang="en-US" sz="1700"/>
              <a:t>mid-range of shoulder motion whilst the glenohumeral and coracohumeral</a:t>
            </a:r>
          </a:p>
          <a:p>
            <a:r>
              <a:rPr lang="en-US" sz="1700"/>
              <a:t>ligaments are most effective at the limits of motion.</a:t>
            </a:r>
          </a:p>
          <a:p>
            <a:r>
              <a:rPr lang="en-US" sz="1700"/>
              <a:t>Subscapularis provides anterior stability when the arm is in neutral and has a</a:t>
            </a:r>
          </a:p>
          <a:p>
            <a:r>
              <a:rPr lang="en-US" sz="1700"/>
              <a:t>decreasing effect when the arm is placed in abduction.</a:t>
            </a:r>
          </a:p>
          <a:p>
            <a:r>
              <a:rPr lang="en-US" sz="1700"/>
              <a:t> Infraspinatus and teres minor act in combination, reducing the strain on the antero-inferior glenohumeral ligament in abduction and external rotation.</a:t>
            </a:r>
          </a:p>
        </p:txBody>
      </p:sp>
    </p:spTree>
    <p:extLst>
      <p:ext uri="{BB962C8B-B14F-4D97-AF65-F5344CB8AC3E}">
        <p14:creationId xmlns:p14="http://schemas.microsoft.com/office/powerpoint/2010/main" val="4198895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A 50% decrease in rotator cuff muscle forces causes around a 50% increase in anterior displacement of the humeral head.</a:t>
            </a:r>
          </a:p>
          <a:p>
            <a:r>
              <a:rPr lang="en-US" sz="1700"/>
              <a:t> Large rotator cuff tears or those that involve supraspinatus extending into infraspinatus and disrupting the transverse force couple may cause superior migration of the humeral head. </a:t>
            </a:r>
          </a:p>
          <a:p>
            <a:r>
              <a:rPr lang="en-US" sz="1700"/>
              <a:t>Isolated cuff tears do not usually result in significant migration.</a:t>
            </a:r>
          </a:p>
        </p:txBody>
      </p:sp>
    </p:spTree>
    <p:extLst>
      <p:ext uri="{BB962C8B-B14F-4D97-AF65-F5344CB8AC3E}">
        <p14:creationId xmlns:p14="http://schemas.microsoft.com/office/powerpoint/2010/main" val="371759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Rotator cuff direction of action maintaining centre of rotation and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humeral head compression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168" y="2502431"/>
            <a:ext cx="8495662" cy="337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7312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Biceps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biceps tendon originates from the superior labrum in a Y-shaped fashion.</a:t>
            </a:r>
          </a:p>
          <a:p>
            <a:r>
              <a:rPr lang="en-US" sz="1700"/>
              <a:t>The tendon reduces both anteroposterior and superior–inferior translations and</a:t>
            </a:r>
          </a:p>
          <a:p>
            <a:r>
              <a:rPr lang="en-US" sz="1700"/>
              <a:t>its role may become more prominent in cases with concurrent rotator cuff tears</a:t>
            </a:r>
            <a:r>
              <a:rPr lang="ar-IQ" sz="1700"/>
              <a:t> </a:t>
            </a:r>
            <a:r>
              <a:rPr lang="en-US" sz="1700"/>
              <a:t>or labral deficiencies</a:t>
            </a:r>
          </a:p>
        </p:txBody>
      </p:sp>
    </p:spTree>
    <p:extLst>
      <p:ext uri="{BB962C8B-B14F-4D97-AF65-F5344CB8AC3E}">
        <p14:creationId xmlns:p14="http://schemas.microsoft.com/office/powerpoint/2010/main" val="1327443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Deltoid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The deltoid provides superiorly directed shear force to the humeral head with the</a:t>
            </a:r>
            <a:r>
              <a:rPr lang="ar-IQ" sz="1700"/>
              <a:t> </a:t>
            </a:r>
            <a:r>
              <a:rPr lang="en-US" sz="1700"/>
              <a:t>arm in adduction, </a:t>
            </a:r>
            <a:endParaRPr lang="ar-IQ" sz="1700"/>
          </a:p>
          <a:p>
            <a:r>
              <a:rPr lang="en-US" sz="1700"/>
              <a:t>whilst at 90° of abduction its line of action works</a:t>
            </a:r>
            <a:r>
              <a:rPr lang="ar-IQ" sz="1700"/>
              <a:t> </a:t>
            </a:r>
            <a:r>
              <a:rPr lang="en-US" sz="1700"/>
              <a:t>synergistically with the rotator cuff to increase concavity compression forces. </a:t>
            </a:r>
            <a:endParaRPr lang="ar-IQ" sz="1700"/>
          </a:p>
          <a:p>
            <a:r>
              <a:rPr lang="en-US" sz="1700"/>
              <a:t>In</a:t>
            </a:r>
            <a:r>
              <a:rPr lang="ar-IQ" sz="1700"/>
              <a:t> </a:t>
            </a:r>
            <a:r>
              <a:rPr lang="en-US" sz="1700"/>
              <a:t>a cuff deficient shoulder, overriding action of the deltoid leads to superior</a:t>
            </a:r>
            <a:r>
              <a:rPr lang="ar-IQ" sz="1700"/>
              <a:t> </a:t>
            </a:r>
            <a:r>
              <a:rPr lang="en-US" sz="1700"/>
              <a:t>translation of the humeral head and destabilization of the GHJ.</a:t>
            </a:r>
          </a:p>
        </p:txBody>
      </p:sp>
    </p:spTree>
    <p:extLst>
      <p:ext uri="{BB962C8B-B14F-4D97-AF65-F5344CB8AC3E}">
        <p14:creationId xmlns:p14="http://schemas.microsoft.com/office/powerpoint/2010/main" val="56789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Proprioception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Proprioception plays an important role in shoulder stability. </a:t>
            </a:r>
          </a:p>
          <a:p>
            <a:pPr>
              <a:lnSpc>
                <a:spcPct val="90000"/>
              </a:lnSpc>
            </a:pPr>
            <a:r>
              <a:rPr lang="en-US" sz="1400"/>
              <a:t>The GHJ capsule, particularly anteriorly and inferiorly, contains numerous mechanoreceptors. </a:t>
            </a:r>
          </a:p>
          <a:p>
            <a:pPr>
              <a:lnSpc>
                <a:spcPct val="90000"/>
              </a:lnSpc>
            </a:pPr>
            <a:r>
              <a:rPr lang="en-US" sz="1400"/>
              <a:t>In a normal shoulder, dynamic proprioception improves hand position sense</a:t>
            </a:r>
            <a:r>
              <a:rPr lang="ar-IQ" sz="1400"/>
              <a:t> </a:t>
            </a:r>
            <a:r>
              <a:rPr lang="en-US" sz="1400"/>
              <a:t>following the initiation of movement. </a:t>
            </a:r>
          </a:p>
          <a:p>
            <a:pPr>
              <a:lnSpc>
                <a:spcPct val="90000"/>
              </a:lnSpc>
            </a:pPr>
            <a:r>
              <a:rPr lang="en-US" sz="1400"/>
              <a:t>Abduction and external rotation of the shoulder involves the humeral head making contact with the capsule, which may trigger a signal via these receptors to the stabilizing muscles of the shoulder.</a:t>
            </a:r>
          </a:p>
          <a:p>
            <a:pPr>
              <a:lnSpc>
                <a:spcPct val="90000"/>
              </a:lnSpc>
            </a:pPr>
            <a:r>
              <a:rPr lang="en-US" sz="1400"/>
              <a:t>Progressive instability leads to increased capsular stretch and greater proprioceptive disorganization leading to muscle patterning instability,</a:t>
            </a:r>
          </a:p>
          <a:p>
            <a:pPr>
              <a:lnSpc>
                <a:spcPct val="90000"/>
              </a:lnSpc>
            </a:pPr>
            <a:r>
              <a:rPr lang="en-US" sz="1400"/>
              <a:t>dislocations and/or subluxation and progression to GHJ wear and reduced core stability. </a:t>
            </a:r>
          </a:p>
          <a:p>
            <a:pPr>
              <a:lnSpc>
                <a:spcPct val="90000"/>
              </a:lnSpc>
            </a:pPr>
            <a:r>
              <a:rPr lang="en-US" sz="1400"/>
              <a:t>In multidirectional or muscle patterning instability, there is a reduced capacity to recruit proprioceptors which may lead to a disruption in motor control of the upper limb.</a:t>
            </a:r>
          </a:p>
          <a:p>
            <a:pPr>
              <a:lnSpc>
                <a:spcPct val="90000"/>
              </a:lnSpc>
            </a:pPr>
            <a:r>
              <a:rPr lang="en-US" sz="1400"/>
              <a:t> Thus, treatment should commence early on in the pathological process.</a:t>
            </a:r>
          </a:p>
        </p:txBody>
      </p:sp>
    </p:spTree>
    <p:extLst>
      <p:ext uri="{BB962C8B-B14F-4D97-AF65-F5344CB8AC3E}">
        <p14:creationId xmlns:p14="http://schemas.microsoft.com/office/powerpoint/2010/main" val="716287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DELL\Desktop\57d79e9b8d56ad607892d1f415cb055c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0886"/>
            <a:ext cx="8686800" cy="588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41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D9AC24-8C06-4D82-9019-01ACFD8DACDA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2694</Words>
  <Application>Microsoft Office PowerPoint</Application>
  <PresentationFormat>On-screen Show (4:3)</PresentationFormat>
  <Paragraphs>162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Algerian</vt:lpstr>
      <vt:lpstr>Arial</vt:lpstr>
      <vt:lpstr>Calibri</vt:lpstr>
      <vt:lpstr>Office Theme</vt:lpstr>
      <vt:lpstr>Biomechanics Of Shoulder Joint</vt:lpstr>
      <vt:lpstr>SHOULDER</vt:lpstr>
      <vt:lpstr>Anatomy</vt:lpstr>
      <vt:lpstr>Glenoid and scapular orientation.</vt:lpstr>
      <vt:lpstr>Humerus</vt:lpstr>
      <vt:lpstr>PowerPoint Presentation</vt:lpstr>
      <vt:lpstr>Scapula and glenoid</vt:lpstr>
      <vt:lpstr>Clavicle</vt:lpstr>
      <vt:lpstr>Joint movement</vt:lpstr>
      <vt:lpstr>Glenohumeral motion</vt:lpstr>
      <vt:lpstr>PowerPoint Presentation</vt:lpstr>
      <vt:lpstr>Muscles controlling shoulder movement</vt:lpstr>
      <vt:lpstr>Scapulothoracic motion</vt:lpstr>
      <vt:lpstr>PowerPoint Presentation</vt:lpstr>
      <vt:lpstr>a) Muscle forces across the glenohumeral joint at initiation of abduction;   b) muscle forces in 90 degrees of abduction; c) muscle forces in presence of weak/deficient cuff</vt:lpstr>
      <vt:lpstr>Glenohumeral stability</vt:lpstr>
      <vt:lpstr>Static and dynamic factors affecting glenohumeral joint stability</vt:lpstr>
      <vt:lpstr>Static factors</vt:lpstr>
      <vt:lpstr>PowerPoint Presentation</vt:lpstr>
      <vt:lpstr>PowerPoint Presentation</vt:lpstr>
      <vt:lpstr>Glenohumeral ligament and capsule</vt:lpstr>
      <vt:lpstr>PowerPoint Presentation</vt:lpstr>
      <vt:lpstr>Coracohumeral ligament</vt:lpstr>
      <vt:lpstr>Conformity</vt:lpstr>
      <vt:lpstr>Vacuum effect</vt:lpstr>
      <vt:lpstr>Surface area</vt:lpstr>
      <vt:lpstr>Dynamic factors</vt:lpstr>
      <vt:lpstr>Scapular rotators</vt:lpstr>
      <vt:lpstr>Rotator cuff</vt:lpstr>
      <vt:lpstr>PowerPoint Presentation</vt:lpstr>
      <vt:lpstr>Rotator cuff direction of action maintaining centre of rotation and humeral head compression</vt:lpstr>
      <vt:lpstr>Biceps</vt:lpstr>
      <vt:lpstr>Deltoid</vt:lpstr>
      <vt:lpstr>Proprioception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Zaid Jafar</cp:lastModifiedBy>
  <cp:revision>31</cp:revision>
  <dcterms:created xsi:type="dcterms:W3CDTF">2019-09-22T20:26:41Z</dcterms:created>
  <dcterms:modified xsi:type="dcterms:W3CDTF">2023-09-21T21:38:22Z</dcterms:modified>
</cp:coreProperties>
</file>