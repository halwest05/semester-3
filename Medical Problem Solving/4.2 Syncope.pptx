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Trebuchet MS" panose="020B0603020202020204" pitchFamily="34" charset="0"/>
      <p:regular r:id="rId29"/>
      <p:bold r:id="rId30"/>
      <p:italic r:id="rId31"/>
      <p:boldItalic r:id="rId32"/>
    </p:embeddedFont>
    <p:embeddedFont>
      <p:font typeface="Arial Black" panose="020B0A04020102020204" pitchFamily="34" charset="0"/>
      <p:regular r:id="rId33"/>
      <p:bold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141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1588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6:notes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46" name="Google Shape;14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8:notes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4:notes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5:notes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8:notes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22:notes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gradFill>
          <a:gsLst>
            <a:gs pos="0">
              <a:schemeClr val="lt1"/>
            </a:gs>
            <a:gs pos="100000">
              <a:srgbClr val="9E9E9E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 rotWithShape="1">
            <a:blip r:embed="rId2">
              <a:alphaModFix amt="43000"/>
            </a:blip>
            <a:tile tx="0" ty="0" sx="50000" sy="50000" flip="none" algn="tl"/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8" name="Google Shape;18;p2"/>
          <p:cNvCxnSpPr/>
          <p:nvPr/>
        </p:nvCxnSpPr>
        <p:spPr>
          <a:xfrm rot="-5400000">
            <a:off x="-762000" y="3429000"/>
            <a:ext cx="6858000" cy="0"/>
          </a:xfrm>
          <a:prstGeom prst="straightConnector1">
            <a:avLst/>
          </a:prstGeom>
          <a:noFill/>
          <a:ln w="11425" cap="flat" cmpd="sng">
            <a:solidFill>
              <a:srgbClr val="F9F9F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b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rgbClr val="FEF7F0"/>
              </a:buClr>
              <a:buSzPts val="4200"/>
              <a:buFont typeface="Trebuchet MS"/>
              <a:buNone/>
              <a:defRPr sz="42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lvl="0" algn="r" rtl="1">
              <a:spcBef>
                <a:spcPts val="600"/>
              </a:spcBef>
              <a:spcAft>
                <a:spcPts val="0"/>
              </a:spcAft>
              <a:buSzPts val="1606"/>
              <a:buNone/>
              <a:defRPr sz="2200">
                <a:solidFill>
                  <a:srgbClr val="FFFFFF"/>
                </a:solidFill>
              </a:defRPr>
            </a:lvl1pPr>
            <a:lvl2pPr lvl="1" algn="ctr" rtl="1">
              <a:spcBef>
                <a:spcPts val="500"/>
              </a:spcBef>
              <a:spcAft>
                <a:spcPts val="0"/>
              </a:spcAft>
              <a:buSzPts val="1440"/>
              <a:buNone/>
              <a:defRPr/>
            </a:lvl2pPr>
            <a:lvl3pPr lvl="2" algn="ctr" rtl="1">
              <a:spcBef>
                <a:spcPts val="400"/>
              </a:spcBef>
              <a:spcAft>
                <a:spcPts val="0"/>
              </a:spcAft>
              <a:buSzPts val="1080"/>
              <a:buNone/>
              <a:defRPr/>
            </a:lvl3pPr>
            <a:lvl4pPr lvl="3" algn="ctr" rtl="1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4pPr>
            <a:lvl5pPr lvl="4" algn="ctr" rtl="1">
              <a:spcBef>
                <a:spcPts val="400"/>
              </a:spcBef>
              <a:spcAft>
                <a:spcPts val="0"/>
              </a:spcAft>
              <a:buSzPts val="1260"/>
              <a:buNone/>
              <a:defRPr/>
            </a:lvl5pPr>
            <a:lvl6pPr lvl="5" algn="ctr" rt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6pPr>
            <a:lvl7pPr lvl="6" algn="ctr" rtl="1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 rtl="1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8pPr>
            <a:lvl9pPr lvl="8" algn="ctr" rtl="1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5871224" y="6557946"/>
            <a:ext cx="2002464" cy="226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2819400" y="6557946"/>
            <a:ext cx="292772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7880884" y="6556248"/>
            <a:ext cx="58833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lvl="1" indent="0" algn="r" rtl="1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lvl="2" indent="0" algn="r" rtl="1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lvl="3" indent="0" algn="r" rtl="1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lvl="4" indent="0" algn="r" rtl="1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lvl="5" indent="0" algn="r" rtl="1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lvl="6" indent="0" algn="r" rtl="1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lvl="7" indent="0" algn="r" rtl="1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lvl="8" indent="0" algn="r" rtl="1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b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rgbClr val="FEF7F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2039" algn="r" rtl="1">
              <a:spcBef>
                <a:spcPts val="600"/>
              </a:spcBef>
              <a:spcAft>
                <a:spcPts val="0"/>
              </a:spcAft>
              <a:buSzPts val="1314"/>
              <a:buChar char="⦿"/>
              <a:defRPr/>
            </a:lvl1pPr>
            <a:lvl2pPr marL="914400" lvl="1" indent="-320040" algn="r" rtl="1">
              <a:spcBef>
                <a:spcPts val="500"/>
              </a:spcBef>
              <a:spcAft>
                <a:spcPts val="0"/>
              </a:spcAft>
              <a:buSzPts val="1440"/>
              <a:buChar char="◼"/>
              <a:defRPr/>
            </a:lvl2pPr>
            <a:lvl3pPr marL="1371600" lvl="2" indent="-297180" algn="r" rtl="1">
              <a:spcBef>
                <a:spcPts val="400"/>
              </a:spcBef>
              <a:spcAft>
                <a:spcPts val="0"/>
              </a:spcAft>
              <a:buSzPts val="1080"/>
              <a:buChar char="🞆"/>
              <a:defRPr/>
            </a:lvl3pPr>
            <a:lvl4pPr marL="1828800" lvl="3" indent="-320039" algn="r" rtl="1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08610" algn="r" rtl="1">
              <a:spcBef>
                <a:spcPts val="400"/>
              </a:spcBef>
              <a:spcAft>
                <a:spcPts val="0"/>
              </a:spcAft>
              <a:buSzPts val="1260"/>
              <a:buChar char="◉"/>
              <a:defRPr/>
            </a:lvl5pPr>
            <a:lvl6pPr marL="2743200" lvl="5" indent="-320039" algn="r" rtl="1">
              <a:spcBef>
                <a:spcPts val="40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r" rtl="1">
              <a:spcBef>
                <a:spcPts val="360"/>
              </a:spcBef>
              <a:spcAft>
                <a:spcPts val="0"/>
              </a:spcAft>
              <a:buSzPts val="1440"/>
              <a:buChar char="◼"/>
              <a:defRPr/>
            </a:lvl7pPr>
            <a:lvl8pPr marL="3657600" lvl="7" indent="-342900" algn="r" rtl="1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r" rtl="1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1066800" y="304800"/>
            <a:ext cx="7543800" cy="143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b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rgbClr val="FEF7F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1066800" y="1981200"/>
            <a:ext cx="36957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2039" algn="r" rtl="1">
              <a:spcBef>
                <a:spcPts val="600"/>
              </a:spcBef>
              <a:spcAft>
                <a:spcPts val="0"/>
              </a:spcAft>
              <a:buSzPts val="1314"/>
              <a:buChar char="⦿"/>
              <a:defRPr/>
            </a:lvl1pPr>
            <a:lvl2pPr marL="914400" lvl="1" indent="-320040" algn="r" rtl="1">
              <a:spcBef>
                <a:spcPts val="500"/>
              </a:spcBef>
              <a:spcAft>
                <a:spcPts val="0"/>
              </a:spcAft>
              <a:buSzPts val="1440"/>
              <a:buChar char="◼"/>
              <a:defRPr/>
            </a:lvl2pPr>
            <a:lvl3pPr marL="1371600" lvl="2" indent="-297180" algn="r" rtl="1">
              <a:spcBef>
                <a:spcPts val="400"/>
              </a:spcBef>
              <a:spcAft>
                <a:spcPts val="0"/>
              </a:spcAft>
              <a:buSzPts val="1080"/>
              <a:buChar char="🞆"/>
              <a:defRPr/>
            </a:lvl3pPr>
            <a:lvl4pPr marL="1828800" lvl="3" indent="-320039" algn="r" rtl="1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08610" algn="r" rtl="1">
              <a:spcBef>
                <a:spcPts val="400"/>
              </a:spcBef>
              <a:spcAft>
                <a:spcPts val="0"/>
              </a:spcAft>
              <a:buSzPts val="1260"/>
              <a:buChar char="◉"/>
              <a:defRPr/>
            </a:lvl5pPr>
            <a:lvl6pPr marL="2743200" lvl="5" indent="-320039" algn="r" rtl="1">
              <a:spcBef>
                <a:spcPts val="40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r" rtl="1">
              <a:spcBef>
                <a:spcPts val="360"/>
              </a:spcBef>
              <a:spcAft>
                <a:spcPts val="0"/>
              </a:spcAft>
              <a:buSzPts val="1440"/>
              <a:buChar char="◼"/>
              <a:defRPr/>
            </a:lvl7pPr>
            <a:lvl8pPr marL="3657600" lvl="7" indent="-342900" algn="r" rtl="1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r" rtl="1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2"/>
          </p:nvPr>
        </p:nvSpPr>
        <p:spPr>
          <a:xfrm>
            <a:off x="4914900" y="1981200"/>
            <a:ext cx="36957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2039" algn="r" rtl="1">
              <a:spcBef>
                <a:spcPts val="600"/>
              </a:spcBef>
              <a:spcAft>
                <a:spcPts val="0"/>
              </a:spcAft>
              <a:buSzPts val="1314"/>
              <a:buChar char="⦿"/>
              <a:defRPr/>
            </a:lvl1pPr>
            <a:lvl2pPr marL="914400" lvl="1" indent="-320040" algn="r" rtl="1">
              <a:spcBef>
                <a:spcPts val="500"/>
              </a:spcBef>
              <a:spcAft>
                <a:spcPts val="0"/>
              </a:spcAft>
              <a:buSzPts val="1440"/>
              <a:buChar char="◼"/>
              <a:defRPr/>
            </a:lvl2pPr>
            <a:lvl3pPr marL="1371600" lvl="2" indent="-297180" algn="r" rtl="1">
              <a:spcBef>
                <a:spcPts val="400"/>
              </a:spcBef>
              <a:spcAft>
                <a:spcPts val="0"/>
              </a:spcAft>
              <a:buSzPts val="1080"/>
              <a:buChar char="🞆"/>
              <a:defRPr/>
            </a:lvl3pPr>
            <a:lvl4pPr marL="1828800" lvl="3" indent="-320039" algn="r" rtl="1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08610" algn="r" rtl="1">
              <a:spcBef>
                <a:spcPts val="400"/>
              </a:spcBef>
              <a:spcAft>
                <a:spcPts val="0"/>
              </a:spcAft>
              <a:buSzPts val="1260"/>
              <a:buChar char="◉"/>
              <a:defRPr/>
            </a:lvl5pPr>
            <a:lvl6pPr marL="2743200" lvl="5" indent="-320039" algn="r" rtl="1">
              <a:spcBef>
                <a:spcPts val="40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r" rtl="1">
              <a:spcBef>
                <a:spcPts val="360"/>
              </a:spcBef>
              <a:spcAft>
                <a:spcPts val="0"/>
              </a:spcAft>
              <a:buSzPts val="1440"/>
              <a:buChar char="◼"/>
              <a:defRPr/>
            </a:lvl7pPr>
            <a:lvl8pPr marL="3657600" lvl="7" indent="-342900" algn="r" rtl="1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r" rtl="1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dt" idx="10"/>
          </p:nvPr>
        </p:nvSpPr>
        <p:spPr>
          <a:xfrm>
            <a:off x="1066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ftr" idx="11"/>
          </p:nvPr>
        </p:nvSpPr>
        <p:spPr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ldNum" idx="12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lvl="1" indent="0" algn="r" rtl="1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lvl="2" indent="0" algn="r" rtl="1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lvl="3" indent="0" algn="r" rtl="1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lvl="4" indent="0" algn="r" rtl="1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lvl="5" indent="0" algn="r" rtl="1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lvl="6" indent="0" algn="r" rtl="1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lvl="7" indent="0" algn="r" rtl="1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lvl="8" indent="0" algn="r" rtl="1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rgbClr val="FEF7F0"/>
              </a:buClr>
              <a:buSzPts val="4200"/>
              <a:buFont typeface="Trebuchet MS"/>
              <a:buNone/>
              <a:defRPr sz="42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 rtl="1">
              <a:spcBef>
                <a:spcPts val="600"/>
              </a:spcBef>
              <a:spcAft>
                <a:spcPts val="0"/>
              </a:spcAft>
              <a:buSzPts val="146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r" rtl="1">
              <a:spcBef>
                <a:spcPts val="5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400"/>
              </a:spcBef>
              <a:spcAft>
                <a:spcPts val="0"/>
              </a:spcAft>
              <a:buSzPts val="96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28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400"/>
              </a:spcBef>
              <a:spcAft>
                <a:spcPts val="0"/>
              </a:spcAft>
              <a:buSzPts val="980"/>
              <a:buNone/>
              <a:defRPr sz="1400">
                <a:solidFill>
                  <a:srgbClr val="888888"/>
                </a:solidFill>
              </a:defRPr>
            </a:lvl5pPr>
            <a:lvl6pPr marL="2743200" lvl="5" indent="-320039" algn="r" rtl="1">
              <a:spcBef>
                <a:spcPts val="40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r" rtl="1">
              <a:spcBef>
                <a:spcPts val="360"/>
              </a:spcBef>
              <a:spcAft>
                <a:spcPts val="0"/>
              </a:spcAft>
              <a:buSzPts val="1440"/>
              <a:buChar char="◼"/>
              <a:defRPr/>
            </a:lvl7pPr>
            <a:lvl8pPr marL="3657600" lvl="7" indent="-342900" algn="r" rtl="1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r" rtl="1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4724238" y="6556810"/>
            <a:ext cx="2002464" cy="226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1735358" y="6556810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6733952" y="6555112"/>
            <a:ext cx="58833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b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rgbClr val="FEF7F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352044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8394" algn="r" rtl="1">
              <a:spcBef>
                <a:spcPts val="600"/>
              </a:spcBef>
              <a:spcAft>
                <a:spcPts val="0"/>
              </a:spcAft>
              <a:buSzPts val="2044"/>
              <a:buChar char="⦿"/>
              <a:defRPr sz="2800"/>
            </a:lvl1pPr>
            <a:lvl2pPr marL="914400" lvl="1" indent="-350519" algn="r" rtl="1">
              <a:spcBef>
                <a:spcPts val="500"/>
              </a:spcBef>
              <a:spcAft>
                <a:spcPts val="0"/>
              </a:spcAft>
              <a:buSzPts val="1920"/>
              <a:buChar char="◼"/>
              <a:defRPr sz="2400"/>
            </a:lvl2pPr>
            <a:lvl3pPr marL="1371600" lvl="2" indent="-304800" algn="r" rtl="1">
              <a:spcBef>
                <a:spcPts val="400"/>
              </a:spcBef>
              <a:spcAft>
                <a:spcPts val="0"/>
              </a:spcAft>
              <a:buSzPts val="1200"/>
              <a:buChar char="🞆"/>
              <a:defRPr sz="2000"/>
            </a:lvl3pPr>
            <a:lvl4pPr marL="1828800" lvl="3" indent="-320039" algn="r" rtl="1">
              <a:spcBef>
                <a:spcPts val="360"/>
              </a:spcBef>
              <a:spcAft>
                <a:spcPts val="0"/>
              </a:spcAft>
              <a:buSzPts val="1440"/>
              <a:buChar char="⚫"/>
              <a:defRPr sz="1800"/>
            </a:lvl4pPr>
            <a:lvl5pPr marL="2286000" lvl="4" indent="-308610" algn="r" rtl="1">
              <a:spcBef>
                <a:spcPts val="400"/>
              </a:spcBef>
              <a:spcAft>
                <a:spcPts val="0"/>
              </a:spcAft>
              <a:buSzPts val="1260"/>
              <a:buChar char="◉"/>
              <a:defRPr sz="1800"/>
            </a:lvl5pPr>
            <a:lvl6pPr marL="2743200" lvl="5" indent="-320039" algn="r" rtl="1">
              <a:spcBef>
                <a:spcPts val="40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r" rtl="1">
              <a:spcBef>
                <a:spcPts val="360"/>
              </a:spcBef>
              <a:spcAft>
                <a:spcPts val="0"/>
              </a:spcAft>
              <a:buSzPts val="1440"/>
              <a:buChar char="◼"/>
              <a:defRPr/>
            </a:lvl7pPr>
            <a:lvl8pPr marL="3657600" lvl="7" indent="-342900" algn="r" rtl="1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r" rtl="1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4178808" y="1600200"/>
            <a:ext cx="352044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8394" algn="r" rtl="1">
              <a:spcBef>
                <a:spcPts val="600"/>
              </a:spcBef>
              <a:spcAft>
                <a:spcPts val="0"/>
              </a:spcAft>
              <a:buSzPts val="2044"/>
              <a:buChar char="⦿"/>
              <a:defRPr sz="2800"/>
            </a:lvl1pPr>
            <a:lvl2pPr marL="914400" lvl="1" indent="-350519" algn="r" rtl="1">
              <a:spcBef>
                <a:spcPts val="500"/>
              </a:spcBef>
              <a:spcAft>
                <a:spcPts val="0"/>
              </a:spcAft>
              <a:buSzPts val="1920"/>
              <a:buChar char="◼"/>
              <a:defRPr sz="2400"/>
            </a:lvl2pPr>
            <a:lvl3pPr marL="1371600" lvl="2" indent="-304800" algn="r" rtl="1">
              <a:spcBef>
                <a:spcPts val="400"/>
              </a:spcBef>
              <a:spcAft>
                <a:spcPts val="0"/>
              </a:spcAft>
              <a:buSzPts val="1200"/>
              <a:buChar char="🞆"/>
              <a:defRPr sz="2000"/>
            </a:lvl3pPr>
            <a:lvl4pPr marL="1828800" lvl="3" indent="-320039" algn="r" rtl="1">
              <a:spcBef>
                <a:spcPts val="360"/>
              </a:spcBef>
              <a:spcAft>
                <a:spcPts val="0"/>
              </a:spcAft>
              <a:buSzPts val="1440"/>
              <a:buChar char="⚫"/>
              <a:defRPr sz="1800"/>
            </a:lvl4pPr>
            <a:lvl5pPr marL="2286000" lvl="4" indent="-308610" algn="r" rtl="1">
              <a:spcBef>
                <a:spcPts val="400"/>
              </a:spcBef>
              <a:spcAft>
                <a:spcPts val="0"/>
              </a:spcAft>
              <a:buSzPts val="1260"/>
              <a:buChar char="◉"/>
              <a:defRPr sz="1800"/>
            </a:lvl5pPr>
            <a:lvl6pPr marL="2743200" lvl="5" indent="-320039" algn="r" rtl="1">
              <a:spcBef>
                <a:spcPts val="40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r" rtl="1">
              <a:spcBef>
                <a:spcPts val="360"/>
              </a:spcBef>
              <a:spcAft>
                <a:spcPts val="0"/>
              </a:spcAft>
              <a:buSzPts val="1440"/>
              <a:buChar char="◼"/>
              <a:defRPr/>
            </a:lvl7pPr>
            <a:lvl8pPr marL="3657600" lvl="7" indent="-342900" algn="r" rtl="1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r" rtl="1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dt" idx="10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ftr" idx="11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b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rgbClr val="FEF7F0"/>
              </a:buClr>
              <a:buSzPts val="3800"/>
              <a:buFont typeface="Trebuchet M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prstGeom prst="rect">
            <a:avLst/>
          </a:prstGeom>
          <a:noFill/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spcBef>
                <a:spcPts val="600"/>
              </a:spcBef>
              <a:spcAft>
                <a:spcPts val="0"/>
              </a:spcAft>
              <a:buSzPts val="1314"/>
              <a:buNone/>
              <a:defRPr sz="1800" b="1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r" rtl="1">
              <a:spcBef>
                <a:spcPts val="50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r" rtl="1">
              <a:spcBef>
                <a:spcPts val="400"/>
              </a:spcBef>
              <a:spcAft>
                <a:spcPts val="0"/>
              </a:spcAft>
              <a:buSzPts val="1080"/>
              <a:buNone/>
              <a:defRPr sz="18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r" rtl="1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r" rtl="1">
              <a:spcBef>
                <a:spcPts val="400"/>
              </a:spcBef>
              <a:spcAft>
                <a:spcPts val="0"/>
              </a:spcAft>
              <a:buSzPts val="1120"/>
              <a:buNone/>
              <a:defRPr sz="16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20039" algn="r" rtl="1">
              <a:spcBef>
                <a:spcPts val="40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r" rtl="1">
              <a:spcBef>
                <a:spcPts val="360"/>
              </a:spcBef>
              <a:spcAft>
                <a:spcPts val="0"/>
              </a:spcAft>
              <a:buSzPts val="1440"/>
              <a:buChar char="◼"/>
              <a:defRPr/>
            </a:lvl7pPr>
            <a:lvl8pPr marL="3657600" lvl="7" indent="-342900" algn="r" rtl="1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r" rtl="1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2"/>
          </p:nvPr>
        </p:nvSpPr>
        <p:spPr>
          <a:xfrm>
            <a:off x="4178808" y="5867400"/>
            <a:ext cx="3520440" cy="457200"/>
          </a:xfrm>
          <a:prstGeom prst="rect">
            <a:avLst/>
          </a:prstGeom>
          <a:noFill/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spcBef>
                <a:spcPts val="600"/>
              </a:spcBef>
              <a:spcAft>
                <a:spcPts val="0"/>
              </a:spcAft>
              <a:buSzPts val="1314"/>
              <a:buNone/>
              <a:defRPr sz="1800" b="1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r" rtl="1">
              <a:spcBef>
                <a:spcPts val="50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r" rtl="1">
              <a:spcBef>
                <a:spcPts val="400"/>
              </a:spcBef>
              <a:spcAft>
                <a:spcPts val="0"/>
              </a:spcAft>
              <a:buSzPts val="1080"/>
              <a:buNone/>
              <a:defRPr sz="18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r" rtl="1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r" rtl="1">
              <a:spcBef>
                <a:spcPts val="400"/>
              </a:spcBef>
              <a:spcAft>
                <a:spcPts val="0"/>
              </a:spcAft>
              <a:buSzPts val="1120"/>
              <a:buNone/>
              <a:defRPr sz="16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20039" algn="r" rtl="1">
              <a:spcBef>
                <a:spcPts val="40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r" rtl="1">
              <a:spcBef>
                <a:spcPts val="360"/>
              </a:spcBef>
              <a:spcAft>
                <a:spcPts val="0"/>
              </a:spcAft>
              <a:buSzPts val="1440"/>
              <a:buChar char="◼"/>
              <a:defRPr/>
            </a:lvl7pPr>
            <a:lvl8pPr marL="3657600" lvl="7" indent="-342900" algn="r" rtl="1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r" rtl="1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body" idx="3"/>
          </p:nvPr>
        </p:nvSpPr>
        <p:spPr>
          <a:xfrm>
            <a:off x="457200" y="1711840"/>
            <a:ext cx="352044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9852" algn="r" rtl="1">
              <a:spcBef>
                <a:spcPts val="600"/>
              </a:spcBef>
              <a:spcAft>
                <a:spcPts val="0"/>
              </a:spcAft>
              <a:buSzPts val="1752"/>
              <a:buChar char="⦿"/>
              <a:defRPr sz="2400"/>
            </a:lvl1pPr>
            <a:lvl2pPr marL="914400" lvl="1" indent="-330200" algn="r" rtl="1">
              <a:spcBef>
                <a:spcPts val="500"/>
              </a:spcBef>
              <a:spcAft>
                <a:spcPts val="0"/>
              </a:spcAft>
              <a:buSzPts val="1600"/>
              <a:buChar char="◼"/>
              <a:defRPr sz="2000"/>
            </a:lvl2pPr>
            <a:lvl3pPr marL="1371600" lvl="2" indent="-297180" algn="r" rtl="1">
              <a:spcBef>
                <a:spcPts val="400"/>
              </a:spcBef>
              <a:spcAft>
                <a:spcPts val="0"/>
              </a:spcAft>
              <a:buSzPts val="1080"/>
              <a:buChar char="🞆"/>
              <a:defRPr sz="1800"/>
            </a:lvl3pPr>
            <a:lvl4pPr marL="1828800" lvl="3" indent="-309880" algn="r" rtl="1">
              <a:spcBef>
                <a:spcPts val="320"/>
              </a:spcBef>
              <a:spcAft>
                <a:spcPts val="0"/>
              </a:spcAft>
              <a:buSzPts val="1280"/>
              <a:buChar char="⚫"/>
              <a:defRPr sz="1600"/>
            </a:lvl4pPr>
            <a:lvl5pPr marL="2286000" lvl="4" indent="-299720" algn="r" rtl="1">
              <a:spcBef>
                <a:spcPts val="400"/>
              </a:spcBef>
              <a:spcAft>
                <a:spcPts val="0"/>
              </a:spcAft>
              <a:buSzPts val="1120"/>
              <a:buChar char="◉"/>
              <a:defRPr sz="1600"/>
            </a:lvl5pPr>
            <a:lvl6pPr marL="2743200" lvl="5" indent="-320039" algn="r" rtl="1">
              <a:spcBef>
                <a:spcPts val="40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r" rtl="1">
              <a:spcBef>
                <a:spcPts val="360"/>
              </a:spcBef>
              <a:spcAft>
                <a:spcPts val="0"/>
              </a:spcAft>
              <a:buSzPts val="1440"/>
              <a:buChar char="◼"/>
              <a:defRPr/>
            </a:lvl7pPr>
            <a:lvl8pPr marL="3657600" lvl="7" indent="-342900" algn="r" rtl="1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r" rtl="1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body" idx="4"/>
          </p:nvPr>
        </p:nvSpPr>
        <p:spPr>
          <a:xfrm>
            <a:off x="4178808" y="1711840"/>
            <a:ext cx="352044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9852" algn="r" rtl="1">
              <a:spcBef>
                <a:spcPts val="600"/>
              </a:spcBef>
              <a:spcAft>
                <a:spcPts val="0"/>
              </a:spcAft>
              <a:buSzPts val="1752"/>
              <a:buChar char="⦿"/>
              <a:defRPr sz="2400"/>
            </a:lvl1pPr>
            <a:lvl2pPr marL="914400" lvl="1" indent="-330200" algn="r" rtl="1">
              <a:spcBef>
                <a:spcPts val="500"/>
              </a:spcBef>
              <a:spcAft>
                <a:spcPts val="0"/>
              </a:spcAft>
              <a:buSzPts val="1600"/>
              <a:buChar char="◼"/>
              <a:defRPr sz="2000"/>
            </a:lvl2pPr>
            <a:lvl3pPr marL="1371600" lvl="2" indent="-297180" algn="r" rtl="1">
              <a:spcBef>
                <a:spcPts val="400"/>
              </a:spcBef>
              <a:spcAft>
                <a:spcPts val="0"/>
              </a:spcAft>
              <a:buSzPts val="1080"/>
              <a:buChar char="🞆"/>
              <a:defRPr sz="1800"/>
            </a:lvl3pPr>
            <a:lvl4pPr marL="1828800" lvl="3" indent="-309880" algn="r" rtl="1">
              <a:spcBef>
                <a:spcPts val="320"/>
              </a:spcBef>
              <a:spcAft>
                <a:spcPts val="0"/>
              </a:spcAft>
              <a:buSzPts val="1280"/>
              <a:buChar char="⚫"/>
              <a:defRPr sz="1600"/>
            </a:lvl4pPr>
            <a:lvl5pPr marL="2286000" lvl="4" indent="-299720" algn="r" rtl="1">
              <a:spcBef>
                <a:spcPts val="400"/>
              </a:spcBef>
              <a:spcAft>
                <a:spcPts val="0"/>
              </a:spcAft>
              <a:buSzPts val="1120"/>
              <a:buChar char="◉"/>
              <a:defRPr sz="1600"/>
            </a:lvl5pPr>
            <a:lvl6pPr marL="2743200" lvl="5" indent="-320039" algn="r" rtl="1">
              <a:spcBef>
                <a:spcPts val="40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r" rtl="1">
              <a:spcBef>
                <a:spcPts val="360"/>
              </a:spcBef>
              <a:spcAft>
                <a:spcPts val="0"/>
              </a:spcAft>
              <a:buSzPts val="1440"/>
              <a:buChar char="◼"/>
              <a:defRPr/>
            </a:lvl7pPr>
            <a:lvl8pPr marL="3657600" lvl="7" indent="-342900" algn="r" rtl="1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r" rtl="1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dt" idx="10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ftr" idx="11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b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rgbClr val="FEF7F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dt" idx="10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ftr" idx="11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 txBox="1">
            <a:spLocks noGrp="1"/>
          </p:cNvSpPr>
          <p:nvPr>
            <p:ph type="dt" idx="10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ftr" idx="11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b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rgbClr val="FEF7F0"/>
              </a:buClr>
              <a:buSzPts val="2400"/>
              <a:buFont typeface="Trebuchet M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body" idx="1"/>
          </p:nvPr>
        </p:nvSpPr>
        <p:spPr>
          <a:xfrm>
            <a:off x="457200" y="1497416"/>
            <a:ext cx="5897880" cy="60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0" bIns="0" anchor="t" anchorCtr="0">
            <a:normAutofit/>
          </a:bodyPr>
          <a:lstStyle>
            <a:lvl1pPr marL="457200" lvl="0" indent="-228600" algn="r" rtl="1">
              <a:spcBef>
                <a:spcPts val="0"/>
              </a:spcBef>
              <a:spcAft>
                <a:spcPts val="0"/>
              </a:spcAft>
              <a:buSzPts val="1022"/>
              <a:buNone/>
              <a:defRPr sz="1400"/>
            </a:lvl1pPr>
            <a:lvl2pPr marL="914400" lvl="1" indent="-228600" algn="r" rtl="1">
              <a:spcBef>
                <a:spcPts val="5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r" rtl="1">
              <a:spcBef>
                <a:spcPts val="400"/>
              </a:spcBef>
              <a:spcAft>
                <a:spcPts val="0"/>
              </a:spcAft>
              <a:buSzPts val="600"/>
              <a:buNone/>
              <a:defRPr sz="1000"/>
            </a:lvl3pPr>
            <a:lvl4pPr marL="1828800" lvl="3" indent="-228600" algn="r" rtl="1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r" rtl="1">
              <a:spcBef>
                <a:spcPts val="4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320039" algn="r" rtl="1">
              <a:spcBef>
                <a:spcPts val="40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r" rtl="1">
              <a:spcBef>
                <a:spcPts val="360"/>
              </a:spcBef>
              <a:spcAft>
                <a:spcPts val="0"/>
              </a:spcAft>
              <a:buSzPts val="1440"/>
              <a:buChar char="◼"/>
              <a:defRPr/>
            </a:lvl7pPr>
            <a:lvl8pPr marL="3657600" lvl="7" indent="-342900" algn="r" rtl="1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r" rtl="1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2"/>
          </p:nvPr>
        </p:nvSpPr>
        <p:spPr>
          <a:xfrm>
            <a:off x="457200" y="2133600"/>
            <a:ext cx="7239000" cy="437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6936" algn="r" rtl="1">
              <a:spcBef>
                <a:spcPts val="600"/>
              </a:spcBef>
              <a:spcAft>
                <a:spcPts val="0"/>
              </a:spcAft>
              <a:buSzPts val="2336"/>
              <a:buChar char="⦿"/>
              <a:defRPr sz="3200"/>
            </a:lvl1pPr>
            <a:lvl2pPr marL="914400" lvl="1" indent="-370840" algn="r" rtl="1">
              <a:spcBef>
                <a:spcPts val="500"/>
              </a:spcBef>
              <a:spcAft>
                <a:spcPts val="0"/>
              </a:spcAft>
              <a:buSzPts val="2240"/>
              <a:buChar char="◼"/>
              <a:defRPr sz="2800"/>
            </a:lvl2pPr>
            <a:lvl3pPr marL="1371600" lvl="2" indent="-320039" algn="r" rtl="1">
              <a:spcBef>
                <a:spcPts val="400"/>
              </a:spcBef>
              <a:spcAft>
                <a:spcPts val="0"/>
              </a:spcAft>
              <a:buSzPts val="1440"/>
              <a:buChar char="🞆"/>
              <a:defRPr sz="2400"/>
            </a:lvl3pPr>
            <a:lvl4pPr marL="1828800" lvl="3" indent="-330200" algn="r" rtl="1">
              <a:spcBef>
                <a:spcPts val="400"/>
              </a:spcBef>
              <a:spcAft>
                <a:spcPts val="0"/>
              </a:spcAft>
              <a:buSzPts val="1600"/>
              <a:buChar char="⚫"/>
              <a:defRPr sz="2000"/>
            </a:lvl4pPr>
            <a:lvl5pPr marL="2286000" lvl="4" indent="-317500" algn="r" rtl="1">
              <a:spcBef>
                <a:spcPts val="400"/>
              </a:spcBef>
              <a:spcAft>
                <a:spcPts val="0"/>
              </a:spcAft>
              <a:buSzPts val="1400"/>
              <a:buChar char="◉"/>
              <a:defRPr sz="2000"/>
            </a:lvl5pPr>
            <a:lvl6pPr marL="2743200" lvl="5" indent="-320039" algn="r" rtl="1">
              <a:spcBef>
                <a:spcPts val="40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r" rtl="1">
              <a:spcBef>
                <a:spcPts val="360"/>
              </a:spcBef>
              <a:spcAft>
                <a:spcPts val="0"/>
              </a:spcAft>
              <a:buSzPts val="1440"/>
              <a:buChar char="◼"/>
              <a:defRPr/>
            </a:lvl7pPr>
            <a:lvl8pPr marL="3657600" lvl="7" indent="-342900" algn="r" rtl="1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r" rtl="1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bg>
      <p:bgPr>
        <a:gradFill>
          <a:gsLst>
            <a:gs pos="0">
              <a:srgbClr val="E965C8"/>
            </a:gs>
            <a:gs pos="100000">
              <a:srgbClr val="80136A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/>
          <p:nvPr/>
        </p:nvSpPr>
        <p:spPr>
          <a:xfrm rot="-36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9525" cap="rnd" cmpd="sng">
            <a:solidFill>
              <a:srgbClr val="EAEAEA"/>
            </a:solidFill>
            <a:prstDash val="solid"/>
            <a:round/>
            <a:headEnd type="none" w="sm" len="sm"/>
            <a:tailEnd type="none" w="sm" len="sm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7" name="Google Shape;77;p11"/>
          <p:cNvSpPr/>
          <p:nvPr/>
        </p:nvSpPr>
        <p:spPr>
          <a:xfrm rot="-18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9525" cap="rnd" cmpd="sng">
            <a:solidFill>
              <a:srgbClr val="EAEAEA"/>
            </a:solidFill>
            <a:prstDash val="solid"/>
            <a:round/>
            <a:headEnd type="none" w="sm" len="sm"/>
            <a:tailEnd type="none" w="sm" len="sm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8" name="Google Shape;78;p11"/>
          <p:cNvSpPr txBox="1"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b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rgbClr val="FEF7F0"/>
              </a:buClr>
              <a:buSzPts val="3000"/>
              <a:buFont typeface="Trebuchet MS"/>
              <a:buNone/>
              <a:defRPr sz="3000" b="1">
                <a:solidFill>
                  <a:srgbClr val="FEF7F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body" idx="1"/>
          </p:nvPr>
        </p:nvSpPr>
        <p:spPr>
          <a:xfrm>
            <a:off x="5389098" y="3283634"/>
            <a:ext cx="342900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0" rIns="0" bIns="0" anchor="t" anchorCtr="0">
            <a:normAutofit/>
          </a:bodyPr>
          <a:lstStyle>
            <a:lvl1pPr marL="45720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22"/>
              <a:buFont typeface="Trebuchet MS"/>
              <a:buNone/>
              <a:defRPr sz="1400">
                <a:solidFill>
                  <a:schemeClr val="lt1"/>
                </a:solidFill>
              </a:defRPr>
            </a:lvl1pPr>
            <a:lvl2pPr marL="914400" lvl="1" indent="-289560" algn="r" rtl="1">
              <a:spcBef>
                <a:spcPts val="500"/>
              </a:spcBef>
              <a:spcAft>
                <a:spcPts val="0"/>
              </a:spcAft>
              <a:buSzPts val="960"/>
              <a:buChar char="◼"/>
              <a:defRPr sz="1200"/>
            </a:lvl2pPr>
            <a:lvl3pPr marL="1371600" lvl="2" indent="-266700" algn="r" rtl="1">
              <a:spcBef>
                <a:spcPts val="400"/>
              </a:spcBef>
              <a:spcAft>
                <a:spcPts val="0"/>
              </a:spcAft>
              <a:buSzPts val="600"/>
              <a:buChar char="🞆"/>
              <a:defRPr sz="1000"/>
            </a:lvl3pPr>
            <a:lvl4pPr marL="1828800" lvl="3" indent="-274319" algn="r" rtl="1">
              <a:spcBef>
                <a:spcPts val="180"/>
              </a:spcBef>
              <a:spcAft>
                <a:spcPts val="0"/>
              </a:spcAft>
              <a:buSzPts val="720"/>
              <a:buChar char="⚫"/>
              <a:defRPr sz="900"/>
            </a:lvl4pPr>
            <a:lvl5pPr marL="2286000" lvl="4" indent="-268604" algn="r" rtl="1">
              <a:spcBef>
                <a:spcPts val="400"/>
              </a:spcBef>
              <a:spcAft>
                <a:spcPts val="0"/>
              </a:spcAft>
              <a:buSzPts val="630"/>
              <a:buChar char="◉"/>
              <a:defRPr sz="900"/>
            </a:lvl5pPr>
            <a:lvl6pPr marL="2743200" lvl="5" indent="-320039" algn="r" rtl="1">
              <a:spcBef>
                <a:spcPts val="40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r" rtl="1">
              <a:spcBef>
                <a:spcPts val="360"/>
              </a:spcBef>
              <a:spcAft>
                <a:spcPts val="0"/>
              </a:spcAft>
              <a:buSzPts val="1440"/>
              <a:buChar char="◼"/>
              <a:defRPr/>
            </a:lvl7pPr>
            <a:lvl8pPr marL="3657600" lvl="7" indent="-342900" algn="r" rtl="1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r" rtl="1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dt" idx="10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ftr" idx="11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sldNum" idx="12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" name="Google Shape;83;p11"/>
          <p:cNvSpPr>
            <a:spLocks noGrp="1"/>
          </p:cNvSpPr>
          <p:nvPr>
            <p:ph type="pic" idx="2"/>
          </p:nvPr>
        </p:nvSpPr>
        <p:spPr>
          <a:xfrm>
            <a:off x="663682" y="1041002"/>
            <a:ext cx="4206240" cy="4206240"/>
          </a:xfrm>
          <a:prstGeom prst="rect">
            <a:avLst/>
          </a:prstGeom>
          <a:solidFill>
            <a:srgbClr val="812D70"/>
          </a:solidFill>
          <a:ln w="10795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b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rgbClr val="FEF7F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body" idx="1"/>
          </p:nvPr>
        </p:nvSpPr>
        <p:spPr>
          <a:xfrm rot="5400000">
            <a:off x="1653540" y="413076"/>
            <a:ext cx="4846320" cy="72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2039" algn="r" rtl="1">
              <a:spcBef>
                <a:spcPts val="600"/>
              </a:spcBef>
              <a:spcAft>
                <a:spcPts val="0"/>
              </a:spcAft>
              <a:buSzPts val="1314"/>
              <a:buChar char="⦿"/>
              <a:defRPr/>
            </a:lvl1pPr>
            <a:lvl2pPr marL="914400" lvl="1" indent="-320040" algn="r" rtl="1">
              <a:spcBef>
                <a:spcPts val="500"/>
              </a:spcBef>
              <a:spcAft>
                <a:spcPts val="0"/>
              </a:spcAft>
              <a:buSzPts val="1440"/>
              <a:buChar char="◼"/>
              <a:defRPr/>
            </a:lvl2pPr>
            <a:lvl3pPr marL="1371600" lvl="2" indent="-297180" algn="r" rtl="1">
              <a:spcBef>
                <a:spcPts val="400"/>
              </a:spcBef>
              <a:spcAft>
                <a:spcPts val="0"/>
              </a:spcAft>
              <a:buSzPts val="1080"/>
              <a:buChar char="🞆"/>
              <a:defRPr/>
            </a:lvl3pPr>
            <a:lvl4pPr marL="1828800" lvl="3" indent="-320039" algn="r" rtl="1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08610" algn="r" rtl="1">
              <a:spcBef>
                <a:spcPts val="400"/>
              </a:spcBef>
              <a:spcAft>
                <a:spcPts val="0"/>
              </a:spcAft>
              <a:buSzPts val="1260"/>
              <a:buChar char="◉"/>
              <a:defRPr/>
            </a:lvl5pPr>
            <a:lvl6pPr marL="2743200" lvl="5" indent="-320039" algn="r" rtl="1">
              <a:spcBef>
                <a:spcPts val="40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r" rtl="1">
              <a:spcBef>
                <a:spcPts val="360"/>
              </a:spcBef>
              <a:spcAft>
                <a:spcPts val="0"/>
              </a:spcAft>
              <a:buSzPts val="1440"/>
              <a:buChar char="◼"/>
              <a:defRPr/>
            </a:lvl7pPr>
            <a:lvl8pPr marL="3657600" lvl="7" indent="-342900" algn="r" rtl="1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r" rtl="1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dt" idx="10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ftr" idx="11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sldNum" idx="12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>
            <a:spLocks noGrp="1"/>
          </p:cNvSpPr>
          <p:nvPr>
            <p:ph type="title"/>
          </p:nvPr>
        </p:nvSpPr>
        <p:spPr>
          <a:xfrm rot="5400000">
            <a:off x="4389438" y="2438718"/>
            <a:ext cx="5851525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rgbClr val="FEF7F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4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2039" algn="r" rtl="1">
              <a:spcBef>
                <a:spcPts val="600"/>
              </a:spcBef>
              <a:spcAft>
                <a:spcPts val="0"/>
              </a:spcAft>
              <a:buSzPts val="1314"/>
              <a:buChar char="⦿"/>
              <a:defRPr/>
            </a:lvl1pPr>
            <a:lvl2pPr marL="914400" lvl="1" indent="-320040" algn="r" rtl="1">
              <a:spcBef>
                <a:spcPts val="500"/>
              </a:spcBef>
              <a:spcAft>
                <a:spcPts val="0"/>
              </a:spcAft>
              <a:buSzPts val="1440"/>
              <a:buChar char="◼"/>
              <a:defRPr/>
            </a:lvl2pPr>
            <a:lvl3pPr marL="1371600" lvl="2" indent="-297180" algn="r" rtl="1">
              <a:spcBef>
                <a:spcPts val="400"/>
              </a:spcBef>
              <a:spcAft>
                <a:spcPts val="0"/>
              </a:spcAft>
              <a:buSzPts val="1080"/>
              <a:buChar char="🞆"/>
              <a:defRPr/>
            </a:lvl3pPr>
            <a:lvl4pPr marL="1828800" lvl="3" indent="-320039" algn="r" rtl="1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08610" algn="r" rtl="1">
              <a:spcBef>
                <a:spcPts val="400"/>
              </a:spcBef>
              <a:spcAft>
                <a:spcPts val="0"/>
              </a:spcAft>
              <a:buSzPts val="1260"/>
              <a:buChar char="◉"/>
              <a:defRPr/>
            </a:lvl5pPr>
            <a:lvl6pPr marL="2743200" lvl="5" indent="-320039" algn="r" rtl="1">
              <a:spcBef>
                <a:spcPts val="40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r" rtl="1">
              <a:spcBef>
                <a:spcPts val="360"/>
              </a:spcBef>
              <a:spcAft>
                <a:spcPts val="0"/>
              </a:spcAft>
              <a:buSzPts val="1440"/>
              <a:buChar char="◼"/>
              <a:defRPr/>
            </a:lvl7pPr>
            <a:lvl8pPr marL="3657600" lvl="7" indent="-342900" algn="r" rtl="1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r" rtl="1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dt" idx="10"/>
          </p:nvPr>
        </p:nvSpPr>
        <p:spPr>
          <a:xfrm>
            <a:off x="4242816" y="6557946"/>
            <a:ext cx="2002464" cy="226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ftr" idx="11"/>
          </p:nvPr>
        </p:nvSpPr>
        <p:spPr>
          <a:xfrm>
            <a:off x="457200" y="655624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ldNum" idx="12"/>
          </p:nvPr>
        </p:nvSpPr>
        <p:spPr>
          <a:xfrm>
            <a:off x="6254496" y="6553200"/>
            <a:ext cx="58833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lvl="1" indent="0" algn="r" rtl="1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lvl="2" indent="0" algn="r" rtl="1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lvl="3" indent="0" algn="r" rtl="1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lvl="4" indent="0" algn="r" rtl="1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lvl="5" indent="0" algn="r" rtl="1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lvl="6" indent="0" algn="r" rtl="1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lvl="7" indent="0" algn="r" rtl="1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lvl="8" indent="0" algn="r" rtl="1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 rotWithShape="1">
            <a:blip r:embed="rId14">
              <a:alphaModFix amt="43000"/>
            </a:blip>
            <a:tile tx="0" ty="0" sx="50000" sy="50000" flip="none" algn="tl"/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b" anchorCtr="0">
            <a:normAutofit/>
          </a:bodyPr>
          <a:lstStyle>
            <a:lvl1pPr marR="0" lvl="0" algn="l" rtl="1">
              <a:spcBef>
                <a:spcPts val="0"/>
              </a:spcBef>
              <a:spcAft>
                <a:spcPts val="0"/>
              </a:spcAft>
              <a:buClr>
                <a:srgbClr val="FEF7F0"/>
              </a:buClr>
              <a:buSzPts val="3800"/>
              <a:buFont typeface="Trebuchet MS"/>
              <a:buNone/>
              <a:defRPr sz="3800" b="1" i="0" u="none" strike="noStrike" cap="none">
                <a:solidFill>
                  <a:srgbClr val="FEF7F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9123" algn="r" rtl="1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98"/>
              <a:buFont typeface="Noto Sans Symbols"/>
              <a:buChar char="⦿"/>
              <a:defRPr sz="26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45440" algn="r" rtl="1"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40"/>
              <a:buFont typeface="Noto Sans Symbols"/>
              <a:buChar char="◼"/>
              <a:defRPr sz="2300" b="0" i="0" u="none" strike="noStrike" cap="none">
                <a:solidFill>
                  <a:srgbClr val="6C6C6C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04800" algn="r" rtl="1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Noto Sans Symbols"/>
              <a:buChar char="🞆"/>
              <a:defRPr sz="2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30200" algn="r" rtl="1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⚫"/>
              <a:defRPr sz="2000" b="0" i="0" u="none" strike="noStrike" cap="none">
                <a:solidFill>
                  <a:srgbClr val="6C6C6C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08610" algn="r" rtl="1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260"/>
              <a:buFont typeface="Noto Sans Symbols"/>
              <a:buChar char="◉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20039" algn="r" rtl="1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rgbClr val="6C6C6C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09879" algn="r" rtl="1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◼"/>
              <a:defRPr sz="16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30200" algn="r" rtl="1">
              <a:spcBef>
                <a:spcPts val="3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Trebuchet MS"/>
              <a:buChar char="•"/>
              <a:defRPr sz="1600" b="0" i="0" u="none" strike="noStrike" cap="none">
                <a:solidFill>
                  <a:srgbClr val="6C6C6C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17500" algn="r" rtl="1">
              <a:spcBef>
                <a:spcPts val="28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dt" idx="10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R="0"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ftr" idx="11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R="0"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1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1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1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1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1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1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1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1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1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>
            <a:spLocks noGrp="1"/>
          </p:cNvSpPr>
          <p:nvPr>
            <p:ph type="ctrTitle"/>
          </p:nvPr>
        </p:nvSpPr>
        <p:spPr>
          <a:xfrm>
            <a:off x="1228756" y="260191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rgbClr val="FEF7F0"/>
              </a:buClr>
              <a:buSzPts val="4200"/>
              <a:buFont typeface="Trebuchet MS"/>
              <a:buNone/>
            </a:pPr>
            <a:r>
              <a:rPr lang="en-US"/>
              <a:t>SYNCOPE AND FAINTING </a:t>
            </a:r>
            <a:endParaRPr/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1"/>
          </p:nvPr>
        </p:nvSpPr>
        <p:spPr>
          <a:xfrm>
            <a:off x="3354442" y="4328016"/>
            <a:ext cx="5114778" cy="110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752"/>
              <a:buNone/>
            </a:pPr>
            <a:endParaRPr dirty="0"/>
          </a:p>
        </p:txBody>
      </p:sp>
      <p:sp>
        <p:nvSpPr>
          <p:cNvPr id="102" name="Google Shape;102;p14"/>
          <p:cNvSpPr/>
          <p:nvPr/>
        </p:nvSpPr>
        <p:spPr>
          <a:xfrm>
            <a:off x="-32" y="1142984"/>
            <a:ext cx="2643206" cy="714380"/>
          </a:xfrm>
          <a:prstGeom prst="rect">
            <a:avLst/>
          </a:prstGeom>
          <a:solidFill>
            <a:schemeClr val="accent1"/>
          </a:solidFill>
          <a:ln w="40000" cap="flat" cmpd="sng">
            <a:solidFill>
              <a:srgbClr val="862C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Problem solving module II</a:t>
            </a:r>
            <a:endParaRPr sz="18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3" name="Google Shape;103;p14" descr="AnatomyProf[1]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0" y="500042"/>
            <a:ext cx="2628904" cy="2624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>
            <a:spLocks noGrp="1"/>
          </p:cNvSpPr>
          <p:nvPr>
            <p:ph type="title"/>
          </p:nvPr>
        </p:nvSpPr>
        <p:spPr>
          <a:xfrm>
            <a:off x="457200" y="214290"/>
            <a:ext cx="7239000" cy="96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b" anchorCtr="0">
            <a:normAutofit/>
          </a:bodyPr>
          <a:lstStyle/>
          <a:p>
            <a:pPr marL="0" lvl="0" indent="0" algn="l" rtl="1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Trebuchet MS"/>
              <a:buNone/>
            </a:pPr>
            <a:r>
              <a:rPr lang="en-US" sz="3600" cap="none">
                <a:solidFill>
                  <a:srgbClr val="FF0000"/>
                </a:solidFill>
              </a:rPr>
              <a:t>Syncope-presyncope or Faint</a:t>
            </a:r>
            <a:endParaRPr sz="3600" cap="none">
              <a:solidFill>
                <a:srgbClr val="FF0000"/>
              </a:solidFill>
            </a:endParaRPr>
          </a:p>
        </p:txBody>
      </p:sp>
      <p:sp>
        <p:nvSpPr>
          <p:cNvPr id="109" name="Google Shape;109;p15"/>
          <p:cNvSpPr txBox="1">
            <a:spLocks noGrp="1"/>
          </p:cNvSpPr>
          <p:nvPr>
            <p:ph type="body" idx="1"/>
          </p:nvPr>
        </p:nvSpPr>
        <p:spPr>
          <a:xfrm>
            <a:off x="285720" y="1428736"/>
            <a:ext cx="7429552" cy="484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ts val="2044"/>
              <a:buChar char="⦿"/>
            </a:pPr>
            <a:r>
              <a:rPr lang="en-US" sz="2800" b="1"/>
              <a:t>Syncope :</a:t>
            </a:r>
            <a:r>
              <a:rPr lang="en-US" sz="2800">
                <a:solidFill>
                  <a:srgbClr val="FF0000"/>
                </a:solidFill>
              </a:rPr>
              <a:t> </a:t>
            </a:r>
            <a:r>
              <a:rPr lang="en-US"/>
              <a:t>Transient  episodic loss of consciousness with loss of postural tone </a:t>
            </a:r>
            <a:r>
              <a:rPr lang="en-US" u="sng"/>
              <a:t>due to cerebral or brain stem  hypo perfusion</a:t>
            </a:r>
            <a:r>
              <a:rPr lang="en-US"/>
              <a:t>.</a:t>
            </a:r>
            <a:endParaRPr/>
          </a:p>
          <a:p>
            <a:pPr marL="274320" lvl="0" indent="-153797" algn="l" rtl="0">
              <a:spcBef>
                <a:spcPts val="600"/>
              </a:spcBef>
              <a:spcAft>
                <a:spcPts val="0"/>
              </a:spcAft>
              <a:buSzPts val="1898"/>
              <a:buNone/>
            </a:pP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ts val="1898"/>
              <a:buChar char="⦿"/>
            </a:pPr>
            <a:r>
              <a:rPr lang="en-US" b="1"/>
              <a:t>blackout=</a:t>
            </a:r>
            <a:r>
              <a:rPr lang="en-US"/>
              <a:t>wide term. 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ts val="1898"/>
              <a:buChar char="⦿"/>
            </a:pPr>
            <a:r>
              <a:rPr lang="en-US" b="1"/>
              <a:t>Pre syncope or faint</a:t>
            </a:r>
            <a:r>
              <a:rPr lang="en-US"/>
              <a:t> ? It is lightheadedness or pre monitory symptoms before syncope (patient  is going to have syncope).</a:t>
            </a:r>
            <a:endParaRPr/>
          </a:p>
          <a:p>
            <a:pPr marL="274320" lvl="0" indent="-153797" algn="r" rtl="1">
              <a:spcBef>
                <a:spcPts val="600"/>
              </a:spcBef>
              <a:spcAft>
                <a:spcPts val="0"/>
              </a:spcAft>
              <a:buSzPts val="1898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>
            <a:spLocks noGrp="1"/>
          </p:cNvSpPr>
          <p:nvPr>
            <p:ph type="title"/>
          </p:nvPr>
        </p:nvSpPr>
        <p:spPr>
          <a:xfrm>
            <a:off x="-714412" y="214290"/>
            <a:ext cx="7481918" cy="1143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b" anchorCtr="0">
            <a:norm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Clr>
                <a:srgbClr val="FEF7F0"/>
              </a:buClr>
              <a:buSzPts val="2400"/>
              <a:buFont typeface="Arial Black"/>
              <a:buNone/>
            </a:pPr>
            <a:r>
              <a:rPr lang="en-US" sz="2400" cap="none">
                <a:latin typeface="Arial Black"/>
                <a:ea typeface="Arial Black"/>
                <a:cs typeface="Arial Black"/>
                <a:sym typeface="Arial Black"/>
              </a:rPr>
              <a:t>In This Lecture </a:t>
            </a:r>
            <a:br>
              <a:rPr lang="en-US" sz="2400" cap="none"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n-US" sz="2400" cap="none">
                <a:latin typeface="Arial Black"/>
                <a:ea typeface="Arial Black"/>
                <a:cs typeface="Arial Black"/>
                <a:sym typeface="Arial Black"/>
              </a:rPr>
              <a:t>(Syncope And Fainting)</a:t>
            </a:r>
            <a:br>
              <a:rPr lang="en-US" sz="2400" cap="none">
                <a:latin typeface="Arial Black"/>
                <a:ea typeface="Arial Black"/>
                <a:cs typeface="Arial Black"/>
                <a:sym typeface="Arial Black"/>
              </a:rPr>
            </a:br>
            <a:endParaRPr sz="2400" cap="none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15" name="Google Shape;115;p16"/>
          <p:cNvSpPr txBox="1">
            <a:spLocks noGrp="1"/>
          </p:cNvSpPr>
          <p:nvPr>
            <p:ph type="body" idx="1"/>
          </p:nvPr>
        </p:nvSpPr>
        <p:spPr>
          <a:xfrm>
            <a:off x="0" y="1214422"/>
            <a:ext cx="8072462" cy="6215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74320" lvl="0" indent="-274320" algn="just" rtl="0">
              <a:spcBef>
                <a:spcPts val="0"/>
              </a:spcBef>
              <a:spcAft>
                <a:spcPts val="0"/>
              </a:spcAft>
              <a:buSzPct val="72999"/>
              <a:buChar char="⦿"/>
            </a:pPr>
            <a:r>
              <a:rPr lang="en-US">
                <a:solidFill>
                  <a:srgbClr val="7F7F7F"/>
                </a:solidFill>
              </a:rPr>
              <a:t>Consciousness and it’s elements.</a:t>
            </a:r>
            <a:endParaRPr/>
          </a:p>
          <a:p>
            <a:pPr marL="274320" lvl="0" indent="-274320" algn="just" rtl="0">
              <a:spcBef>
                <a:spcPts val="600"/>
              </a:spcBef>
              <a:spcAft>
                <a:spcPts val="0"/>
              </a:spcAft>
              <a:buSzPct val="72999"/>
              <a:buChar char="⦿"/>
            </a:pPr>
            <a:r>
              <a:rPr lang="en-US">
                <a:solidFill>
                  <a:srgbClr val="7F7F7F"/>
                </a:solidFill>
              </a:rPr>
              <a:t>Mechanism of consciousness, factors affecting it? clinical effect ?</a:t>
            </a:r>
            <a:endParaRPr/>
          </a:p>
          <a:p>
            <a:pPr marL="274320" lvl="0" indent="-274320" algn="just" rtl="0">
              <a:spcBef>
                <a:spcPts val="600"/>
              </a:spcBef>
              <a:spcAft>
                <a:spcPts val="0"/>
              </a:spcAft>
              <a:buSzPct val="72999"/>
              <a:buChar char="⦿"/>
            </a:pPr>
            <a:r>
              <a:rPr lang="en-US">
                <a:solidFill>
                  <a:srgbClr val="7F7F7F"/>
                </a:solidFill>
              </a:rPr>
              <a:t>Basic anatomy of nervous system.</a:t>
            </a:r>
            <a:endParaRPr/>
          </a:p>
          <a:p>
            <a:pPr marL="274320" lvl="0" indent="-274320" algn="just" rtl="0">
              <a:spcBef>
                <a:spcPts val="600"/>
              </a:spcBef>
              <a:spcAft>
                <a:spcPts val="0"/>
              </a:spcAft>
              <a:buSzPct val="72999"/>
              <a:buChar char="⦿"/>
            </a:pPr>
            <a:r>
              <a:rPr lang="en-US"/>
              <a:t>Common clinical causes of syncope ? Draw concept map for each cause if possible in group discussion session.</a:t>
            </a:r>
            <a:endParaRPr/>
          </a:p>
          <a:p>
            <a:pPr marL="274320" lvl="0" indent="-274320" algn="just" rtl="0">
              <a:spcBef>
                <a:spcPts val="600"/>
              </a:spcBef>
              <a:spcAft>
                <a:spcPts val="0"/>
              </a:spcAft>
              <a:buSzPct val="72999"/>
              <a:buChar char="⦿"/>
            </a:pPr>
            <a:r>
              <a:rPr lang="en-US"/>
              <a:t>Approach and clinical scenario to differentiate between different causes? Behave like a doctor? </a:t>
            </a:r>
            <a:endParaRPr/>
          </a:p>
          <a:p>
            <a:pPr marL="274320" lvl="0" indent="-274320" algn="just" rtl="0">
              <a:spcBef>
                <a:spcPts val="600"/>
              </a:spcBef>
              <a:spcAft>
                <a:spcPts val="0"/>
              </a:spcAft>
              <a:buSzPct val="72999"/>
              <a:buNone/>
            </a:pPr>
            <a:r>
              <a:rPr lang="en-US"/>
              <a:t>1-History and examination.</a:t>
            </a:r>
            <a:endParaRPr>
              <a:solidFill>
                <a:srgbClr val="FF0000"/>
              </a:solidFill>
            </a:endParaRPr>
          </a:p>
          <a:p>
            <a:pPr marL="274320" lvl="0" indent="-274320" algn="just" rtl="0">
              <a:spcBef>
                <a:spcPts val="600"/>
              </a:spcBef>
              <a:spcAft>
                <a:spcPts val="0"/>
              </a:spcAft>
              <a:buSzPct val="72999"/>
              <a:buNone/>
            </a:pPr>
            <a:r>
              <a:rPr lang="en-US">
                <a:solidFill>
                  <a:srgbClr val="FF0000"/>
                </a:solidFill>
              </a:rPr>
              <a:t>*From good history: decide type of pt. complain , causes then ask</a:t>
            </a:r>
            <a:r>
              <a:rPr lang="en-US"/>
              <a:t> </a:t>
            </a:r>
            <a:r>
              <a:rPr lang="en-US" u="sng">
                <a:solidFill>
                  <a:srgbClr val="FF0000"/>
                </a:solidFill>
              </a:rPr>
              <a:t>good questions </a:t>
            </a:r>
            <a:r>
              <a:rPr lang="en-US">
                <a:solidFill>
                  <a:srgbClr val="FF0000"/>
                </a:solidFill>
              </a:rPr>
              <a:t>for confirming or rule out certain cause (Crossing words ,It is an Art ,art, art, art* you can get it by exercise). </a:t>
            </a:r>
            <a:endParaRPr/>
          </a:p>
          <a:p>
            <a:pPr marL="274320" lvl="0" indent="-274320" algn="just" rtl="0">
              <a:spcBef>
                <a:spcPts val="600"/>
              </a:spcBef>
              <a:spcAft>
                <a:spcPts val="0"/>
              </a:spcAft>
              <a:buSzPct val="72999"/>
              <a:buNone/>
            </a:pPr>
            <a:r>
              <a:rPr lang="en-US"/>
              <a:t>2-Investigations help to rule out or confirm different causes?</a:t>
            </a:r>
            <a:endParaRPr/>
          </a:p>
          <a:p>
            <a:pPr marL="274320" lvl="0" indent="-274320" algn="just" rtl="0">
              <a:spcBef>
                <a:spcPts val="600"/>
              </a:spcBef>
              <a:spcAft>
                <a:spcPts val="0"/>
              </a:spcAft>
              <a:buSzPct val="72999"/>
              <a:buNone/>
            </a:pPr>
            <a:r>
              <a:rPr lang="en-US"/>
              <a:t>3-Treatment of common causes. (Later on)</a:t>
            </a:r>
            <a:endParaRPr/>
          </a:p>
          <a:p>
            <a:pPr marL="274320" lvl="0" indent="-274320" algn="just" rtl="0">
              <a:spcBef>
                <a:spcPts val="600"/>
              </a:spcBef>
              <a:spcAft>
                <a:spcPts val="0"/>
              </a:spcAft>
              <a:buSzPct val="72999"/>
              <a:buNone/>
            </a:pPr>
            <a:r>
              <a:rPr lang="en-US"/>
              <a:t> </a:t>
            </a:r>
            <a:endParaRPr/>
          </a:p>
          <a:p>
            <a:pPr marL="274320" lvl="0" indent="-162836" algn="just" rtl="0">
              <a:spcBef>
                <a:spcPts val="600"/>
              </a:spcBef>
              <a:spcAft>
                <a:spcPts val="0"/>
              </a:spcAft>
              <a:buSzPct val="72999"/>
              <a:buNone/>
            </a:pPr>
            <a:endParaRPr/>
          </a:p>
          <a:p>
            <a:pPr marL="274320" lvl="0" indent="-274320" algn="just" rtl="0">
              <a:spcBef>
                <a:spcPts val="600"/>
              </a:spcBef>
              <a:spcAft>
                <a:spcPts val="0"/>
              </a:spcAft>
              <a:buSzPct val="72999"/>
              <a:buNone/>
            </a:pPr>
            <a:endParaRPr/>
          </a:p>
        </p:txBody>
      </p:sp>
      <p:pic>
        <p:nvPicPr>
          <p:cNvPr id="116" name="Google Shape;116;p16" descr="Hammock 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03728" y="0"/>
            <a:ext cx="2440172" cy="1571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>
            <a:spLocks noGrp="1"/>
          </p:cNvSpPr>
          <p:nvPr>
            <p:ph type="title"/>
          </p:nvPr>
        </p:nvSpPr>
        <p:spPr>
          <a:xfrm>
            <a:off x="0" y="0"/>
            <a:ext cx="4876800" cy="1143000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0" rIns="45700" bIns="0" anchor="b" anchorCtr="0">
            <a:normAutofit/>
          </a:bodyPr>
          <a:lstStyle/>
          <a:p>
            <a:pPr marL="0" lvl="0" indent="0" algn="l" rtl="1">
              <a:spcBef>
                <a:spcPts val="0"/>
              </a:spcBef>
              <a:spcAft>
                <a:spcPts val="0"/>
              </a:spcAft>
              <a:buClr>
                <a:srgbClr val="FEF7F0"/>
              </a:buClr>
              <a:buSzPts val="3600"/>
              <a:buFont typeface="Trebuchet MS"/>
              <a:buNone/>
            </a:pPr>
            <a:r>
              <a:rPr lang="en-US" sz="3600"/>
              <a:t>ORGANIZATION OF THE NERVOUS SYSTEM</a:t>
            </a:r>
            <a:endParaRPr/>
          </a:p>
        </p:txBody>
      </p:sp>
      <p:sp>
        <p:nvSpPr>
          <p:cNvPr id="123" name="Google Shape;123;p17"/>
          <p:cNvSpPr txBox="1">
            <a:spLocks noGrp="1"/>
          </p:cNvSpPr>
          <p:nvPr>
            <p:ph type="body" idx="1"/>
          </p:nvPr>
        </p:nvSpPr>
        <p:spPr>
          <a:xfrm>
            <a:off x="285720" y="1571612"/>
            <a:ext cx="5214974" cy="535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33400" lvl="0" indent="-5334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60"/>
              <a:buChar char="⦿"/>
            </a:pPr>
            <a:r>
              <a:rPr lang="en-US" sz="2000"/>
              <a:t>2 big initial divisions:</a:t>
            </a:r>
            <a:endParaRPr/>
          </a:p>
          <a:p>
            <a:pPr marL="914400" lvl="1" indent="-4572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Trebuchet MS"/>
              <a:buAutoNum type="arabicPeriod"/>
            </a:pPr>
            <a:r>
              <a:rPr lang="en-US" sz="2000">
                <a:solidFill>
                  <a:srgbClr val="FF0000"/>
                </a:solidFill>
              </a:rPr>
              <a:t>Central Nervous System</a:t>
            </a:r>
            <a:endParaRPr/>
          </a:p>
          <a:p>
            <a:pPr marL="1295400" lvl="2" indent="-3810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200"/>
              <a:buChar char="🞆"/>
            </a:pPr>
            <a:r>
              <a:rPr lang="en-US" b="1"/>
              <a:t>The brain + the spinal cord</a:t>
            </a:r>
            <a:endParaRPr/>
          </a:p>
          <a:p>
            <a:pPr marL="1714500" lvl="3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600"/>
              <a:buChar char="⚫"/>
            </a:pPr>
            <a:r>
              <a:rPr lang="en-US" b="1"/>
              <a:t>The center of integration and control</a:t>
            </a:r>
            <a:endParaRPr/>
          </a:p>
          <a:p>
            <a:pPr marL="1714500" lvl="3" indent="-2413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</a:pPr>
            <a:endParaRPr b="1">
              <a:solidFill>
                <a:srgbClr val="FF0000"/>
              </a:solidFill>
            </a:endParaRPr>
          </a:p>
          <a:p>
            <a:pPr marL="914400" lvl="1" indent="-4572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Trebuchet MS"/>
              <a:buAutoNum type="arabicPeriod"/>
            </a:pPr>
            <a:r>
              <a:rPr lang="en-US" sz="2000">
                <a:solidFill>
                  <a:srgbClr val="FF0000"/>
                </a:solidFill>
              </a:rPr>
              <a:t>Peripheral Nervous System</a:t>
            </a:r>
            <a:endParaRPr/>
          </a:p>
          <a:p>
            <a:pPr marL="1295400" lvl="2" indent="-3810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200"/>
              <a:buChar char="🞆"/>
            </a:pPr>
            <a:r>
              <a:rPr lang="en-US" b="1"/>
              <a:t>The nervous system outside of the brain and spinal cord</a:t>
            </a:r>
            <a:endParaRPr/>
          </a:p>
          <a:p>
            <a:pPr marL="1295400" lvl="2" indent="-3810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200"/>
              <a:buChar char="🞆"/>
            </a:pPr>
            <a:r>
              <a:rPr lang="en-US" b="1"/>
              <a:t>Consists of:</a:t>
            </a:r>
            <a:endParaRPr/>
          </a:p>
          <a:p>
            <a:pPr marL="1714500" lvl="3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600"/>
              <a:buChar char="⚫"/>
            </a:pPr>
            <a:r>
              <a:rPr lang="en-US" b="1">
                <a:solidFill>
                  <a:srgbClr val="FF0000"/>
                </a:solidFill>
              </a:rPr>
              <a:t>31 Spinal nerves</a:t>
            </a:r>
            <a:endParaRPr/>
          </a:p>
          <a:p>
            <a:pPr marL="2171700" lvl="4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400"/>
              <a:buChar char="◉"/>
            </a:pPr>
            <a:r>
              <a:rPr lang="en-US" sz="2000" b="1"/>
              <a:t>Carry info to and from the spinal cord</a:t>
            </a:r>
            <a:endParaRPr/>
          </a:p>
          <a:p>
            <a:pPr marL="1714500" lvl="3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600"/>
              <a:buChar char="⚫"/>
            </a:pPr>
            <a:r>
              <a:rPr lang="en-US" b="1">
                <a:solidFill>
                  <a:srgbClr val="FF0000"/>
                </a:solidFill>
              </a:rPr>
              <a:t>12 Cranial nerves </a:t>
            </a:r>
            <a:endParaRPr/>
          </a:p>
          <a:p>
            <a:pPr marL="2171700" lvl="4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400"/>
              <a:buChar char="◉"/>
            </a:pPr>
            <a:r>
              <a:rPr lang="en-US" sz="2000" b="1"/>
              <a:t>Carry info to and from the brain</a:t>
            </a:r>
            <a:endParaRPr/>
          </a:p>
        </p:txBody>
      </p:sp>
      <p:pic>
        <p:nvPicPr>
          <p:cNvPr id="124" name="Google Shape;124;p17" descr="FG09_01e"/>
          <p:cNvPicPr preferRelativeResize="0"/>
          <p:nvPr/>
        </p:nvPicPr>
        <p:blipFill rotWithShape="1">
          <a:blip r:embed="rId3">
            <a:alphaModFix/>
          </a:blip>
          <a:srcRect l="35431" r="32898"/>
          <a:stretch/>
        </p:blipFill>
        <p:spPr>
          <a:xfrm>
            <a:off x="6248400" y="0"/>
            <a:ext cx="2895600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5" name="Google Shape;125;p17"/>
          <p:cNvCxnSpPr/>
          <p:nvPr/>
        </p:nvCxnSpPr>
        <p:spPr>
          <a:xfrm rot="10800000">
            <a:off x="6324600" y="1524000"/>
            <a:ext cx="838200" cy="0"/>
          </a:xfrm>
          <a:prstGeom prst="straightConnector1">
            <a:avLst/>
          </a:prstGeom>
          <a:noFill/>
          <a:ln w="57150" cap="flat" cmpd="sng">
            <a:solidFill>
              <a:srgbClr val="33339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6" name="Google Shape;126;p17"/>
          <p:cNvCxnSpPr/>
          <p:nvPr/>
        </p:nvCxnSpPr>
        <p:spPr>
          <a:xfrm flipH="1">
            <a:off x="7010400" y="4648200"/>
            <a:ext cx="228600" cy="175260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7" name="Google Shape;127;p17"/>
          <p:cNvCxnSpPr/>
          <p:nvPr/>
        </p:nvCxnSpPr>
        <p:spPr>
          <a:xfrm rot="10800000">
            <a:off x="6629400" y="2819400"/>
            <a:ext cx="838200" cy="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8" name="Google Shape;128;p17"/>
          <p:cNvCxnSpPr/>
          <p:nvPr/>
        </p:nvCxnSpPr>
        <p:spPr>
          <a:xfrm rot="10800000">
            <a:off x="6477000" y="3886200"/>
            <a:ext cx="838200" cy="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0" rIns="45700" bIns="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EF7F0"/>
              </a:buClr>
              <a:buSzPts val="3800"/>
              <a:buFont typeface="Trebuchet MS"/>
              <a:buNone/>
            </a:pPr>
            <a:r>
              <a:rPr lang="en-US" b="0"/>
              <a:t>AUTONOMIC NERVOUS SYSTEM</a:t>
            </a:r>
            <a:endParaRPr/>
          </a:p>
        </p:txBody>
      </p:sp>
      <p:sp>
        <p:nvSpPr>
          <p:cNvPr id="135" name="Google Shape;135;p18"/>
          <p:cNvSpPr txBox="1">
            <a:spLocks noGrp="1"/>
          </p:cNvSpPr>
          <p:nvPr>
            <p:ph type="body" idx="1"/>
          </p:nvPr>
        </p:nvSpPr>
        <p:spPr>
          <a:xfrm>
            <a:off x="2214570" y="1295400"/>
            <a:ext cx="34290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ts val="1752"/>
              <a:buChar char="⦿"/>
            </a:pPr>
            <a:r>
              <a:rPr lang="en-US" sz="2400"/>
              <a:t>Can be divided into:</a:t>
            </a:r>
            <a:endParaRPr/>
          </a:p>
          <a:p>
            <a:pPr marL="521208" lvl="1" indent="-228600" algn="l" rtl="0">
              <a:spcBef>
                <a:spcPts val="500"/>
              </a:spcBef>
              <a:spcAft>
                <a:spcPts val="0"/>
              </a:spcAft>
              <a:buSzPts val="1600"/>
              <a:buChar char="◼"/>
            </a:pPr>
            <a:r>
              <a:rPr lang="en-US" sz="2000" b="1">
                <a:solidFill>
                  <a:srgbClr val="FF0000"/>
                </a:solidFill>
              </a:rPr>
              <a:t>Sympathetic Nervous         System</a:t>
            </a:r>
            <a:endParaRPr/>
          </a:p>
          <a:p>
            <a:pPr marL="758952" lvl="2" indent="-228600" algn="l" rtl="0">
              <a:spcBef>
                <a:spcPts val="400"/>
              </a:spcBef>
              <a:spcAft>
                <a:spcPts val="0"/>
              </a:spcAft>
              <a:buSzPts val="1080"/>
              <a:buChar char="🞆"/>
            </a:pPr>
            <a:r>
              <a:rPr lang="en-US" sz="1800" b="1"/>
              <a:t>“Fight or Flight”</a:t>
            </a:r>
            <a:endParaRPr/>
          </a:p>
          <a:p>
            <a:pPr marL="521208" lvl="1" indent="-228600" algn="l" rtl="0">
              <a:spcBef>
                <a:spcPts val="500"/>
              </a:spcBef>
              <a:spcAft>
                <a:spcPts val="0"/>
              </a:spcAft>
              <a:buSzPts val="1600"/>
              <a:buChar char="◼"/>
            </a:pPr>
            <a:r>
              <a:rPr lang="en-US" sz="2000" b="1">
                <a:solidFill>
                  <a:srgbClr val="FF0000"/>
                </a:solidFill>
              </a:rPr>
              <a:t>Parasympathetic             Nervous System</a:t>
            </a:r>
            <a:endParaRPr/>
          </a:p>
          <a:p>
            <a:pPr marL="758952" lvl="2" indent="-228600" algn="l" rtl="0">
              <a:spcBef>
                <a:spcPts val="400"/>
              </a:spcBef>
              <a:spcAft>
                <a:spcPts val="0"/>
              </a:spcAft>
              <a:buSzPts val="1080"/>
              <a:buChar char="🞆"/>
            </a:pPr>
            <a:r>
              <a:rPr lang="en-US" sz="1800" b="1"/>
              <a:t>“Rest and Digest”</a:t>
            </a:r>
            <a:endParaRPr/>
          </a:p>
          <a:p>
            <a:pPr marL="1005839" lvl="3" indent="-147319" algn="l" rtl="0">
              <a:spcBef>
                <a:spcPts val="320"/>
              </a:spcBef>
              <a:spcAft>
                <a:spcPts val="0"/>
              </a:spcAft>
              <a:buSzPts val="1280"/>
              <a:buNone/>
            </a:pPr>
            <a:endParaRPr sz="1600" b="1"/>
          </a:p>
          <a:p>
            <a:pPr marL="758952" lvl="2" indent="-228600" algn="l" rtl="0">
              <a:spcBef>
                <a:spcPts val="400"/>
              </a:spcBef>
              <a:spcAft>
                <a:spcPts val="0"/>
              </a:spcAft>
              <a:buSzPts val="1080"/>
              <a:buFont typeface="Noto Sans Symbols"/>
              <a:buNone/>
            </a:pPr>
            <a:endParaRPr sz="1800" b="1"/>
          </a:p>
        </p:txBody>
      </p:sp>
      <p:sp>
        <p:nvSpPr>
          <p:cNvPr id="136" name="Google Shape;136;p18"/>
          <p:cNvSpPr/>
          <p:nvPr/>
        </p:nvSpPr>
        <p:spPr>
          <a:xfrm>
            <a:off x="642910" y="4143380"/>
            <a:ext cx="7072362" cy="207170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600200" marR="0" lvl="3" indent="-2286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	These 2 systems are antagonistic.</a:t>
            </a:r>
            <a:endParaRPr/>
          </a:p>
          <a:p>
            <a:pPr marL="1600200" marR="0" lvl="3" indent="-22860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	Typically, we balance these 2 to keep ourselves in a state of dynamic balance.</a:t>
            </a:r>
            <a:endParaRPr/>
          </a:p>
          <a:p>
            <a:pPr marL="1600200" marR="0" lvl="3" indent="-22860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	We’ll go further into the difference between these 2 later on !</a:t>
            </a:r>
            <a:endParaRPr/>
          </a:p>
          <a:p>
            <a:pPr marL="1143000" marR="0" lvl="2" indent="-228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Noto Sans Symbols"/>
              <a:buNone/>
            </a:pPr>
            <a:endParaRPr sz="2000" b="0" i="0" u="none" strike="noStrike" cap="none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 txBox="1">
            <a:spLocks noGrp="1"/>
          </p:cNvSpPr>
          <p:nvPr>
            <p:ph type="title"/>
          </p:nvPr>
        </p:nvSpPr>
        <p:spPr>
          <a:xfrm>
            <a:off x="457200" y="-24"/>
            <a:ext cx="8229600" cy="868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b" anchorCtr="0">
            <a:normAutofit/>
          </a:bodyPr>
          <a:lstStyle/>
          <a:p>
            <a:pPr marL="0" lvl="0" indent="0" algn="l" rtl="1">
              <a:spcBef>
                <a:spcPts val="0"/>
              </a:spcBef>
              <a:spcAft>
                <a:spcPts val="0"/>
              </a:spcAft>
              <a:buClr>
                <a:srgbClr val="FEF7F0"/>
              </a:buClr>
              <a:buSzPts val="3800"/>
              <a:buFont typeface="Trebuchet MS"/>
              <a:buNone/>
            </a:pPr>
            <a:r>
              <a:rPr lang="en-US" cap="none"/>
              <a:t>Definitions</a:t>
            </a:r>
            <a:endParaRPr cap="none"/>
          </a:p>
        </p:txBody>
      </p:sp>
      <p:sp>
        <p:nvSpPr>
          <p:cNvPr id="143" name="Google Shape;143;p19"/>
          <p:cNvSpPr txBox="1">
            <a:spLocks noGrp="1"/>
          </p:cNvSpPr>
          <p:nvPr>
            <p:ph type="body" idx="1"/>
          </p:nvPr>
        </p:nvSpPr>
        <p:spPr>
          <a:xfrm>
            <a:off x="28572" y="928670"/>
            <a:ext cx="8472518" cy="5857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ts val="1898"/>
              <a:buChar char="⦿"/>
            </a:pPr>
            <a:r>
              <a:rPr lang="en-US" b="1"/>
              <a:t>Consciousness</a:t>
            </a:r>
            <a:r>
              <a:rPr lang="en-US"/>
              <a:t>? Ability to maintain contact to the environment(time ,person, and place? how?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ts val="1898"/>
              <a:buNone/>
            </a:pPr>
            <a:r>
              <a:rPr lang="en-US"/>
              <a:t>Continuous  </a:t>
            </a:r>
            <a:r>
              <a:rPr lang="en-US" b="1" u="sng"/>
              <a:t>bilateral </a:t>
            </a:r>
            <a:r>
              <a:rPr lang="en-US"/>
              <a:t>signals from </a:t>
            </a:r>
            <a:r>
              <a:rPr lang="en-US" b="1"/>
              <a:t>mid pons </a:t>
            </a:r>
            <a:r>
              <a:rPr lang="en-US"/>
              <a:t>to both </a:t>
            </a:r>
            <a:r>
              <a:rPr lang="en-US" b="1"/>
              <a:t>thalami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ts val="1898"/>
              <a:buNone/>
            </a:pPr>
            <a:r>
              <a:rPr lang="en-US"/>
              <a:t>and cerebral cortices(</a:t>
            </a:r>
            <a:r>
              <a:rPr lang="en-US" b="1"/>
              <a:t>cortex</a:t>
            </a:r>
            <a:r>
              <a:rPr lang="en-US"/>
              <a:t>) see figure of CNS(N.S anatomy in simple way?  See figures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ts val="1898"/>
              <a:buNone/>
            </a:pP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ts val="1898"/>
              <a:buNone/>
            </a:pPr>
            <a:r>
              <a:rPr lang="en-US"/>
              <a:t>*(N/P unilateral lesion or below mid pons lesion----no  LOC ) 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ts val="1898"/>
              <a:buChar char="⦿"/>
            </a:pPr>
            <a:r>
              <a:rPr lang="en-US" b="1"/>
              <a:t>Dizziness</a:t>
            </a:r>
            <a:r>
              <a:rPr lang="en-US"/>
              <a:t> ? Non specific and wide term include pre -syncope , vertigo , balance disturbance , epilepsy  (you need good history to differentiate between them). </a:t>
            </a:r>
            <a:endParaRPr b="1"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ts val="1898"/>
              <a:buNone/>
            </a:pPr>
            <a:r>
              <a:rPr lang="en-US" b="1"/>
              <a:t>Sleep??? Group discussion.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b" anchorCtr="0">
            <a:normAutofit/>
          </a:bodyPr>
          <a:lstStyle/>
          <a:p>
            <a:pPr marL="0" lvl="0" indent="0" algn="l" rtl="1">
              <a:spcBef>
                <a:spcPts val="0"/>
              </a:spcBef>
              <a:spcAft>
                <a:spcPts val="0"/>
              </a:spcAft>
              <a:buClr>
                <a:srgbClr val="FEF7F0"/>
              </a:buClr>
              <a:buSzPts val="3800"/>
              <a:buFont typeface="Trebuchet MS"/>
              <a:buNone/>
            </a:pPr>
            <a:endParaRPr/>
          </a:p>
        </p:txBody>
      </p:sp>
      <p:pic>
        <p:nvPicPr>
          <p:cNvPr id="150" name="Google Shape;150;p20" descr="medialsuface.pct                                               00006F14&#10;Love Child                     B3E4B0F3: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158" y="428604"/>
            <a:ext cx="7358114" cy="6248597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0"/>
          <p:cNvSpPr/>
          <p:nvPr/>
        </p:nvSpPr>
        <p:spPr>
          <a:xfrm>
            <a:off x="3286116" y="3357562"/>
            <a:ext cx="1571636" cy="3357586"/>
          </a:xfrm>
          <a:prstGeom prst="ellipse">
            <a:avLst/>
          </a:prstGeom>
          <a:noFill/>
          <a:ln w="400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2" name="Google Shape;152;p20"/>
          <p:cNvSpPr/>
          <p:nvPr/>
        </p:nvSpPr>
        <p:spPr>
          <a:xfrm>
            <a:off x="1928794" y="4714884"/>
            <a:ext cx="4714908" cy="7143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40000" cap="flat" cmpd="sng">
            <a:solidFill>
              <a:srgbClr val="862C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1"/>
          <p:cNvSpPr txBox="1">
            <a:spLocks noGrp="1"/>
          </p:cNvSpPr>
          <p:nvPr>
            <p:ph type="title"/>
          </p:nvPr>
        </p:nvSpPr>
        <p:spPr>
          <a:xfrm>
            <a:off x="0" y="-24"/>
            <a:ext cx="8358214" cy="680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b" anchorCtr="0">
            <a:normAutofit/>
          </a:bodyPr>
          <a:lstStyle/>
          <a:p>
            <a:pPr marL="0" lvl="0" indent="0" algn="l" rtl="1">
              <a:spcBef>
                <a:spcPts val="0"/>
              </a:spcBef>
              <a:spcAft>
                <a:spcPts val="0"/>
              </a:spcAft>
              <a:buClr>
                <a:srgbClr val="FEF7F0"/>
              </a:buClr>
              <a:buSzPts val="2400"/>
              <a:buFont typeface="Trebuchet MS"/>
              <a:buNone/>
            </a:pPr>
            <a:r>
              <a:rPr lang="en-US" sz="2400" cap="none"/>
              <a:t> Syncope and LOC –pathophysiology-concept</a:t>
            </a:r>
            <a:endParaRPr sz="2400" cap="none"/>
          </a:p>
        </p:txBody>
      </p:sp>
      <p:sp>
        <p:nvSpPr>
          <p:cNvPr id="159" name="Google Shape;159;p21"/>
          <p:cNvSpPr txBox="1">
            <a:spLocks noGrp="1"/>
          </p:cNvSpPr>
          <p:nvPr>
            <p:ph type="body" idx="1"/>
          </p:nvPr>
        </p:nvSpPr>
        <p:spPr>
          <a:xfrm>
            <a:off x="-32" y="857232"/>
            <a:ext cx="8215370" cy="5786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ct val="72999"/>
              <a:buNone/>
            </a:pPr>
            <a:r>
              <a:rPr lang="en-US"/>
              <a:t>What are the elements of consciousness?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ct val="72999"/>
              <a:buNone/>
            </a:pPr>
            <a:r>
              <a:rPr lang="en-US"/>
              <a:t>1-</a:t>
            </a:r>
            <a:r>
              <a:rPr lang="en-US" b="1"/>
              <a:t>Contents</a:t>
            </a:r>
            <a:r>
              <a:rPr lang="en-US"/>
              <a:t>  ? function of cortex----lesion/disease ----dementia 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ct val="72999"/>
              <a:buNone/>
            </a:pPr>
            <a:r>
              <a:rPr lang="en-US"/>
              <a:t>2-</a:t>
            </a:r>
            <a:r>
              <a:rPr lang="en-US" b="1"/>
              <a:t>Level </a:t>
            </a:r>
            <a:r>
              <a:rPr lang="en-US"/>
              <a:t>(wakefulness and awareness?-function of reticular activating system  (RAS ) in mid pons to the cortex ---lesion----disturb consciousness </a:t>
            </a:r>
            <a:r>
              <a:rPr lang="en-US" b="1"/>
              <a:t>( </a:t>
            </a:r>
            <a:r>
              <a:rPr lang="en-US" u="sng"/>
              <a:t>syncope</a:t>
            </a:r>
            <a:r>
              <a:rPr lang="en-US" b="1"/>
              <a:t> </a:t>
            </a:r>
            <a:r>
              <a:rPr lang="en-US"/>
              <a:t>, confusion , delirium , and sever one is coma).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ct val="72999"/>
              <a:buChar char="⦿"/>
            </a:pPr>
            <a:r>
              <a:rPr lang="en-US">
                <a:solidFill>
                  <a:srgbClr val="FF0000"/>
                </a:solidFill>
              </a:rPr>
              <a:t>Factors we needs to maintain our consciousness?</a:t>
            </a:r>
            <a:endParaRPr/>
          </a:p>
          <a:p>
            <a:pPr marL="274320" lvl="0" indent="-274320" algn="ctr" rtl="0">
              <a:spcBef>
                <a:spcPts val="600"/>
              </a:spcBef>
              <a:spcAft>
                <a:spcPts val="0"/>
              </a:spcAft>
              <a:buSzPct val="72999"/>
              <a:buNone/>
            </a:pPr>
            <a:r>
              <a:rPr lang="en-US" b="1" i="1" u="sng"/>
              <a:t>Blood (cardiac pump, volume, HB) , sugar ,</a:t>
            </a:r>
            <a:endParaRPr/>
          </a:p>
          <a:p>
            <a:pPr marL="274320" lvl="0" indent="-274320" algn="ctr" rtl="0">
              <a:spcBef>
                <a:spcPts val="600"/>
              </a:spcBef>
              <a:spcAft>
                <a:spcPts val="0"/>
              </a:spcAft>
              <a:buSzPct val="72999"/>
              <a:buNone/>
            </a:pPr>
            <a:r>
              <a:rPr lang="en-US" b="1" i="1" u="sng"/>
              <a:t>harmonic  neural electrical signal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ct val="72999"/>
              <a:buChar char="⦿"/>
            </a:pPr>
            <a:r>
              <a:rPr lang="en-US"/>
              <a:t> </a:t>
            </a:r>
            <a:r>
              <a:rPr lang="en-US" b="1" i="1" u="sng"/>
              <a:t>Can you mention some causes that lead to transient  or episodic LOC due affection of these factors ?</a:t>
            </a:r>
            <a:endParaRPr b="1" i="1" u="sng">
              <a:solidFill>
                <a:srgbClr val="FF0000"/>
              </a:solidFill>
            </a:endParaRPr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ct val="72999"/>
              <a:buChar char="⦿"/>
            </a:pPr>
            <a:r>
              <a:rPr lang="en-US">
                <a:solidFill>
                  <a:srgbClr val="FF0000"/>
                </a:solidFill>
              </a:rPr>
              <a:t>If it is due to affection of cerebral perfusion CP------syncope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ct val="72999"/>
              <a:buChar char="⦿"/>
            </a:pPr>
            <a:r>
              <a:rPr lang="en-US"/>
              <a:t>If CP is reduced ----pre syncope symptom then syncope if continue.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ct val="72999"/>
              <a:buChar char="⦿"/>
            </a:pPr>
            <a:r>
              <a:rPr lang="en-US"/>
              <a:t>Syncope  affect 20% of population at some time and 5% of hospital admission.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ct val="72999"/>
              <a:buNone/>
            </a:pPr>
            <a:endParaRPr/>
          </a:p>
          <a:p>
            <a:pPr marL="274320" lvl="0" indent="-171875" algn="l" rtl="0">
              <a:spcBef>
                <a:spcPts val="600"/>
              </a:spcBef>
              <a:spcAft>
                <a:spcPts val="0"/>
              </a:spcAft>
              <a:buSzPct val="72999"/>
              <a:buNone/>
            </a:pPr>
            <a:endParaRPr/>
          </a:p>
          <a:p>
            <a:pPr marL="274320" lvl="0" indent="-171875" algn="l" rtl="0">
              <a:spcBef>
                <a:spcPts val="600"/>
              </a:spcBef>
              <a:spcAft>
                <a:spcPts val="0"/>
              </a:spcAft>
              <a:buSzPct val="72999"/>
              <a:buNone/>
            </a:pPr>
            <a:endParaRPr/>
          </a:p>
          <a:p>
            <a:pPr marL="274320" lvl="0" indent="-171875" algn="l" rtl="0">
              <a:spcBef>
                <a:spcPts val="600"/>
              </a:spcBef>
              <a:spcAft>
                <a:spcPts val="0"/>
              </a:spcAft>
              <a:buSzPct val="72999"/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 txBox="1"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b" anchorCtr="0">
            <a:normAutofit fontScale="90000"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Clr>
                <a:srgbClr val="FEF7F0"/>
              </a:buClr>
              <a:buSzPct val="100000"/>
              <a:buFont typeface="Trebuchet MS"/>
              <a:buNone/>
            </a:pPr>
            <a:r>
              <a:rPr lang="en-US"/>
              <a:t>THINK LIKE A DOCTOR TO HELP OTHERS</a:t>
            </a:r>
            <a:endParaRPr/>
          </a:p>
        </p:txBody>
      </p:sp>
      <p:pic>
        <p:nvPicPr>
          <p:cNvPr id="165" name="Google Shape;165;p22" descr="MCj04041710000[1]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760050" y="1701446"/>
            <a:ext cx="4455024" cy="4870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3"/>
          <p:cNvSpPr txBox="1">
            <a:spLocks noGrp="1"/>
          </p:cNvSpPr>
          <p:nvPr>
            <p:ph type="title"/>
          </p:nvPr>
        </p:nvSpPr>
        <p:spPr>
          <a:xfrm>
            <a:off x="457200" y="-357214"/>
            <a:ext cx="8229600" cy="928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b" anchorCtr="0">
            <a:normAutofit/>
          </a:bodyPr>
          <a:lstStyle/>
          <a:p>
            <a:pPr marL="0" lvl="0" indent="0" algn="l" rtl="1">
              <a:spcBef>
                <a:spcPts val="0"/>
              </a:spcBef>
              <a:spcAft>
                <a:spcPts val="0"/>
              </a:spcAft>
              <a:buClr>
                <a:srgbClr val="FEF7F0"/>
              </a:buClr>
              <a:buSzPts val="2800"/>
              <a:buFont typeface="Trebuchet MS"/>
              <a:buNone/>
            </a:pPr>
            <a:r>
              <a:rPr lang="en-US" sz="2800"/>
              <a:t>ETIOLOGY</a:t>
            </a:r>
            <a:endParaRPr sz="2800"/>
          </a:p>
        </p:txBody>
      </p:sp>
      <p:sp>
        <p:nvSpPr>
          <p:cNvPr id="171" name="Google Shape;171;p23"/>
          <p:cNvSpPr txBox="1">
            <a:spLocks noGrp="1"/>
          </p:cNvSpPr>
          <p:nvPr>
            <p:ph type="body" idx="1"/>
          </p:nvPr>
        </p:nvSpPr>
        <p:spPr>
          <a:xfrm>
            <a:off x="0" y="642918"/>
            <a:ext cx="8358214" cy="6572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ct val="73000"/>
              <a:buNone/>
            </a:pPr>
            <a:r>
              <a:rPr lang="en-US" sz="2900" b="1">
                <a:solidFill>
                  <a:srgbClr val="0070C0"/>
                </a:solidFill>
              </a:rPr>
              <a:t>Syncope:</a:t>
            </a:r>
            <a:r>
              <a:rPr lang="en-US" b="1"/>
              <a:t> Transient  episodic loss of consciousness with loss of postural tone usually due to global cerebral or brain stem  hypo perfusion. 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ct val="72999"/>
              <a:buNone/>
            </a:pPr>
            <a:r>
              <a:rPr lang="en-US" b="1">
                <a:solidFill>
                  <a:srgbClr val="FF0000"/>
                </a:solidFill>
              </a:rPr>
              <a:t>1-Cardiovascualr disease </a:t>
            </a:r>
            <a:r>
              <a:rPr lang="en-US" b="1"/>
              <a:t>.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ct val="72999"/>
              <a:buChar char="⦿"/>
            </a:pPr>
            <a:r>
              <a:rPr lang="en-US" b="1" i="1" u="sng">
                <a:solidFill>
                  <a:srgbClr val="0070C0"/>
                </a:solidFill>
              </a:rPr>
              <a:t>arrhythmias (Tachy or brady  as in semester 2)</a:t>
            </a:r>
            <a:r>
              <a:rPr lang="en-US" b="1" i="1">
                <a:solidFill>
                  <a:srgbClr val="0070C0"/>
                </a:solidFill>
              </a:rPr>
              <a:t> </a:t>
            </a:r>
            <a:r>
              <a:rPr lang="en-US" b="1" i="1"/>
              <a:t>.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ct val="72999"/>
              <a:buChar char="⦿"/>
            </a:pPr>
            <a:r>
              <a:rPr lang="en-US" b="1"/>
              <a:t>left ventricular dysfunction .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ct val="72999"/>
              <a:buChar char="⦿"/>
            </a:pPr>
            <a:r>
              <a:rPr lang="en-US" b="1"/>
              <a:t>aortic stenosis .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ct val="72999"/>
              <a:buChar char="⦿"/>
            </a:pPr>
            <a:r>
              <a:rPr lang="en-US" b="1"/>
              <a:t>obstructive cardiomyopathy.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ct val="72999"/>
              <a:buNone/>
            </a:pPr>
            <a:r>
              <a:rPr lang="en-US" b="1">
                <a:solidFill>
                  <a:srgbClr val="FF0000"/>
                </a:solidFill>
              </a:rPr>
              <a:t>2-Neuro-cardiogenic causes</a:t>
            </a:r>
            <a:r>
              <a:rPr lang="en-US" b="1"/>
              <a:t>(abnormal autonomic reflex)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ct val="72999"/>
              <a:buChar char="⦿"/>
            </a:pPr>
            <a:r>
              <a:rPr lang="en-US" b="1" i="1" u="sng">
                <a:solidFill>
                  <a:srgbClr val="0070C0"/>
                </a:solidFill>
              </a:rPr>
              <a:t>Vasovagal syncope </a:t>
            </a:r>
            <a:r>
              <a:rPr lang="en-US" b="1" i="1">
                <a:solidFill>
                  <a:srgbClr val="0070C0"/>
                </a:solidFill>
              </a:rPr>
              <a:t>(simple faint) =8-41% of cases.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ct val="72999"/>
              <a:buChar char="⦿"/>
            </a:pPr>
            <a:r>
              <a:rPr lang="en-US" b="1"/>
              <a:t>situational syncope ( cough or micturition syncope)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ct val="72999"/>
              <a:buChar char="⦿"/>
            </a:pPr>
            <a:r>
              <a:rPr lang="en-US" b="1"/>
              <a:t>carotid sinus syncope.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ct val="72999"/>
              <a:buNone/>
            </a:pPr>
            <a:r>
              <a:rPr lang="en-US" b="1">
                <a:solidFill>
                  <a:srgbClr val="FF0000"/>
                </a:solidFill>
              </a:rPr>
              <a:t>3- Orhostatic hypotension.=bp drop on standing from sitting or flat position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ct val="72999"/>
              <a:buChar char="⦿"/>
            </a:pPr>
            <a:r>
              <a:rPr lang="en-US" b="1"/>
              <a:t> Hypovolemia (loss of fluid or blood) .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ct val="72999"/>
              <a:buChar char="⦿"/>
            </a:pPr>
            <a:r>
              <a:rPr lang="en-US" b="1"/>
              <a:t> autonomic dysfunction .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ct val="72999"/>
              <a:buChar char="⦿"/>
            </a:pPr>
            <a:r>
              <a:rPr lang="en-US" b="1"/>
              <a:t>drugs (diuretics and antihypertensive----).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ct val="72999"/>
              <a:buChar char="⦿"/>
            </a:pPr>
            <a:r>
              <a:rPr lang="en-US" b="1"/>
              <a:t>varicose veins and prolonged bed rest. 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ct val="72999"/>
              <a:buNone/>
            </a:pPr>
            <a:r>
              <a:rPr lang="en-US" b="1">
                <a:solidFill>
                  <a:srgbClr val="FF0000"/>
                </a:solidFill>
              </a:rPr>
              <a:t>4-Neurological and psychiatric disease </a:t>
            </a:r>
            <a:r>
              <a:rPr lang="en-US" b="1"/>
              <a:t>.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ct val="72999"/>
              <a:buChar char="⦿"/>
            </a:pPr>
            <a:r>
              <a:rPr lang="en-US" b="1"/>
              <a:t> Transient ischemic attacks( bilateral and basilar artery )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ct val="72999"/>
              <a:buChar char="⦿"/>
            </a:pPr>
            <a:r>
              <a:rPr lang="en-US" b="1"/>
              <a:t> Panic attacks. 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ct val="72999"/>
              <a:buChar char="⦿"/>
            </a:pPr>
            <a:r>
              <a:rPr lang="en-US" b="1" i="1" u="sng">
                <a:solidFill>
                  <a:srgbClr val="0070C0"/>
                </a:solidFill>
              </a:rPr>
              <a:t>Hyperventilation. 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ct val="72999"/>
              <a:buNone/>
            </a:pPr>
            <a:r>
              <a:rPr lang="en-US" b="1">
                <a:solidFill>
                  <a:srgbClr val="FF0000"/>
                </a:solidFill>
              </a:rPr>
              <a:t>5-Unknown.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ct val="72999"/>
              <a:buNone/>
            </a:pPr>
            <a:endParaRPr b="1"/>
          </a:p>
        </p:txBody>
      </p:sp>
      <p:pic>
        <p:nvPicPr>
          <p:cNvPr id="172" name="Google Shape;17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65051" y="4119574"/>
            <a:ext cx="2178849" cy="14525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4"/>
          <p:cNvSpPr txBox="1">
            <a:spLocks noGrp="1"/>
          </p:cNvSpPr>
          <p:nvPr>
            <p:ph type="title"/>
          </p:nvPr>
        </p:nvSpPr>
        <p:spPr>
          <a:xfrm>
            <a:off x="0" y="428604"/>
            <a:ext cx="8372444" cy="1143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rebuchet MS"/>
              <a:buNone/>
            </a:pPr>
            <a:r>
              <a:rPr lang="en-US" sz="2400" cap="none">
                <a:solidFill>
                  <a:srgbClr val="FF0000"/>
                </a:solidFill>
              </a:rPr>
              <a:t>Differential Diagnosis = Syncope Like</a:t>
            </a:r>
            <a:br>
              <a:rPr lang="en-US" sz="2400" cap="none">
                <a:solidFill>
                  <a:srgbClr val="FF0000"/>
                </a:solidFill>
              </a:rPr>
            </a:br>
            <a:r>
              <a:rPr lang="en-US" sz="2400" i="1" u="sng" cap="none">
                <a:solidFill>
                  <a:schemeClr val="dk1"/>
                </a:solidFill>
              </a:rPr>
              <a:t>Hypoglycemia</a:t>
            </a:r>
            <a:r>
              <a:rPr lang="en-US" sz="2400" i="1" cap="none">
                <a:solidFill>
                  <a:schemeClr val="dk1"/>
                </a:solidFill>
              </a:rPr>
              <a:t> , </a:t>
            </a:r>
            <a:r>
              <a:rPr lang="en-US" sz="2400" i="1" u="sng" cap="none">
                <a:solidFill>
                  <a:schemeClr val="dk1"/>
                </a:solidFill>
              </a:rPr>
              <a:t>Seizure</a:t>
            </a:r>
            <a:r>
              <a:rPr lang="en-US" sz="2400" i="1" cap="none">
                <a:solidFill>
                  <a:schemeClr val="dk1"/>
                </a:solidFill>
              </a:rPr>
              <a:t> </a:t>
            </a:r>
            <a:r>
              <a:rPr lang="en-US" sz="2400" cap="none">
                <a:solidFill>
                  <a:schemeClr val="dk1"/>
                </a:solidFill>
              </a:rPr>
              <a:t>, Loss Of Balance , </a:t>
            </a:r>
            <a:br>
              <a:rPr lang="en-US" sz="2400" cap="none">
                <a:solidFill>
                  <a:schemeClr val="dk1"/>
                </a:solidFill>
              </a:rPr>
            </a:br>
            <a:r>
              <a:rPr lang="en-US" sz="2400" cap="none">
                <a:solidFill>
                  <a:schemeClr val="dk1"/>
                </a:solidFill>
              </a:rPr>
              <a:t>Anemia (After Exertion). </a:t>
            </a:r>
            <a:br>
              <a:rPr lang="en-US" sz="2400" cap="none">
                <a:solidFill>
                  <a:schemeClr val="dk1"/>
                </a:solidFill>
              </a:rPr>
            </a:br>
            <a:endParaRPr sz="2400" cap="none">
              <a:solidFill>
                <a:schemeClr val="dk1"/>
              </a:solidFill>
            </a:endParaRPr>
          </a:p>
        </p:txBody>
      </p:sp>
      <p:sp>
        <p:nvSpPr>
          <p:cNvPr id="178" name="Google Shape;178;p24"/>
          <p:cNvSpPr txBox="1">
            <a:spLocks noGrp="1"/>
          </p:cNvSpPr>
          <p:nvPr>
            <p:ph type="body" idx="1"/>
          </p:nvPr>
        </p:nvSpPr>
        <p:spPr>
          <a:xfrm>
            <a:off x="71406" y="1428736"/>
            <a:ext cx="8001056" cy="5214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74320" lvl="0" indent="-274320" algn="just" rtl="0">
              <a:spcBef>
                <a:spcPts val="0"/>
              </a:spcBef>
              <a:spcAft>
                <a:spcPts val="0"/>
              </a:spcAft>
              <a:buSzPct val="73000"/>
              <a:buNone/>
            </a:pPr>
            <a:r>
              <a:rPr lang="en-US" sz="2800">
                <a:solidFill>
                  <a:srgbClr val="FF0000"/>
                </a:solidFill>
              </a:rPr>
              <a:t>Clinical types and scenarios of presentations? How we can solve the problem and reach diagnosis-group discussion.</a:t>
            </a:r>
            <a:endParaRPr/>
          </a:p>
          <a:p>
            <a:pPr marL="274320" lvl="0" indent="-274320" algn="just" rtl="0">
              <a:spcBef>
                <a:spcPts val="600"/>
              </a:spcBef>
              <a:spcAft>
                <a:spcPts val="0"/>
              </a:spcAft>
              <a:buSzPct val="72999"/>
              <a:buNone/>
            </a:pPr>
            <a:r>
              <a:rPr lang="en-US" b="1"/>
              <a:t>--History(pt. or witness)</a:t>
            </a:r>
            <a:r>
              <a:rPr lang="en-US"/>
              <a:t> : listen and ask about premonitory S. and triggers  ,unconscious period and recovery period these will give you hint about diagnosis.</a:t>
            </a:r>
            <a:endParaRPr/>
          </a:p>
          <a:p>
            <a:pPr marL="274320" lvl="0" indent="-274320" algn="just" rtl="0">
              <a:spcBef>
                <a:spcPts val="600"/>
              </a:spcBef>
              <a:spcAft>
                <a:spcPts val="0"/>
              </a:spcAft>
              <a:buSzPct val="72999"/>
              <a:buNone/>
            </a:pPr>
            <a:r>
              <a:rPr lang="en-US"/>
              <a:t>Ask about recurrence?  previous health ? diet? Drugs? Any fluid loss (diarrhea) or blood loss(bleeding)? Menstruation? stress related? family history-----e ct   </a:t>
            </a:r>
            <a:endParaRPr/>
          </a:p>
          <a:p>
            <a:pPr marL="274320" lvl="0" indent="-274320" algn="just" rtl="0">
              <a:spcBef>
                <a:spcPts val="600"/>
              </a:spcBef>
              <a:spcAft>
                <a:spcPts val="0"/>
              </a:spcAft>
              <a:buSzPct val="72999"/>
              <a:buNone/>
            </a:pPr>
            <a:r>
              <a:rPr lang="en-US" b="1"/>
              <a:t>--Examination</a:t>
            </a:r>
            <a:r>
              <a:rPr lang="en-US"/>
              <a:t> ;check the patient for relevant signs.</a:t>
            </a:r>
            <a:endParaRPr/>
          </a:p>
          <a:p>
            <a:pPr marL="274320" lvl="0" indent="-274320" algn="just" rtl="0">
              <a:spcBef>
                <a:spcPts val="600"/>
              </a:spcBef>
              <a:spcAft>
                <a:spcPts val="0"/>
              </a:spcAft>
              <a:buSzPct val="72999"/>
              <a:buNone/>
            </a:pPr>
            <a:r>
              <a:rPr lang="en-US" b="1"/>
              <a:t>--Investigate to confirm or rule out a cause. </a:t>
            </a:r>
            <a:endParaRPr/>
          </a:p>
          <a:p>
            <a:pPr marL="274320" lvl="0" indent="-274320" algn="just" rtl="0">
              <a:spcBef>
                <a:spcPts val="600"/>
              </a:spcBef>
              <a:spcAft>
                <a:spcPts val="0"/>
              </a:spcAft>
              <a:buSzPct val="72999"/>
              <a:buNone/>
            </a:pPr>
            <a:r>
              <a:rPr lang="en-US" b="1"/>
              <a:t>--Treatment</a:t>
            </a:r>
            <a:r>
              <a:rPr lang="en-US"/>
              <a:t>.</a:t>
            </a:r>
            <a:endParaRPr/>
          </a:p>
          <a:p>
            <a:pPr marL="274320" lvl="0" indent="-274320" algn="just" rtl="0">
              <a:spcBef>
                <a:spcPts val="600"/>
              </a:spcBef>
              <a:spcAft>
                <a:spcPts val="0"/>
              </a:spcAft>
              <a:buSzPct val="72999"/>
              <a:buNone/>
            </a:pPr>
            <a:endParaRPr/>
          </a:p>
          <a:p>
            <a:pPr marL="274320" lvl="0" indent="-274320" algn="just" rtl="0">
              <a:spcBef>
                <a:spcPts val="600"/>
              </a:spcBef>
              <a:spcAft>
                <a:spcPts val="0"/>
              </a:spcAft>
              <a:buSzPct val="72999"/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>
            <a:spLocks noGrp="1"/>
          </p:cNvSpPr>
          <p:nvPr>
            <p:ph type="title"/>
          </p:nvPr>
        </p:nvSpPr>
        <p:spPr>
          <a:xfrm>
            <a:off x="457200" y="-24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b" anchorCtr="0">
            <a:normAutofit/>
          </a:bodyPr>
          <a:lstStyle/>
          <a:p>
            <a:pPr marL="0" lvl="0" indent="0" algn="l" rtl="1">
              <a:spcBef>
                <a:spcPts val="0"/>
              </a:spcBef>
              <a:spcAft>
                <a:spcPts val="0"/>
              </a:spcAft>
              <a:buClr>
                <a:srgbClr val="FEF7F0"/>
              </a:buClr>
              <a:buSzPts val="3800"/>
              <a:buFont typeface="Trebuchet MS"/>
              <a:buNone/>
            </a:pPr>
            <a:r>
              <a:rPr lang="en-US"/>
              <a:t>APROACH</a:t>
            </a:r>
            <a:endParaRPr/>
          </a:p>
        </p:txBody>
      </p:sp>
      <p:grpSp>
        <p:nvGrpSpPr>
          <p:cNvPr id="184" name="Google Shape;184;p25"/>
          <p:cNvGrpSpPr/>
          <p:nvPr/>
        </p:nvGrpSpPr>
        <p:grpSpPr>
          <a:xfrm>
            <a:off x="2779996" y="1285860"/>
            <a:ext cx="2326726" cy="5170502"/>
            <a:chOff x="2322796" y="0"/>
            <a:chExt cx="2326726" cy="5170502"/>
          </a:xfrm>
        </p:grpSpPr>
        <p:sp>
          <p:nvSpPr>
            <p:cNvPr id="185" name="Google Shape;185;p25"/>
            <p:cNvSpPr/>
            <p:nvPr/>
          </p:nvSpPr>
          <p:spPr>
            <a:xfrm>
              <a:off x="2322796" y="0"/>
              <a:ext cx="2326726" cy="1292625"/>
            </a:xfrm>
            <a:prstGeom prst="roundRect">
              <a:avLst>
                <a:gd name="adj" fmla="val 10000"/>
              </a:avLst>
            </a:prstGeom>
            <a:solidFill>
              <a:srgbClr val="AA64BA"/>
            </a:solidFill>
            <a:ln w="400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5"/>
            <p:cNvSpPr txBox="1"/>
            <p:nvPr/>
          </p:nvSpPr>
          <p:spPr>
            <a:xfrm>
              <a:off x="2360656" y="37860"/>
              <a:ext cx="2251006" cy="12169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250" tIns="95250" rIns="95250" bIns="95250" anchor="ctr" anchorCtr="0">
              <a:noAutofit/>
            </a:bodyPr>
            <a:lstStyle/>
            <a:p>
              <a:pPr marL="0" marR="0" lvl="0" indent="0" algn="ctr" rtl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 b="0" i="0" u="none" strike="noStrike" cap="none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premonitory symptom Before LOC</a:t>
              </a:r>
              <a:endParaRPr sz="25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87" name="Google Shape;187;p25"/>
            <p:cNvSpPr/>
            <p:nvPr/>
          </p:nvSpPr>
          <p:spPr>
            <a:xfrm rot="5400000">
              <a:off x="3243792" y="1324941"/>
              <a:ext cx="484734" cy="581681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A64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5"/>
            <p:cNvSpPr txBox="1"/>
            <p:nvPr/>
          </p:nvSpPr>
          <p:spPr>
            <a:xfrm>
              <a:off x="3311655" y="1373414"/>
              <a:ext cx="349009" cy="3393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89" name="Google Shape;189;p25"/>
            <p:cNvSpPr/>
            <p:nvPr/>
          </p:nvSpPr>
          <p:spPr>
            <a:xfrm>
              <a:off x="2322796" y="1938938"/>
              <a:ext cx="2326726" cy="1292625"/>
            </a:xfrm>
            <a:prstGeom prst="roundRect">
              <a:avLst>
                <a:gd name="adj" fmla="val 10000"/>
              </a:avLst>
            </a:prstGeom>
            <a:solidFill>
              <a:srgbClr val="4DCA94"/>
            </a:solidFill>
            <a:ln w="400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5"/>
            <p:cNvSpPr txBox="1"/>
            <p:nvPr/>
          </p:nvSpPr>
          <p:spPr>
            <a:xfrm>
              <a:off x="2360656" y="1976798"/>
              <a:ext cx="2251006" cy="12169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250" tIns="95250" rIns="95250" bIns="95250" anchor="ctr" anchorCtr="0">
              <a:noAutofit/>
            </a:bodyPr>
            <a:lstStyle/>
            <a:p>
              <a:pPr marL="0" marR="0" lvl="0" indent="0" algn="ctr" rtl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 b="0" i="0" u="none" strike="noStrike" cap="none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LOC period-during</a:t>
              </a:r>
              <a:endParaRPr sz="25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91" name="Google Shape;191;p25"/>
            <p:cNvSpPr/>
            <p:nvPr/>
          </p:nvSpPr>
          <p:spPr>
            <a:xfrm rot="5400000">
              <a:off x="3243792" y="3263880"/>
              <a:ext cx="484734" cy="581681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DD6A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5"/>
            <p:cNvSpPr txBox="1"/>
            <p:nvPr/>
          </p:nvSpPr>
          <p:spPr>
            <a:xfrm>
              <a:off x="3311655" y="3312353"/>
              <a:ext cx="349009" cy="3393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93" name="Google Shape;193;p25"/>
            <p:cNvSpPr/>
            <p:nvPr/>
          </p:nvSpPr>
          <p:spPr>
            <a:xfrm>
              <a:off x="2322796" y="3877877"/>
              <a:ext cx="2326726" cy="1292625"/>
            </a:xfrm>
            <a:prstGeom prst="roundRect">
              <a:avLst>
                <a:gd name="adj" fmla="val 10000"/>
              </a:avLst>
            </a:prstGeom>
            <a:solidFill>
              <a:srgbClr val="DD6A34"/>
            </a:solidFill>
            <a:ln w="400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5"/>
            <p:cNvSpPr txBox="1"/>
            <p:nvPr/>
          </p:nvSpPr>
          <p:spPr>
            <a:xfrm>
              <a:off x="2360656" y="3915737"/>
              <a:ext cx="2251006" cy="12169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250" tIns="95250" rIns="95250" bIns="95250" anchor="ctr" anchorCtr="0">
              <a:noAutofit/>
            </a:bodyPr>
            <a:lstStyle/>
            <a:p>
              <a:pPr marL="0" marR="0" lvl="0" indent="0" algn="ctr" rtl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 b="0" i="0" u="none" strike="noStrike" cap="none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After LOC</a:t>
              </a:r>
              <a:endParaRPr/>
            </a:p>
            <a:p>
              <a:pPr marL="0" marR="0" lvl="0" indent="0" algn="ctr" rtl="1">
                <a:lnSpc>
                  <a:spcPct val="90000"/>
                </a:lnSpc>
                <a:spcBef>
                  <a:spcPts val="875"/>
                </a:spcBef>
                <a:spcAft>
                  <a:spcPts val="0"/>
                </a:spcAft>
                <a:buNone/>
              </a:pPr>
              <a:endParaRPr sz="25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 txBox="1">
            <a:spLocks noGrp="1"/>
          </p:cNvSpPr>
          <p:nvPr>
            <p:ph type="title"/>
          </p:nvPr>
        </p:nvSpPr>
        <p:spPr>
          <a:xfrm>
            <a:off x="457200" y="142852"/>
            <a:ext cx="7239000" cy="608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b" anchorCtr="0">
            <a:normAutofit/>
          </a:bodyPr>
          <a:lstStyle/>
          <a:p>
            <a:pPr marL="0" lvl="0" indent="0" algn="l" rtl="1">
              <a:spcBef>
                <a:spcPts val="0"/>
              </a:spcBef>
              <a:spcAft>
                <a:spcPts val="0"/>
              </a:spcAft>
              <a:buClr>
                <a:srgbClr val="FEF7F0"/>
              </a:buClr>
              <a:buSzPts val="3200"/>
              <a:buFont typeface="Trebuchet MS"/>
              <a:buNone/>
            </a:pPr>
            <a:r>
              <a:rPr lang="en-US" sz="3200" cap="none"/>
              <a:t>Clinical types of syncope</a:t>
            </a:r>
            <a:endParaRPr sz="3200" cap="none"/>
          </a:p>
        </p:txBody>
      </p:sp>
      <p:sp>
        <p:nvSpPr>
          <p:cNvPr id="200" name="Google Shape;200;p26"/>
          <p:cNvSpPr txBox="1">
            <a:spLocks noGrp="1"/>
          </p:cNvSpPr>
          <p:nvPr>
            <p:ph type="body" idx="1"/>
          </p:nvPr>
        </p:nvSpPr>
        <p:spPr>
          <a:xfrm>
            <a:off x="0" y="1000108"/>
            <a:ext cx="8072462" cy="5786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ct val="72999"/>
              <a:buNone/>
            </a:pPr>
            <a:r>
              <a:rPr lang="en-US" b="1">
                <a:solidFill>
                  <a:srgbClr val="FF0000"/>
                </a:solidFill>
              </a:rPr>
              <a:t>Case1</a:t>
            </a:r>
            <a:r>
              <a:rPr lang="en-US">
                <a:solidFill>
                  <a:srgbClr val="FF0000"/>
                </a:solidFill>
              </a:rPr>
              <a:t> : A 32 years old Iraqi man with recurrent  attacks of LOC </a:t>
            </a:r>
            <a:r>
              <a:rPr lang="en-US" u="sng">
                <a:solidFill>
                  <a:srgbClr val="FF0000"/>
                </a:solidFill>
              </a:rPr>
              <a:t>with full recovery</a:t>
            </a:r>
            <a:r>
              <a:rPr lang="en-US">
                <a:solidFill>
                  <a:srgbClr val="FF0000"/>
                </a:solidFill>
              </a:rPr>
              <a:t>,  not </a:t>
            </a:r>
            <a:r>
              <a:rPr lang="en-US" u="sng">
                <a:solidFill>
                  <a:srgbClr val="FF0000"/>
                </a:solidFill>
              </a:rPr>
              <a:t>related to position </a:t>
            </a:r>
            <a:r>
              <a:rPr lang="en-US">
                <a:solidFill>
                  <a:srgbClr val="FF0000"/>
                </a:solidFill>
              </a:rPr>
              <a:t>;it is </a:t>
            </a:r>
            <a:r>
              <a:rPr lang="en-US" u="sng">
                <a:solidFill>
                  <a:srgbClr val="FF0000"/>
                </a:solidFill>
              </a:rPr>
              <a:t>brief for less than one minute</a:t>
            </a:r>
            <a:r>
              <a:rPr lang="en-US">
                <a:solidFill>
                  <a:srgbClr val="FF0000"/>
                </a:solidFill>
              </a:rPr>
              <a:t>.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ct val="72999"/>
              <a:buNone/>
            </a:pPr>
            <a:r>
              <a:rPr lang="en-US"/>
              <a:t>Is it syncope? Type ? Cause? Discussion---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ct val="73000"/>
              <a:buNone/>
            </a:pPr>
            <a:endParaRPr sz="2800"/>
          </a:p>
          <a:p>
            <a:pPr marL="274320" lvl="0" indent="-274320" algn="ctr" rtl="0">
              <a:spcBef>
                <a:spcPts val="600"/>
              </a:spcBef>
              <a:spcAft>
                <a:spcPts val="0"/>
              </a:spcAft>
              <a:buSzPct val="73000"/>
              <a:buNone/>
            </a:pPr>
            <a:r>
              <a:rPr lang="en-US" sz="2800" b="1" i="1"/>
              <a:t> Initial Qs and additional information? Q&amp;A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ct val="73000"/>
              <a:buNone/>
            </a:pPr>
            <a:r>
              <a:rPr lang="en-US" sz="2400" b="1">
                <a:solidFill>
                  <a:srgbClr val="FF0000"/>
                </a:solidFill>
              </a:rPr>
              <a:t>*</a:t>
            </a:r>
            <a:r>
              <a:rPr lang="en-US" sz="2400" b="1"/>
              <a:t>Is it  preceded by feeling of palpitation as pt. describes (pt.: yes) </a:t>
            </a:r>
            <a:r>
              <a:rPr lang="en-US" sz="2400" b="1">
                <a:solidFill>
                  <a:srgbClr val="FF0000"/>
                </a:solidFill>
              </a:rPr>
              <a:t>; * any involuntary movement during falling (pt.: no). *you had any history of blood loss or fluid loss(Pt.; no),* any drug intake or *missing meals(pt: no) 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ct val="72999"/>
              <a:buNone/>
            </a:pPr>
            <a:r>
              <a:rPr lang="en-US"/>
              <a:t>Initial Diagnosis?</a:t>
            </a:r>
            <a:endParaRPr/>
          </a:p>
          <a:p>
            <a:pPr marL="514350" lvl="0" indent="-514350" algn="l" rtl="0">
              <a:spcBef>
                <a:spcPts val="600"/>
              </a:spcBef>
              <a:spcAft>
                <a:spcPts val="0"/>
              </a:spcAft>
              <a:buSzPct val="72999"/>
              <a:buFont typeface="Trebuchet MS"/>
              <a:buAutoNum type="alphaUcPeriod"/>
            </a:pPr>
            <a:r>
              <a:rPr lang="en-US" i="1" u="sng"/>
              <a:t>Cardiac syncope</a:t>
            </a:r>
            <a:endParaRPr/>
          </a:p>
          <a:p>
            <a:pPr marL="514350" lvl="0" indent="-514350" algn="l" rtl="0">
              <a:spcBef>
                <a:spcPts val="600"/>
              </a:spcBef>
              <a:spcAft>
                <a:spcPts val="0"/>
              </a:spcAft>
              <a:buSzPct val="72999"/>
              <a:buFont typeface="Trebuchet MS"/>
              <a:buAutoNum type="alphaUcPeriod"/>
            </a:pPr>
            <a:r>
              <a:rPr lang="en-US" i="1" u="sng"/>
              <a:t> Neural mediated –Vasovagal or hypotension syncope</a:t>
            </a:r>
            <a:endParaRPr/>
          </a:p>
          <a:p>
            <a:pPr marL="514350" lvl="0" indent="-514350" algn="l" rtl="0">
              <a:spcBef>
                <a:spcPts val="600"/>
              </a:spcBef>
              <a:spcAft>
                <a:spcPts val="0"/>
              </a:spcAft>
              <a:buSzPct val="72999"/>
              <a:buFont typeface="Trebuchet MS"/>
              <a:buAutoNum type="alphaUcPeriod"/>
            </a:pPr>
            <a:r>
              <a:rPr lang="en-US" i="1" u="sng"/>
              <a:t>Psychogenic S.</a:t>
            </a:r>
            <a:endParaRPr/>
          </a:p>
          <a:p>
            <a:pPr marL="514350" lvl="0" indent="-514350" algn="l" rtl="0">
              <a:spcBef>
                <a:spcPts val="600"/>
              </a:spcBef>
              <a:spcAft>
                <a:spcPts val="0"/>
              </a:spcAft>
              <a:buSzPct val="72999"/>
              <a:buFont typeface="Trebuchet MS"/>
              <a:buAutoNum type="alphaUcPeriod"/>
            </a:pPr>
            <a:r>
              <a:rPr lang="en-US" i="1" u="sng"/>
              <a:t>Neurological disease or seizure</a:t>
            </a:r>
            <a:endParaRPr/>
          </a:p>
          <a:p>
            <a:pPr marL="514350" lvl="0" indent="-514350" algn="l" rtl="0">
              <a:spcBef>
                <a:spcPts val="600"/>
              </a:spcBef>
              <a:spcAft>
                <a:spcPts val="0"/>
              </a:spcAft>
              <a:buSzPct val="72999"/>
              <a:buFont typeface="Trebuchet MS"/>
              <a:buAutoNum type="alphaUcPeriod"/>
            </a:pPr>
            <a:r>
              <a:rPr lang="en-US" i="1" u="sng"/>
              <a:t>Hypoglycemia .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ct val="72999"/>
              <a:buNone/>
            </a:pP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ct val="72999"/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7"/>
          <p:cNvSpPr txBox="1">
            <a:spLocks noGrp="1"/>
          </p:cNvSpPr>
          <p:nvPr>
            <p:ph type="body" idx="1"/>
          </p:nvPr>
        </p:nvSpPr>
        <p:spPr>
          <a:xfrm>
            <a:off x="0" y="142852"/>
            <a:ext cx="8072462" cy="6715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ts val="1460"/>
              <a:buNone/>
            </a:pPr>
            <a:r>
              <a:rPr lang="en-US" sz="2000" b="1"/>
              <a:t>It is? --------cardiac ? Then you should think about probable cardiac cause (see etiology of cardiac syncope)</a:t>
            </a:r>
            <a:endParaRPr/>
          </a:p>
          <a:p>
            <a:pPr marL="274320" lvl="0" indent="-274320" algn="ctr" rtl="0">
              <a:spcBef>
                <a:spcPts val="600"/>
              </a:spcBef>
              <a:spcAft>
                <a:spcPts val="0"/>
              </a:spcAft>
              <a:buSzPts val="1752"/>
              <a:buChar char="⦿"/>
            </a:pPr>
            <a:r>
              <a:rPr lang="en-US" sz="2400" b="1" u="sng"/>
              <a:t>So you need Subsequent Qs to ask again to rule out or confirm certain causes, This is the aim of module( think about causes of arrhythmia) 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ts val="1460"/>
              <a:buNone/>
            </a:pPr>
            <a:r>
              <a:rPr lang="en-US" sz="2000" b="1">
                <a:solidFill>
                  <a:srgbClr val="FF0000"/>
                </a:solidFill>
              </a:rPr>
              <a:t>Ex</a:t>
            </a:r>
            <a:r>
              <a:rPr lang="en-US" sz="2000" b="1" baseline="30000">
                <a:solidFill>
                  <a:srgbClr val="FF0000"/>
                </a:solidFill>
              </a:rPr>
              <a:t>1</a:t>
            </a:r>
            <a:r>
              <a:rPr lang="en-US" sz="2000" b="1">
                <a:solidFill>
                  <a:srgbClr val="595959"/>
                </a:solidFill>
              </a:rPr>
              <a:t>: If there is history of </a:t>
            </a:r>
            <a:r>
              <a:rPr lang="en-US" sz="2000" b="1">
                <a:solidFill>
                  <a:srgbClr val="FF0000"/>
                </a:solidFill>
              </a:rPr>
              <a:t>fluid loss , anorexia , thyroid problem</a:t>
            </a:r>
            <a:r>
              <a:rPr lang="en-US" sz="2000" b="1">
                <a:solidFill>
                  <a:srgbClr val="595959"/>
                </a:solidFill>
              </a:rPr>
              <a:t> the cause will be electrolyte disturbance most likely hypokalemia causing arrhythmia ?  Stress related syncope (panic)?missing meals in hypoglycemia ? All negatives.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ts val="1460"/>
              <a:buNone/>
            </a:pPr>
            <a:r>
              <a:rPr lang="en-US" sz="2000" b="1">
                <a:solidFill>
                  <a:srgbClr val="FF0000"/>
                </a:solidFill>
              </a:rPr>
              <a:t>Ex</a:t>
            </a:r>
            <a:r>
              <a:rPr lang="en-US" sz="2000" b="1" baseline="30000">
                <a:solidFill>
                  <a:srgbClr val="FF0000"/>
                </a:solidFill>
              </a:rPr>
              <a:t>2</a:t>
            </a:r>
            <a:r>
              <a:rPr lang="en-US" sz="2000" b="1">
                <a:solidFill>
                  <a:srgbClr val="595959"/>
                </a:solidFill>
              </a:rPr>
              <a:t>: Or history </a:t>
            </a:r>
            <a:r>
              <a:rPr lang="en-US" sz="2000" b="1">
                <a:solidFill>
                  <a:srgbClr val="FF0000"/>
                </a:solidFill>
              </a:rPr>
              <a:t>of deafness/ family history of Arrhythmias or  sudden death( patient answer : yes yes </a:t>
            </a:r>
            <a:r>
              <a:rPr lang="en-US" sz="2000" b="1"/>
              <a:t>?Make diagnosis at this stage????          A: congenital prolonged QT syndrome </a:t>
            </a:r>
            <a:r>
              <a:rPr lang="en-US" sz="2000" b="1">
                <a:solidFill>
                  <a:srgbClr val="595959"/>
                </a:solidFill>
              </a:rPr>
              <a:t>?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ts val="1460"/>
              <a:buNone/>
            </a:pPr>
            <a:r>
              <a:rPr lang="en-US" sz="2000" b="1"/>
              <a:t> Then think about causes of prolonged QT syndrome? 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ts val="1460"/>
              <a:buNone/>
            </a:pPr>
            <a:r>
              <a:rPr lang="en-US" sz="2000" b="1" u="sng"/>
              <a:t>Questions you should ask? Same as above additional information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ts val="1460"/>
              <a:buChar char="⦿"/>
            </a:pPr>
            <a:r>
              <a:rPr lang="en-US" sz="2000" b="1" u="sng"/>
              <a:t> </a:t>
            </a:r>
            <a:r>
              <a:rPr lang="en-US" sz="2000" b="1" u="sng">
                <a:solidFill>
                  <a:srgbClr val="FF0000"/>
                </a:solidFill>
              </a:rPr>
              <a:t>a</a:t>
            </a:r>
            <a:r>
              <a:rPr lang="en-US" sz="2000" b="1">
                <a:solidFill>
                  <a:srgbClr val="FF0000"/>
                </a:solidFill>
              </a:rPr>
              <a:t>cquired causes  as certain drugs(antipsychotic ,anti diabetes drugs) ,or   electrolytes disturbance(magnesium and K+); low K+ as in thyroid problem , diarrhea ,and anorexia 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ts val="1460"/>
              <a:buChar char="⦿"/>
            </a:pPr>
            <a:r>
              <a:rPr lang="en-US" sz="2000" b="1">
                <a:solidFill>
                  <a:srgbClr val="FF0000"/>
                </a:solidFill>
              </a:rPr>
              <a:t>Inherited as in our cause  ? Ask History of deafness/ family history of Arrhythmias or  sudden death( patient  : yes ,yes) </a:t>
            </a:r>
            <a:endParaRPr/>
          </a:p>
          <a:p>
            <a:pPr marL="274320" lvl="0" indent="-274320" algn="ctr" rtl="0">
              <a:spcBef>
                <a:spcPts val="600"/>
              </a:spcBef>
              <a:spcAft>
                <a:spcPts val="0"/>
              </a:spcAft>
              <a:buSzPts val="1460"/>
              <a:buNone/>
            </a:pPr>
            <a:endParaRPr sz="20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 txBox="1">
            <a:spLocks noGrp="1"/>
          </p:cNvSpPr>
          <p:nvPr>
            <p:ph type="body" idx="1"/>
          </p:nvPr>
        </p:nvSpPr>
        <p:spPr>
          <a:xfrm>
            <a:off x="0" y="357166"/>
            <a:ext cx="8358214" cy="6500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ctr" rtl="0">
              <a:spcBef>
                <a:spcPts val="0"/>
              </a:spcBef>
              <a:spcAft>
                <a:spcPts val="0"/>
              </a:spcAft>
              <a:buSzPts val="1752"/>
              <a:buNone/>
            </a:pPr>
            <a:r>
              <a:rPr lang="en-US" sz="2400" b="1"/>
              <a:t> </a:t>
            </a:r>
            <a:r>
              <a:rPr lang="en-US" sz="2800" b="1">
                <a:solidFill>
                  <a:srgbClr val="FF0000"/>
                </a:solidFill>
              </a:rPr>
              <a:t>How you investigate this case 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ts val="1752"/>
              <a:buNone/>
            </a:pPr>
            <a:endParaRPr sz="2400" b="1"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ts val="1752"/>
              <a:buNone/>
            </a:pPr>
            <a:r>
              <a:rPr lang="en-US" sz="2400" b="1"/>
              <a:t> ***To confirm the main problem 1</a:t>
            </a:r>
            <a:r>
              <a:rPr lang="en-US" sz="2400" b="1" baseline="30000"/>
              <a:t>st</a:t>
            </a:r>
            <a:r>
              <a:rPr lang="en-US" sz="2400" b="1"/>
              <a:t> ?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ts val="1752"/>
              <a:buNone/>
            </a:pPr>
            <a:r>
              <a:rPr lang="en-US" sz="2400" b="1"/>
              <a:t> Ex: Cardiac syncope</a:t>
            </a:r>
            <a:r>
              <a:rPr lang="en-US" sz="2400" b="1" baseline="30000"/>
              <a:t> </a:t>
            </a:r>
            <a:r>
              <a:rPr lang="en-US" sz="2400" b="1"/>
              <a:t>?</a:t>
            </a:r>
            <a:r>
              <a:rPr lang="en-US" sz="2400" b="1" baseline="30000"/>
              <a:t> 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ts val="1752"/>
              <a:buNone/>
            </a:pPr>
            <a:r>
              <a:rPr lang="en-US" sz="2400" b="1"/>
              <a:t>A/ </a:t>
            </a:r>
            <a:r>
              <a:rPr lang="en-US" sz="2400" b="1">
                <a:solidFill>
                  <a:srgbClr val="FF0000"/>
                </a:solidFill>
              </a:rPr>
              <a:t>ECG , ambulatory ECG to confirm arrhythmia  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ts val="1752"/>
              <a:buNone/>
            </a:pPr>
            <a:r>
              <a:rPr lang="en-US" sz="2400" b="1"/>
              <a:t>***Then search the cause or rule out some(see etiology)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ts val="1752"/>
              <a:buNone/>
            </a:pPr>
            <a:r>
              <a:rPr lang="en-US" sz="2400" b="1"/>
              <a:t>A/ </a:t>
            </a:r>
            <a:r>
              <a:rPr lang="en-US" sz="2400" b="1" u="sng">
                <a:solidFill>
                  <a:srgbClr val="FF0000"/>
                </a:solidFill>
              </a:rPr>
              <a:t>ECG </a:t>
            </a:r>
            <a:r>
              <a:rPr lang="en-US" sz="2400" b="1">
                <a:solidFill>
                  <a:srgbClr val="FF0000"/>
                </a:solidFill>
              </a:rPr>
              <a:t>to see features of prolonged QT interval &amp; echocardiogram to exclude structural heart lesions  in Ex.2.(prolonged QT syndrome)   and </a:t>
            </a:r>
            <a:r>
              <a:rPr lang="en-US" sz="2400" b="1" u="sng">
                <a:solidFill>
                  <a:srgbClr val="FF0000"/>
                </a:solidFill>
              </a:rPr>
              <a:t>Serum K+ level</a:t>
            </a:r>
            <a:r>
              <a:rPr lang="en-US" sz="2400" b="1">
                <a:solidFill>
                  <a:srgbClr val="FF0000"/>
                </a:solidFill>
              </a:rPr>
              <a:t> in Ex.1(case of fluid loss)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ts val="1752"/>
              <a:buNone/>
            </a:pPr>
            <a:r>
              <a:rPr lang="en-US" sz="2400" i="1" u="sng"/>
              <a:t>In certain cases you should perform Blood sugar to rule out hypoglycemia ?? HB , blood picture to rule out anemia and EEG to rule out seizure. NEXT SLIDES.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ts val="1460"/>
              <a:buNone/>
            </a:pPr>
            <a:r>
              <a:rPr lang="en-US" sz="2000" b="1">
                <a:solidFill>
                  <a:srgbClr val="FF0000"/>
                </a:solidFill>
              </a:rPr>
              <a:t>Confirmatory test in </a:t>
            </a:r>
            <a:r>
              <a:rPr lang="en-US" sz="2000" b="1"/>
              <a:t>congenital prolonged QT syndrome?</a:t>
            </a:r>
            <a:endParaRPr sz="2000" b="1">
              <a:solidFill>
                <a:srgbClr val="FF0000"/>
              </a:solidFill>
            </a:endParaRPr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ts val="1460"/>
              <a:buNone/>
            </a:pPr>
            <a:r>
              <a:rPr lang="en-US" sz="2000" b="1">
                <a:solidFill>
                  <a:srgbClr val="FF0000"/>
                </a:solidFill>
              </a:rPr>
              <a:t>Genetic test –Autosomal or recessive Inheritance(semester 2)  .</a:t>
            </a:r>
            <a:endParaRPr sz="2000" b="1">
              <a:solidFill>
                <a:srgbClr val="FF0000"/>
              </a:solidFill>
            </a:endParaRPr>
          </a:p>
          <a:p>
            <a:pPr marL="274320" lvl="0" indent="-163068" algn="l" rtl="0">
              <a:spcBef>
                <a:spcPts val="600"/>
              </a:spcBef>
              <a:spcAft>
                <a:spcPts val="0"/>
              </a:spcAft>
              <a:buSzPts val="1752"/>
              <a:buNone/>
            </a:pPr>
            <a:endParaRPr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9"/>
          <p:cNvSpPr txBox="1">
            <a:spLocks noGrp="1"/>
          </p:cNvSpPr>
          <p:nvPr>
            <p:ph type="title"/>
          </p:nvPr>
        </p:nvSpPr>
        <p:spPr>
          <a:xfrm>
            <a:off x="285720" y="-71462"/>
            <a:ext cx="7410480" cy="785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EF7F0"/>
              </a:buClr>
              <a:buSzPct val="100000"/>
              <a:buFont typeface="Trebuchet MS"/>
              <a:buNone/>
            </a:pPr>
            <a:r>
              <a:rPr lang="en-US" cap="none"/>
              <a:t>Neuro-cardiac Syncope-Vasovagal</a:t>
            </a:r>
            <a:endParaRPr cap="none"/>
          </a:p>
        </p:txBody>
      </p:sp>
      <p:sp>
        <p:nvSpPr>
          <p:cNvPr id="218" name="Google Shape;218;p29"/>
          <p:cNvSpPr txBox="1">
            <a:spLocks noGrp="1"/>
          </p:cNvSpPr>
          <p:nvPr>
            <p:ph type="body" idx="1"/>
          </p:nvPr>
        </p:nvSpPr>
        <p:spPr>
          <a:xfrm>
            <a:off x="285720" y="785794"/>
            <a:ext cx="7786742" cy="6072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74320" lvl="0" indent="-274320" algn="just" rtl="0">
              <a:spcBef>
                <a:spcPts val="0"/>
              </a:spcBef>
              <a:spcAft>
                <a:spcPts val="0"/>
              </a:spcAft>
              <a:buSzPct val="72999"/>
              <a:buChar char="⦿"/>
            </a:pPr>
            <a:r>
              <a:rPr lang="en-US" b="1">
                <a:solidFill>
                  <a:srgbClr val="FF0000"/>
                </a:solidFill>
              </a:rPr>
              <a:t>Case 2 </a:t>
            </a:r>
            <a:r>
              <a:rPr lang="en-US"/>
              <a:t>: A 20 years old medical student in his 2</a:t>
            </a:r>
            <a:r>
              <a:rPr lang="en-US" baseline="30000"/>
              <a:t>nd</a:t>
            </a:r>
            <a:r>
              <a:rPr lang="en-US"/>
              <a:t> year class ;while he standing in the clinical session watching his 1</a:t>
            </a:r>
            <a:r>
              <a:rPr lang="en-US" baseline="30000"/>
              <a:t>st</a:t>
            </a:r>
            <a:r>
              <a:rPr lang="en-US"/>
              <a:t> anatomy lab. , felt down on the ground suddenly ?</a:t>
            </a:r>
            <a:endParaRPr/>
          </a:p>
          <a:p>
            <a:pPr marL="274320" lvl="0" indent="-274320" algn="just" rtl="0">
              <a:spcBef>
                <a:spcPts val="600"/>
              </a:spcBef>
              <a:spcAft>
                <a:spcPts val="0"/>
              </a:spcAft>
              <a:buSzPct val="72999"/>
              <a:buChar char="⦿"/>
            </a:pPr>
            <a:r>
              <a:rPr lang="en-US"/>
              <a:t>Good Questions you should  ask?  Same in C. syncope.</a:t>
            </a:r>
            <a:endParaRPr/>
          </a:p>
          <a:p>
            <a:pPr marL="274320" lvl="0" indent="-274320" algn="just" rtl="0">
              <a:spcBef>
                <a:spcPts val="600"/>
              </a:spcBef>
              <a:spcAft>
                <a:spcPts val="0"/>
              </a:spcAft>
              <a:buSzPct val="72999"/>
              <a:buChar char="⦿"/>
            </a:pPr>
            <a:r>
              <a:rPr lang="en-US">
                <a:solidFill>
                  <a:srgbClr val="FF0000"/>
                </a:solidFill>
              </a:rPr>
              <a:t>You have to ask about Premonitory symptom and triggers, blackout period , and recovery.       </a:t>
            </a:r>
            <a:endParaRPr/>
          </a:p>
          <a:p>
            <a:pPr marL="274320" lvl="0" indent="-274320" algn="just" rtl="0">
              <a:spcBef>
                <a:spcPts val="600"/>
              </a:spcBef>
              <a:spcAft>
                <a:spcPts val="0"/>
              </a:spcAft>
              <a:buSzPct val="72999"/>
              <a:buChar char="⦿"/>
            </a:pPr>
            <a:r>
              <a:rPr lang="en-US">
                <a:solidFill>
                  <a:srgbClr val="FF0000"/>
                </a:solidFill>
              </a:rPr>
              <a:t>Additional information  were asking about out any H/O blood loss* ,drug intake* or missing meals* ,any involuntary movement* and Family history*? (Group discussion)</a:t>
            </a:r>
            <a:endParaRPr/>
          </a:p>
          <a:p>
            <a:pPr marL="274320" lvl="0" indent="-274320" algn="just" rtl="0">
              <a:spcBef>
                <a:spcPts val="600"/>
              </a:spcBef>
              <a:spcAft>
                <a:spcPts val="0"/>
              </a:spcAft>
              <a:buSzPct val="72999"/>
              <a:buChar char="⦿"/>
            </a:pPr>
            <a:r>
              <a:rPr lang="en-US"/>
              <a:t>A/ He was in standing for long time* , emotional factors (emotionless standing) ,then He developed nausea , pallor and sweating then fell down with slow recovery ,his pulse was slow in black out period .</a:t>
            </a:r>
            <a:endParaRPr/>
          </a:p>
          <a:p>
            <a:pPr marL="274320" lvl="0" indent="-274320" algn="just" rtl="0">
              <a:spcBef>
                <a:spcPts val="600"/>
              </a:spcBef>
              <a:spcAft>
                <a:spcPts val="0"/>
              </a:spcAft>
              <a:buSzPct val="72999"/>
              <a:buChar char="⦿"/>
            </a:pPr>
            <a:r>
              <a:rPr lang="en-US"/>
              <a:t>Questions ? No blood or fluid loss , no drug intake ,normal diet ,no involuntary movement and family history was negative.</a:t>
            </a:r>
            <a:endParaRPr/>
          </a:p>
          <a:p>
            <a:pPr marL="274320" lvl="0" indent="-274320" algn="just" rtl="0">
              <a:spcBef>
                <a:spcPts val="600"/>
              </a:spcBef>
              <a:spcAft>
                <a:spcPts val="0"/>
              </a:spcAft>
              <a:buSzPct val="72999"/>
              <a:buChar char="⦿"/>
            </a:pPr>
            <a:r>
              <a:rPr lang="en-US">
                <a:solidFill>
                  <a:srgbClr val="FF0000"/>
                </a:solidFill>
              </a:rPr>
              <a:t>Is it syncope?  Type</a:t>
            </a:r>
            <a:r>
              <a:rPr lang="en-US"/>
              <a:t> ? </a:t>
            </a:r>
            <a:r>
              <a:rPr lang="en-US">
                <a:solidFill>
                  <a:srgbClr val="FF0000"/>
                </a:solidFill>
              </a:rPr>
              <a:t>Cause? A</a:t>
            </a:r>
            <a:r>
              <a:rPr lang="en-US"/>
              <a:t>/ yes, vasovagal S.??</a:t>
            </a:r>
            <a:endParaRPr/>
          </a:p>
          <a:p>
            <a:pPr marL="274320" lvl="0" indent="-274320" algn="just" rtl="0">
              <a:spcBef>
                <a:spcPts val="600"/>
              </a:spcBef>
              <a:spcAft>
                <a:spcPts val="0"/>
              </a:spcAft>
              <a:buSzPct val="72999"/>
              <a:buNone/>
            </a:pPr>
            <a:r>
              <a:rPr lang="en-US" b="1"/>
              <a:t>How you investigate if the case is recurs? A/ ?</a:t>
            </a:r>
            <a:endParaRPr b="1" i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0"/>
          <p:cNvSpPr txBox="1">
            <a:spLocks noGrp="1"/>
          </p:cNvSpPr>
          <p:nvPr>
            <p:ph type="title"/>
          </p:nvPr>
        </p:nvSpPr>
        <p:spPr>
          <a:xfrm>
            <a:off x="457200" y="534354"/>
            <a:ext cx="7239000" cy="680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EF7F0"/>
              </a:buClr>
              <a:buSzPts val="3200"/>
              <a:buFont typeface="Trebuchet MS"/>
              <a:buNone/>
            </a:pPr>
            <a:r>
              <a:rPr lang="en-US" sz="3200" cap="none"/>
              <a:t>Mechanism Bezold-jarisch Reflex (Mechanism of VVS)</a:t>
            </a:r>
            <a:endParaRPr sz="3200" cap="none"/>
          </a:p>
        </p:txBody>
      </p:sp>
      <p:sp>
        <p:nvSpPr>
          <p:cNvPr id="224" name="Google Shape;224;p30"/>
          <p:cNvSpPr txBox="1">
            <a:spLocks noGrp="1"/>
          </p:cNvSpPr>
          <p:nvPr>
            <p:ph type="body" idx="1"/>
          </p:nvPr>
        </p:nvSpPr>
        <p:spPr>
          <a:xfrm>
            <a:off x="0" y="1402396"/>
            <a:ext cx="7929586" cy="5598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just" rtl="0">
              <a:spcBef>
                <a:spcPts val="0"/>
              </a:spcBef>
              <a:spcAft>
                <a:spcPts val="0"/>
              </a:spcAft>
              <a:buSzPts val="1898"/>
              <a:buChar char="⦿"/>
            </a:pPr>
            <a:r>
              <a:rPr lang="en-US"/>
              <a:t>Mechanism of Vasovagal S. ? Decrease venous return to the heart(prolonged standing)        -</a:t>
            </a:r>
            <a:r>
              <a:rPr lang="en-US" u="sng"/>
              <a:t>sympathetic stimulation </a:t>
            </a:r>
            <a:r>
              <a:rPr lang="en-US"/>
              <a:t>as compensatory mechanism –abnormal contraction of under filled V. lead to tachycardia then,  there is  stimulation of </a:t>
            </a:r>
            <a:r>
              <a:rPr lang="en-US" u="sng"/>
              <a:t>cardiac mechanoreceptor </a:t>
            </a:r>
            <a:r>
              <a:rPr lang="en-US"/>
              <a:t>lead to stimulation of parasympathetic mediated via Vagus nerve result in hypotension (</a:t>
            </a:r>
            <a:r>
              <a:rPr lang="en-US">
                <a:solidFill>
                  <a:srgbClr val="0070C0"/>
                </a:solidFill>
              </a:rPr>
              <a:t>vasodepressor response</a:t>
            </a:r>
            <a:r>
              <a:rPr lang="en-US"/>
              <a:t>) and bradycardia (</a:t>
            </a:r>
            <a:r>
              <a:rPr lang="en-US">
                <a:solidFill>
                  <a:srgbClr val="0070C0"/>
                </a:solidFill>
              </a:rPr>
              <a:t>cardiac inhibitory response</a:t>
            </a:r>
            <a:r>
              <a:rPr lang="en-US"/>
              <a:t>) making diagnosis of VVS.(in physiology)</a:t>
            </a:r>
            <a:endParaRPr/>
          </a:p>
          <a:p>
            <a:pPr marL="274320" lvl="0" indent="-274320" algn="just" rtl="0">
              <a:spcBef>
                <a:spcPts val="600"/>
              </a:spcBef>
              <a:spcAft>
                <a:spcPts val="0"/>
              </a:spcAft>
              <a:buSzPts val="1898"/>
              <a:buChar char="⦿"/>
            </a:pPr>
            <a:r>
              <a:rPr lang="en-US"/>
              <a:t>This is called Bezold-Jarisch reflex.   </a:t>
            </a:r>
            <a:endParaRPr/>
          </a:p>
        </p:txBody>
      </p:sp>
      <p:cxnSp>
        <p:nvCxnSpPr>
          <p:cNvPr id="225" name="Google Shape;225;p30"/>
          <p:cNvCxnSpPr/>
          <p:nvPr/>
        </p:nvCxnSpPr>
        <p:spPr>
          <a:xfrm>
            <a:off x="6643702" y="2071678"/>
            <a:ext cx="1071570" cy="1588"/>
          </a:xfrm>
          <a:prstGeom prst="straightConnector1">
            <a:avLst/>
          </a:prstGeom>
          <a:noFill/>
          <a:ln w="11425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1"/>
          <p:cNvSpPr txBox="1">
            <a:spLocks noGrp="1"/>
          </p:cNvSpPr>
          <p:nvPr>
            <p:ph type="title"/>
          </p:nvPr>
        </p:nvSpPr>
        <p:spPr>
          <a:xfrm>
            <a:off x="457200" y="-214338"/>
            <a:ext cx="7329510" cy="785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EF7F0"/>
              </a:buClr>
              <a:buSzPts val="3800"/>
              <a:buFont typeface="Trebuchet MS"/>
              <a:buNone/>
            </a:pPr>
            <a:r>
              <a:rPr lang="en-US" cap="none"/>
              <a:t>    Vasovagal Syncope  =VVS</a:t>
            </a:r>
            <a:endParaRPr cap="none"/>
          </a:p>
        </p:txBody>
      </p:sp>
      <p:sp>
        <p:nvSpPr>
          <p:cNvPr id="232" name="Google Shape;232;p31"/>
          <p:cNvSpPr txBox="1">
            <a:spLocks noGrp="1"/>
          </p:cNvSpPr>
          <p:nvPr>
            <p:ph type="body" idx="1"/>
          </p:nvPr>
        </p:nvSpPr>
        <p:spPr>
          <a:xfrm>
            <a:off x="0" y="571480"/>
            <a:ext cx="8143900" cy="6215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ct val="72999"/>
              <a:buChar char="⦿"/>
            </a:pPr>
            <a:r>
              <a:rPr lang="en-US"/>
              <a:t>Seen in all age , commonest type of S. .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ct val="72999"/>
              <a:buChar char="⦿"/>
            </a:pPr>
            <a:r>
              <a:rPr lang="en-US"/>
              <a:t>Triggers: prolonged standing specially emotionless state , pain , sight  of blood ,medical instrumentations and excess of heat exposure.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ct val="72999"/>
              <a:buChar char="⦿"/>
            </a:pPr>
            <a:r>
              <a:rPr lang="en-US"/>
              <a:t>Position ; standing  .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ct val="72999"/>
              <a:buChar char="⦿"/>
            </a:pPr>
            <a:r>
              <a:rPr lang="en-US"/>
              <a:t>Premonitory S. –sweating ,pallor , dizziness , blurred vision , tachycardia (sympathetic stim. 1</a:t>
            </a:r>
            <a:r>
              <a:rPr lang="en-US" baseline="30000"/>
              <a:t>st</a:t>
            </a:r>
            <a:r>
              <a:rPr lang="en-US"/>
              <a:t> ).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ct val="72999"/>
              <a:buChar char="⦿"/>
            </a:pPr>
            <a:r>
              <a:rPr lang="en-US"/>
              <a:t>Unconscious  period : brief LOC with drop of BP , bradycardia (parasympathetic effect).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ct val="72999"/>
              <a:buChar char="⦿"/>
            </a:pPr>
            <a:r>
              <a:rPr lang="en-US"/>
              <a:t>Recovery; rapid when assuming horizontal position with headache.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ct val="72999"/>
              <a:buNone/>
            </a:pP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ct val="72999"/>
              <a:buChar char="⦿"/>
            </a:pPr>
            <a:r>
              <a:rPr lang="en-US"/>
              <a:t>Investigations? </a:t>
            </a:r>
            <a:r>
              <a:rPr lang="en-US">
                <a:solidFill>
                  <a:srgbClr val="0070C0"/>
                </a:solidFill>
              </a:rPr>
              <a:t>Head tilt test-</a:t>
            </a:r>
            <a:r>
              <a:rPr lang="en-US"/>
              <a:t>---provocative test for Vasovagal response ;pt connected to ECG and BP tool the head of table elevated 60-70 degree for 45 min. 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ct val="72999"/>
              <a:buChar char="⦿"/>
            </a:pPr>
            <a:r>
              <a:rPr lang="en-US"/>
              <a:t>HTT indicated also in border line case of orthostatic hypotension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ct val="72999"/>
              <a:buChar char="⦿"/>
            </a:pPr>
            <a:r>
              <a:rPr lang="en-US"/>
              <a:t>Treatment ? Avoid triggers, excess salt, drugs some times ? </a:t>
            </a:r>
            <a:endParaRPr/>
          </a:p>
          <a:p>
            <a:pPr marL="274320" lvl="0" indent="-171875" algn="l" rtl="0">
              <a:spcBef>
                <a:spcPts val="600"/>
              </a:spcBef>
              <a:spcAft>
                <a:spcPts val="0"/>
              </a:spcAft>
              <a:buSzPct val="72999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2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2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2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2"/>
          <p:cNvSpPr txBox="1">
            <a:spLocks noGrp="1"/>
          </p:cNvSpPr>
          <p:nvPr>
            <p:ph type="title"/>
          </p:nvPr>
        </p:nvSpPr>
        <p:spPr>
          <a:xfrm>
            <a:off x="457200" y="142852"/>
            <a:ext cx="7239000" cy="680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EF7F0"/>
              </a:buClr>
              <a:buSzPts val="3800"/>
              <a:buFont typeface="Trebuchet MS"/>
              <a:buNone/>
            </a:pPr>
            <a:r>
              <a:rPr lang="en-US" cap="none"/>
              <a:t>DD –syncope like --important</a:t>
            </a:r>
            <a:endParaRPr cap="none"/>
          </a:p>
        </p:txBody>
      </p:sp>
      <p:sp>
        <p:nvSpPr>
          <p:cNvPr id="238" name="Google Shape;238;p32"/>
          <p:cNvSpPr txBox="1">
            <a:spLocks noGrp="1"/>
          </p:cNvSpPr>
          <p:nvPr>
            <p:ph type="body" idx="1"/>
          </p:nvPr>
        </p:nvSpPr>
        <p:spPr>
          <a:xfrm>
            <a:off x="214282" y="1000132"/>
            <a:ext cx="7858180" cy="6143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ts val="1898"/>
              <a:buChar char="⦿"/>
            </a:pPr>
            <a:r>
              <a:rPr lang="en-US">
                <a:solidFill>
                  <a:srgbClr val="FF0000"/>
                </a:solidFill>
              </a:rPr>
              <a:t>Anemia </a:t>
            </a:r>
            <a:r>
              <a:rPr lang="en-US"/>
              <a:t>; loss of conscious seen in exertion ,see pallor in examination and HB is low in blood test.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ts val="1898"/>
              <a:buChar char="⦿"/>
            </a:pPr>
            <a:r>
              <a:rPr lang="en-US">
                <a:solidFill>
                  <a:srgbClr val="FF0000"/>
                </a:solidFill>
              </a:rPr>
              <a:t>Hypoglycemia</a:t>
            </a:r>
            <a:r>
              <a:rPr lang="en-US"/>
              <a:t> : missing meal , poor diet intake , over dose of insulin in DM patient , slowly evolving (pallor, sweating , tachycardia for longer period than that in VVS. Blood sugar is low , response to sweets or hypertonic fluid infusion.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ts val="1898"/>
              <a:buChar char="⦿"/>
            </a:pPr>
            <a:r>
              <a:rPr lang="en-US"/>
              <a:t>Is it syncope? A/ We call it blackout(wide term) not syncope? 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ts val="1898"/>
              <a:buChar char="⦿"/>
            </a:pPr>
            <a:r>
              <a:rPr lang="en-US">
                <a:solidFill>
                  <a:srgbClr val="FF0000"/>
                </a:solidFill>
              </a:rPr>
              <a:t>Seizure</a:t>
            </a:r>
            <a:r>
              <a:rPr lang="en-US"/>
              <a:t> ? </a:t>
            </a:r>
            <a:r>
              <a:rPr lang="en-US" sz="2400"/>
              <a:t>abnormal excessive hyper neuronal   discharge</a:t>
            </a:r>
            <a:endParaRPr sz="2800" b="1"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ts val="1898"/>
              <a:buNone/>
            </a:pPr>
            <a:endParaRPr/>
          </a:p>
        </p:txBody>
      </p:sp>
      <p:pic>
        <p:nvPicPr>
          <p:cNvPr id="239" name="Google Shape;239;p32" descr="epilepsie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62578" y="5353074"/>
            <a:ext cx="1738314" cy="150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2" descr="logointro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65983" y="5429264"/>
            <a:ext cx="1920265" cy="1357298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2"/>
          <p:cNvSpPr/>
          <p:nvPr/>
        </p:nvSpPr>
        <p:spPr>
          <a:xfrm>
            <a:off x="4357686" y="6286520"/>
            <a:ext cx="1143008" cy="214314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40000" cap="flat" cmpd="sng">
            <a:solidFill>
              <a:srgbClr val="862C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3"/>
          <p:cNvSpPr txBox="1">
            <a:spLocks noGrp="1"/>
          </p:cNvSpPr>
          <p:nvPr>
            <p:ph type="title"/>
          </p:nvPr>
        </p:nvSpPr>
        <p:spPr>
          <a:xfrm>
            <a:off x="457200" y="320040"/>
            <a:ext cx="7239000" cy="822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800"/>
              <a:buFont typeface="Trebuchet MS"/>
              <a:buNone/>
            </a:pPr>
            <a:r>
              <a:rPr lang="en-US" cap="none">
                <a:solidFill>
                  <a:srgbClr val="FF0000"/>
                </a:solidFill>
              </a:rPr>
              <a:t>Case 3</a:t>
            </a:r>
            <a:endParaRPr cap="none">
              <a:solidFill>
                <a:srgbClr val="FF0000"/>
              </a:solidFill>
            </a:endParaRPr>
          </a:p>
        </p:txBody>
      </p:sp>
      <p:sp>
        <p:nvSpPr>
          <p:cNvPr id="247" name="Google Shape;247;p33"/>
          <p:cNvSpPr txBox="1">
            <a:spLocks noGrp="1"/>
          </p:cNvSpPr>
          <p:nvPr>
            <p:ph type="body" idx="1"/>
          </p:nvPr>
        </p:nvSpPr>
        <p:spPr>
          <a:xfrm>
            <a:off x="214282" y="1142984"/>
            <a:ext cx="7615262" cy="5312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74320" lvl="0" indent="-274320" algn="just" rtl="0">
              <a:spcBef>
                <a:spcPts val="0"/>
              </a:spcBef>
              <a:spcAft>
                <a:spcPts val="0"/>
              </a:spcAft>
              <a:buSzPct val="72999"/>
              <a:buChar char="⦿"/>
            </a:pPr>
            <a:r>
              <a:rPr lang="en-US"/>
              <a:t>A 34 years old man presented to emergency with </a:t>
            </a:r>
            <a:r>
              <a:rPr lang="en-US">
                <a:solidFill>
                  <a:srgbClr val="FF0000"/>
                </a:solidFill>
              </a:rPr>
              <a:t>recurrent loss of consciousness </a:t>
            </a:r>
            <a:r>
              <a:rPr lang="en-US"/>
              <a:t>at his work and brought by his friend to hospital who mentioned that all of </a:t>
            </a:r>
            <a:r>
              <a:rPr lang="en-US">
                <a:solidFill>
                  <a:srgbClr val="FF0000"/>
                </a:solidFill>
              </a:rPr>
              <a:t>sudden</a:t>
            </a:r>
            <a:r>
              <a:rPr lang="en-US"/>
              <a:t>, he collapsed on the ground with </a:t>
            </a:r>
            <a:r>
              <a:rPr lang="en-US">
                <a:solidFill>
                  <a:srgbClr val="FF0000"/>
                </a:solidFill>
              </a:rPr>
              <a:t>spasm all over and abnormal movement sound and tongue bite </a:t>
            </a:r>
            <a:r>
              <a:rPr lang="en-US"/>
              <a:t>;the symptoms subsided within 2-3 minutes and his cons  recovered after 60 minutes ;he was oriented  but with sever headache and minimal deficit on right side. </a:t>
            </a:r>
            <a:endParaRPr/>
          </a:p>
          <a:p>
            <a:pPr marL="274320" lvl="0" indent="-274320" algn="just" rtl="0">
              <a:spcBef>
                <a:spcPts val="600"/>
              </a:spcBef>
              <a:spcAft>
                <a:spcPts val="0"/>
              </a:spcAft>
              <a:buSzPct val="72999"/>
              <a:buChar char="⦿"/>
            </a:pPr>
            <a:r>
              <a:rPr lang="en-US">
                <a:solidFill>
                  <a:srgbClr val="002060"/>
                </a:solidFill>
              </a:rPr>
              <a:t>Questions</a:t>
            </a:r>
            <a:r>
              <a:rPr lang="en-US"/>
              <a:t> you ask as before? blood loss ,drug intake, missing meal,  stress related---all negative</a:t>
            </a:r>
            <a:endParaRPr/>
          </a:p>
          <a:p>
            <a:pPr marL="274320" lvl="0" indent="-274320" algn="just" rtl="0">
              <a:spcBef>
                <a:spcPts val="600"/>
              </a:spcBef>
              <a:spcAft>
                <a:spcPts val="0"/>
              </a:spcAft>
              <a:buSzPct val="72999"/>
              <a:buChar char="⦿"/>
            </a:pPr>
            <a:r>
              <a:rPr lang="en-US"/>
              <a:t>Is it syncope ? What is most likely diagnosis?</a:t>
            </a:r>
            <a:endParaRPr/>
          </a:p>
          <a:p>
            <a:pPr marL="274320" lvl="0" indent="-274320" algn="just" rtl="0">
              <a:spcBef>
                <a:spcPts val="600"/>
              </a:spcBef>
              <a:spcAft>
                <a:spcPts val="0"/>
              </a:spcAft>
              <a:buSzPct val="72999"/>
              <a:buChar char="⦿"/>
            </a:pPr>
            <a:r>
              <a:rPr lang="en-US"/>
              <a:t>Diagnosis ? Which one is true?</a:t>
            </a:r>
            <a:endParaRPr/>
          </a:p>
          <a:p>
            <a:pPr marL="274320" lvl="0" indent="-274320" algn="just" rtl="0">
              <a:spcBef>
                <a:spcPts val="600"/>
              </a:spcBef>
              <a:spcAft>
                <a:spcPts val="0"/>
              </a:spcAft>
              <a:buSzPct val="72999"/>
              <a:buNone/>
            </a:pPr>
            <a:r>
              <a:rPr lang="en-US"/>
              <a:t>1-EEG, CT or/ and MRI </a:t>
            </a:r>
            <a:endParaRPr/>
          </a:p>
          <a:p>
            <a:pPr marL="274320" lvl="0" indent="-274320" algn="just" rtl="0">
              <a:spcBef>
                <a:spcPts val="600"/>
              </a:spcBef>
              <a:spcAft>
                <a:spcPts val="0"/>
              </a:spcAft>
              <a:buSzPct val="72999"/>
              <a:buNone/>
            </a:pPr>
            <a:r>
              <a:rPr lang="en-US"/>
              <a:t> </a:t>
            </a:r>
            <a:endParaRPr/>
          </a:p>
          <a:p>
            <a:pPr marL="274320" lvl="0" indent="-274320" algn="just" rtl="0">
              <a:spcBef>
                <a:spcPts val="600"/>
              </a:spcBef>
              <a:spcAft>
                <a:spcPts val="0"/>
              </a:spcAft>
              <a:buSzPct val="72999"/>
              <a:buNone/>
            </a:pPr>
            <a:r>
              <a:rPr lang="en-US"/>
              <a:t>2-ECG , Blood sugar , blood film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4"/>
          <p:cNvSpPr txBox="1">
            <a:spLocks noGrp="1"/>
          </p:cNvSpPr>
          <p:nvPr>
            <p:ph type="title"/>
          </p:nvPr>
        </p:nvSpPr>
        <p:spPr>
          <a:xfrm>
            <a:off x="457200" y="-71462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b" anchorCtr="0">
            <a:normAutofit/>
          </a:bodyPr>
          <a:lstStyle/>
          <a:p>
            <a:pPr marL="0" lvl="0" indent="0" algn="l" rtl="1">
              <a:spcBef>
                <a:spcPts val="0"/>
              </a:spcBef>
              <a:spcAft>
                <a:spcPts val="0"/>
              </a:spcAft>
              <a:buClr>
                <a:srgbClr val="FEF7F0"/>
              </a:buClr>
              <a:buSzPts val="3800"/>
              <a:buFont typeface="Trebuchet MS"/>
              <a:buNone/>
            </a:pPr>
            <a:r>
              <a:rPr lang="en-US" cap="none"/>
              <a:t>Other types of syncope </a:t>
            </a:r>
            <a:endParaRPr cap="none"/>
          </a:p>
        </p:txBody>
      </p:sp>
      <p:sp>
        <p:nvSpPr>
          <p:cNvPr id="253" name="Google Shape;253;p34"/>
          <p:cNvSpPr txBox="1">
            <a:spLocks noGrp="1"/>
          </p:cNvSpPr>
          <p:nvPr>
            <p:ph type="body" idx="1"/>
          </p:nvPr>
        </p:nvSpPr>
        <p:spPr>
          <a:xfrm>
            <a:off x="457200" y="1428736"/>
            <a:ext cx="7239000" cy="484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ct val="72999"/>
              <a:buChar char="⦿"/>
            </a:pPr>
            <a:r>
              <a:rPr lang="en-US"/>
              <a:t>Situational(cough , micturition S.)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ct val="72999"/>
              <a:buNone/>
            </a:pPr>
            <a:r>
              <a:rPr lang="en-US"/>
              <a:t> 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ct val="72999"/>
              <a:buChar char="⦿"/>
            </a:pPr>
            <a:r>
              <a:rPr lang="en-US"/>
              <a:t>Carotid Sinus Syncope</a:t>
            </a:r>
            <a:endParaRPr/>
          </a:p>
          <a:p>
            <a:pPr marL="274320" lvl="0" indent="-162836" algn="l" rtl="0">
              <a:spcBef>
                <a:spcPts val="600"/>
              </a:spcBef>
              <a:spcAft>
                <a:spcPts val="0"/>
              </a:spcAft>
              <a:buSzPct val="72999"/>
              <a:buNone/>
            </a:pP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ct val="72999"/>
              <a:buChar char="⦿"/>
            </a:pPr>
            <a:r>
              <a:rPr lang="en-US"/>
              <a:t>Orthostatic Hypotension.=sudden drop of BP on standing from static posture.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ct val="72999"/>
              <a:buNone/>
            </a:pPr>
            <a:r>
              <a:rPr lang="en-US">
                <a:solidFill>
                  <a:srgbClr val="FF0000"/>
                </a:solidFill>
              </a:rPr>
              <a:t>(cause many like drug ,fluid or blood loss ,Varicose vein(polling of blood in legs up on standing) and  autonomic dysfunction as in DM)</a:t>
            </a:r>
            <a:endParaRPr/>
          </a:p>
          <a:p>
            <a:pPr marL="274320" lvl="0" indent="-162836" algn="l" rtl="0">
              <a:spcBef>
                <a:spcPts val="600"/>
              </a:spcBef>
              <a:spcAft>
                <a:spcPts val="0"/>
              </a:spcAft>
              <a:buSzPct val="72999"/>
              <a:buNone/>
            </a:pP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ct val="72999"/>
              <a:buChar char="⦿"/>
            </a:pPr>
            <a:r>
              <a:rPr lang="en-US"/>
              <a:t>Neurological Diseases Like TIA =Transient Ischemic Attack or stroke.</a:t>
            </a:r>
            <a:endParaRPr/>
          </a:p>
          <a:p>
            <a:pPr marL="274320" lvl="0" indent="-162836" algn="l" rtl="0">
              <a:spcBef>
                <a:spcPts val="600"/>
              </a:spcBef>
              <a:spcAft>
                <a:spcPts val="0"/>
              </a:spcAft>
              <a:buSzPct val="72999"/>
              <a:buNone/>
            </a:pP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ct val="72999"/>
              <a:buNone/>
            </a:pPr>
            <a:endParaRPr/>
          </a:p>
        </p:txBody>
      </p:sp>
      <p:pic>
        <p:nvPicPr>
          <p:cNvPr id="254" name="Google Shape;254;p34" descr="images (13)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15074" y="-24"/>
            <a:ext cx="1910547" cy="18573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35" descr="AnatomyProf[1]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159" y="500066"/>
            <a:ext cx="7643866" cy="6000768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5"/>
          <p:cNvSpPr txBox="1">
            <a:spLocks noGrp="1"/>
          </p:cNvSpPr>
          <p:nvPr>
            <p:ph type="body" idx="1"/>
          </p:nvPr>
        </p:nvSpPr>
        <p:spPr>
          <a:xfrm>
            <a:off x="1028704" y="785794"/>
            <a:ext cx="6472254" cy="4312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ctr" rtl="0">
              <a:spcBef>
                <a:spcPts val="0"/>
              </a:spcBef>
              <a:spcAft>
                <a:spcPts val="0"/>
              </a:spcAft>
              <a:buSzPts val="1898"/>
              <a:buNone/>
            </a:pPr>
            <a:r>
              <a:rPr lang="en-US"/>
              <a:t>Dear students</a:t>
            </a:r>
            <a:endParaRPr/>
          </a:p>
          <a:p>
            <a:pPr marL="274320" lvl="0" indent="-274320" algn="ctr" rtl="0">
              <a:spcBef>
                <a:spcPts val="600"/>
              </a:spcBef>
              <a:spcAft>
                <a:spcPts val="0"/>
              </a:spcAft>
              <a:buSzPts val="1898"/>
              <a:buNone/>
            </a:pPr>
            <a:endParaRPr/>
          </a:p>
          <a:p>
            <a:pPr marL="274320" lvl="0" indent="-274320" algn="ctr" rtl="0">
              <a:spcBef>
                <a:spcPts val="600"/>
              </a:spcBef>
              <a:spcAft>
                <a:spcPts val="0"/>
              </a:spcAft>
              <a:buSzPts val="1898"/>
              <a:buNone/>
            </a:pPr>
            <a:r>
              <a:rPr lang="en-US"/>
              <a:t>Always remember</a:t>
            </a:r>
            <a:endParaRPr/>
          </a:p>
          <a:p>
            <a:pPr marL="274320" lvl="0" indent="-274320" algn="ctr" rtl="0">
              <a:spcBef>
                <a:spcPts val="600"/>
              </a:spcBef>
              <a:spcAft>
                <a:spcPts val="0"/>
              </a:spcAft>
              <a:buSzPts val="1898"/>
              <a:buNone/>
            </a:pPr>
            <a:r>
              <a:rPr lang="en-US"/>
              <a:t>  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ts val="1898"/>
              <a:buNone/>
            </a:pPr>
            <a:r>
              <a:rPr lang="en-US"/>
              <a:t>** Things you read ;you forget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ts val="1898"/>
              <a:buNone/>
            </a:pP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ts val="1898"/>
              <a:buNone/>
            </a:pPr>
            <a:r>
              <a:rPr lang="en-US"/>
              <a:t>**Things you see ;you remember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ts val="1898"/>
              <a:buNone/>
            </a:pP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ts val="1898"/>
              <a:buNone/>
            </a:pPr>
            <a:r>
              <a:rPr lang="en-US"/>
              <a:t>**Things you do ; never forget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pulent">
  <a:themeElements>
    <a:clrScheme name="Opulent">
      <a:dk1>
        <a:srgbClr val="000000"/>
      </a:dk1>
      <a:lt1>
        <a:srgbClr val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1956</Words>
  <Application>Microsoft Office PowerPoint</Application>
  <PresentationFormat>On-screen Show (4:3)</PresentationFormat>
  <Paragraphs>187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Calibri</vt:lpstr>
      <vt:lpstr>Noto Sans Symbols</vt:lpstr>
      <vt:lpstr>Trebuchet MS</vt:lpstr>
      <vt:lpstr>Arial Black</vt:lpstr>
      <vt:lpstr>Arial</vt:lpstr>
      <vt:lpstr>Opulent</vt:lpstr>
      <vt:lpstr>SYNCOPE AND FAINTING </vt:lpstr>
      <vt:lpstr>Syncope-presyncope or Faint</vt:lpstr>
      <vt:lpstr>In This Lecture  (Syncope And Fainting) </vt:lpstr>
      <vt:lpstr>ORGANIZATION OF THE NERVOUS SYSTEM</vt:lpstr>
      <vt:lpstr>AUTONOMIC NERVOUS SYSTEM</vt:lpstr>
      <vt:lpstr>Definitions</vt:lpstr>
      <vt:lpstr>PowerPoint Presentation</vt:lpstr>
      <vt:lpstr> Syncope and LOC –pathophysiology-concept</vt:lpstr>
      <vt:lpstr>THINK LIKE A DOCTOR TO HELP OTHERS</vt:lpstr>
      <vt:lpstr>ETIOLOGY</vt:lpstr>
      <vt:lpstr>Differential Diagnosis = Syncope Like Hypoglycemia , Seizure , Loss Of Balance ,  Anemia (After Exertion).  </vt:lpstr>
      <vt:lpstr>APROACH</vt:lpstr>
      <vt:lpstr>Clinical types of syncope</vt:lpstr>
      <vt:lpstr>PowerPoint Presentation</vt:lpstr>
      <vt:lpstr>PowerPoint Presentation</vt:lpstr>
      <vt:lpstr>Neuro-cardiac Syncope-Vasovagal</vt:lpstr>
      <vt:lpstr>Mechanism Bezold-jarisch Reflex (Mechanism of VVS)</vt:lpstr>
      <vt:lpstr>    Vasovagal Syncope  =VVS</vt:lpstr>
      <vt:lpstr>DD –syncope like --important</vt:lpstr>
      <vt:lpstr>Case 3</vt:lpstr>
      <vt:lpstr>Other types of syncope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SYNCOPE AND FAINTING </dc:title>
  <cp:lastModifiedBy>5728</cp:lastModifiedBy>
  <cp:revision>1</cp:revision>
  <dcterms:modified xsi:type="dcterms:W3CDTF">2023-10-03T08:16:40Z</dcterms:modified>
</cp:coreProperties>
</file>